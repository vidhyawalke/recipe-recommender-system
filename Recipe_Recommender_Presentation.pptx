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Recipe Recommender System</a:t>
            </a:r>
          </a:p>
          <a:p>
            <a:pPr>
              <a:spcBef>
                <a:spcPts val="1200"/>
              </a:spcBef>
              <a:defRPr sz="2200">
                <a:solidFill>
                  <a:srgbClr val="E67E22"/>
                </a:solidFill>
              </a:defRPr>
            </a:pPr>
            <a:r>
              <a:t>Collaborative Filtering &amp; Matrix Factorization on Food.com Reviews</a:t>
            </a:r>
          </a:p>
          <a:p>
            <a:pPr>
              <a:spcBef>
                <a:spcPts val="2000"/>
              </a:spcBef>
              <a:defRPr sz="1400">
                <a:solidFill>
                  <a:srgbClr val="BDC3C7"/>
                </a:solidFill>
              </a:defRPr>
            </a:pPr>
            <a:r>
              <a:t>Evaluation of Neighborhood Models (KNN, SlopeOne) &amp; Latent Factor Models (SVD, SVD++, NMF) using Scikit-Surprise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5A5A6"/>
                </a:solidFill>
              </a:defRPr>
            </a:pPr>
            <a:r>
              <a:t>Dataset: Food.com 180K+ Recipes &amp; 1.13M Reviews | Framework: Scikit-Surprise | Target: Recipe Ratings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Project Goals &amp; Machine Learning Tasks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2B4C"/>
                </a:solidFill>
              </a:defRPr>
            </a:pPr>
            <a:r>
              <a:t>Problem Statement &amp; Objective</a:t>
            </a:r>
          </a:p>
          <a:p>
            <a:pPr>
              <a:spcBef>
                <a:spcPts val="1200"/>
              </a:spcBef>
              <a:defRPr sz="1300">
                <a:solidFill>
                  <a:srgbClr val="2C3E50"/>
                </a:solidFill>
              </a:defRPr>
            </a:pPr>
            <a:r>
              <a:t>• Massive Search Space: Online recipe platforms contain hundreds of thousands of recipes, making manual discovery challenging.</a:t>
            </a:r>
          </a:p>
          <a:p>
            <a:pPr>
              <a:spcBef>
                <a:spcPts val="1200"/>
              </a:spcBef>
              <a:defRPr sz="1300">
                <a:solidFill>
                  <a:srgbClr val="2C3E50"/>
                </a:solidFill>
              </a:defRPr>
            </a:pPr>
            <a:r>
              <a:t>• Primary Goal: Predict accurate recipe ratings and generate top-N personalized recipe recommendations.</a:t>
            </a:r>
          </a:p>
          <a:p>
            <a:pPr>
              <a:spcBef>
                <a:spcPts val="1200"/>
              </a:spcBef>
              <a:defRPr sz="1300">
                <a:solidFill>
                  <a:srgbClr val="2C3E50"/>
                </a:solidFill>
              </a:defRPr>
            </a:pPr>
            <a:r>
              <a:t>• Target Variable: Explicit user ratings on a 1 to 5 scale.</a:t>
            </a:r>
          </a:p>
          <a:p>
            <a:pPr>
              <a:spcBef>
                <a:spcPts val="1200"/>
              </a:spcBef>
              <a:defRPr sz="1300">
                <a:solidFill>
                  <a:srgbClr val="2C3E50"/>
                </a:solidFill>
              </a:defRPr>
            </a:pPr>
            <a:r>
              <a:t>• Collaborative Filtering: Leverage historical user-item interactions without requiring explicit manual feature engineering.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2B4C"/>
                </a:solidFill>
              </a:defRPr>
            </a:pPr>
            <a:r>
              <a:t>Methodology &amp; Scope of Work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Neighborhood Models: Tested user-based and item-based variants of KNNBasic, KNNWithMeans, KNNWithZScore, KNNBaseline, and SlopeOne.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Matrix Factorization: Evaluated NMF, SVD (Funk SVD), and SVD++ (incorporating implicit interaction signals).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Rigorous 5-Fold Cross Validation: Compared across MAE, MSE, and RMSE.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Hyperparameter Optimization: Tuned optimal algorithms via GridSearchCV to establish peak accuracy.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Qualitative Audit: Generated Top-10 recipe recommendations and evaluated meal-type alignment.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Exploratory Data Analysis: Extreme User Activity Skew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A2B4C"/>
                </a:solidFill>
              </a:defRPr>
            </a:pPr>
            <a:r>
              <a:t>Key Findings on User Behavior: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Heavy Long-Tail Distribution: 73.38% of all users rated only 1 recipe.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Low Median Activity: The median number of ratings per user is only 6.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High Activity Threshold: Only 2.31% of users have rated more than 25 recipes.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Sparsity Challenge: A raw matrix of 226K users × 231K recipes is &gt;99.99% sparse, necessitating threshold filtering.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Recommendation Impact: Cold-start users require content or popularity fallbacks; collaborative filtering works best on the active subset.</a:t>
            </a:r>
          </a:p>
        </p:txBody>
      </p:sp>
      <p:pic>
        <p:nvPicPr>
          <p:cNvPr id="5" name="Picture 4" descr="user_rating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212080" cy="27797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Rating Distribution &amp; Cleaning Zero-Ratings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A2B4C"/>
                </a:solidFill>
              </a:defRPr>
            </a:pPr>
            <a:r>
              <a:t>Rating Inflation &amp; Data Quality: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Severe Positive Skew: 72.09% of all ratings are 5 stars, and 16.55% are 4 stars (88.6% positive ratings).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Low Ratings are Rare: Only 8% of ratings are between 0 and 2 stars.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The 'Zero Rating' Anomaly: Ratings of 0 (5.37% / 60,847 reviews) represent questions or general comments rather than dissatisfaction.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Sample 0-star comments: 'i made it and it was amazing', 'Just an observation, so I will not rate'.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Action Taken: All 0-ratings were removed to prevent distortion of collaborative filtering models.</a:t>
            </a:r>
          </a:p>
        </p:txBody>
      </p:sp>
      <p:pic>
        <p:nvPicPr>
          <p:cNvPr id="5" name="Picture 4" descr="rating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212080" cy="2779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Recipe Attributes: Preparation Time, Steps &amp; Ingredients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B4C"/>
                </a:solidFill>
              </a:defRPr>
            </a:pPr>
            <a:r>
              <a:t>Descriptive Analysis of Cooking Characteristics Across 231K Recipes:</a:t>
            </a:r>
          </a:p>
          <a:p>
            <a:pPr>
              <a:spcBef>
                <a:spcPts val="600"/>
              </a:spcBef>
              <a:defRPr sz="1300">
                <a:solidFill>
                  <a:srgbClr val="2C3E50"/>
                </a:solidFill>
              </a:defRPr>
            </a:pPr>
            <a:r>
              <a:t>• Preparation Times: Typical recipes take 20 to 65 minutes (median = 40 min).</a:t>
            </a:r>
            <a:br/>
            <a:r>
              <a:t>• Number of Steps: Recipes require between 6 and 11 preparation steps (median = 9).</a:t>
            </a:r>
            <a:br/>
            <a:r>
              <a:t>• Number of Ingredients: Most recipes utilize 6 to 12 ingredients (median = 9).</a:t>
            </a:r>
          </a:p>
        </p:txBody>
      </p:sp>
      <p:pic>
        <p:nvPicPr>
          <p:cNvPr id="5" name="Picture 4" descr="recipe_complex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33572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Meal Types &amp; Ingredient Categorization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A2B4C"/>
                </a:solidFill>
              </a:defRPr>
            </a:pPr>
            <a:r>
              <a:t>Ingredient Vocabulary &amp; Meal Types: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Ingredient Normalization: 11,659 raw ingredient names mapped to 8,023 normalized items via ingr_map.pkl.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Ingredient Concentration: 75% of ingredients appear in ≤ 50 recipes. Top staples: salt, butter, egg, onion, sugar, olive oil, garlic, milk.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Meal Classification from Tags: Recipes categorized into Main Dish (31%), Desserts (19%), Side Dishes (10%), Lunch (6%), Appetizers (5%).</a:t>
            </a:r>
          </a:p>
          <a:p>
            <a:pPr>
              <a:spcBef>
                <a:spcPts val="1000"/>
              </a:spcBef>
              <a:defRPr sz="1300">
                <a:solidFill>
                  <a:srgbClr val="2C3E50"/>
                </a:solidFill>
              </a:defRPr>
            </a:pPr>
            <a:r>
              <a:t>• Significance for Recommenders: Recommenders must account for meal types to avoid recommending desserts when a user wants dinner.</a:t>
            </a:r>
          </a:p>
        </p:txBody>
      </p:sp>
      <p:pic>
        <p:nvPicPr>
          <p:cNvPr id="5" name="Picture 4" descr="meal_typ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212080" cy="23826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Data Cleaning &amp; Multi-Stage Sparsity Filtering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2B4C"/>
                </a:solidFill>
              </a:defRPr>
            </a:pPr>
            <a:r>
              <a:t>Step 1: Drop 0 Ratings</a:t>
            </a:r>
          </a:p>
          <a:p>
            <a:pPr>
              <a:spcBef>
                <a:spcPts val="800"/>
              </a:spcBef>
              <a:defRPr sz="1200" b="1">
                <a:solidFill>
                  <a:srgbClr val="E67E22"/>
                </a:solidFill>
              </a:defRPr>
            </a:pPr>
            <a:r>
              <a:t>1,132,367 → 1,071,520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</a:defRPr>
            </a:pPr>
            <a:r>
              <a:t>Removed ambiguous 0 ratings which represented non-rating comments rather than dissatisfaction.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2B4C"/>
                </a:solidFill>
              </a:defRPr>
            </a:pPr>
            <a:r>
              <a:t>Step 2: Popular Recipes Filter</a:t>
            </a:r>
          </a:p>
          <a:p>
            <a:pPr>
              <a:spcBef>
                <a:spcPts val="800"/>
              </a:spcBef>
              <a:defRPr sz="1200" b="1">
                <a:solidFill>
                  <a:srgbClr val="E67E22"/>
                </a:solidFill>
              </a:defRPr>
            </a:pPr>
            <a:r>
              <a:t>1,071,520 → 341,547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</a:defRPr>
            </a:pPr>
            <a:r>
              <a:t>Kept recipes with &gt; 25 user ratings to eliminate extreme item cold-start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2B4C"/>
                </a:solidFill>
              </a:defRPr>
            </a:pPr>
            <a:r>
              <a:t>Step 3: Active Users Filter</a:t>
            </a:r>
          </a:p>
          <a:p>
            <a:pPr>
              <a:spcBef>
                <a:spcPts val="800"/>
              </a:spcBef>
              <a:defRPr sz="1200" b="1">
                <a:solidFill>
                  <a:srgbClr val="E67E22"/>
                </a:solidFill>
              </a:defRPr>
            </a:pPr>
            <a:r>
              <a:t>341,547 → 133,813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</a:defRPr>
            </a:pPr>
            <a:r>
              <a:t>Kept users with &gt; 25 recipe reviews (2,089 active users, 5,102 recipes).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A2B4C"/>
                </a:solidFill>
              </a:defRPr>
            </a:pPr>
            <a:r>
              <a:t>Step 4: Item Re-filtering</a:t>
            </a:r>
          </a:p>
          <a:p>
            <a:pPr>
              <a:spcBef>
                <a:spcPts val="800"/>
              </a:spcBef>
              <a:defRPr sz="1200" b="1">
                <a:solidFill>
                  <a:srgbClr val="E67E22"/>
                </a:solidFill>
              </a:defRPr>
            </a:pPr>
            <a:r>
              <a:t>Final: 132,928 Ratings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</a:defRPr>
            </a:pPr>
            <a:r>
              <a:t>Kept recipes with &gt; 5 ratings in active subset (2,089 users × 4,841 recipes matrix).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Collaborative Filtering Results: Neighborhood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463040"/>
                <a:gridCol w="1463040"/>
                <a:gridCol w="1737360"/>
                <a:gridCol w="1828800"/>
              </a:tblGrid>
              <a:tr h="4389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Name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Similarity Mode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MAE (Primary)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Fit Time (s)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Time (s)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KNNBasic (Best Neighborhood)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Item-Based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0.3463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0.5723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2.01s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4.20s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KNNWithZScore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User-Based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0.81s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2.75s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Item-Based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2.02s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4.14s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User-Based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0.96s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2.77s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KNNWithMeans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User-Based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0.61s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2.64s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KNNWithZScore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Item-Based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2.27s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5.16s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SlopeOne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Item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1.74s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2.96s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KNNWithMeans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Item-Based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0.5675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1.91s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5.02s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KNNBasic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User-Based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0.6015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2.44s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Key Takeaway: KNNBasic (Item-Based) achieved the lowest MAE (0.3463). Item rating patterns are more stable than individual user fluctuations.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Collaborative Filtering Results: Matrix Factorization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1463040"/>
                <a:gridCol w="1645920"/>
                <a:gridCol w="173736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Name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Bias Configuration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MAE (Primary)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Fit Time (s)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Time (s)</a:t>
                      </a:r>
                    </a:p>
                  </a:txBody>
                  <a:tcPr>
                    <a:solidFill>
                      <a:srgbClr val="1A2B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SVD++ (Best Overall Accuracy)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Implicit Feedback Bias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0.3481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0.5482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218.30s (Very Slow)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4.33s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SVD (Best Practical Model)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biased = True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0.3526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0.5512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8.28s (&gt;26x Faster)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A2B4C"/>
                          </a:solidFill>
                        </a:defRPr>
                      </a:pPr>
                      <a:r>
                        <a:t>0.27s</a:t>
                      </a:r>
                    </a:p>
                  </a:txBody>
                  <a:tcPr>
                    <a:solidFill>
                      <a:srgbClr val="FEF9E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NMF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biased =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0.3582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12.81s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0.38s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NMF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biased = 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0.6395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10.05s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0.29s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3E50"/>
                          </a:solidFill>
                        </a:defRPr>
                      </a:pPr>
                      <a:r>
                        <a:t>SVD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biased = 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0.5207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0.6566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8.44s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C3E50"/>
                          </a:solidFill>
                        </a:defRPr>
                      </a:pPr>
                      <a:r>
                        <a:t>0.25s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663440"/>
            <a:ext cx="5120640" cy="173736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2B4C"/>
                </a:solidFill>
              </a:defRPr>
            </a:pPr>
            <a:r>
              <a:t>1. Baseline Biases are Vital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Unbiased SVD/NMF models have MAE &gt; 0.50. Rating inflation (72% 5-star) makes baseline user/item bias critical.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663440"/>
            <a:ext cx="5212080" cy="1737360"/>
          </a:xfrm>
          <a:prstGeom prst="roundRect">
            <a:avLst/>
          </a:prstGeom>
          <a:solidFill>
            <a:srgbClr val="F5F7FA"/>
          </a:solidFill>
          <a:ln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2B4C"/>
                </a:solidFill>
              </a:defRPr>
            </a:pPr>
            <a:r>
              <a:t>2. SVD is the Winner for Practical Deployment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SVD++ takes 218s to fit for only 0.0045 lower MAE. Regular SVD fits in 8.28s (&gt;26x faster), making it the optimal choice for tuning.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Hyperparameter Tuning via GridSearchCV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2B4C"/>
                </a:solidFill>
              </a:defRPr>
            </a:pPr>
            <a:r>
              <a:t>Tuning KNNBasic (Item-Based)</a:t>
            </a:r>
          </a:p>
          <a:p>
            <a:pPr>
              <a:spcBef>
                <a:spcPts val="400"/>
              </a:spcBef>
              <a:defRPr sz="1200" b="1">
                <a:solidFill>
                  <a:srgbClr val="2C3E50"/>
                </a:solidFill>
              </a:defRPr>
            </a:pPr>
            <a:r>
              <a:t>Parameter Grid: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Similarity Metrics: MSD, Cosine, Pearson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Number of Neighbors (k): 5, 10, 13, 20, 30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Minimum Neighbors (min_k): 3, 5</a:t>
            </a:r>
          </a:p>
          <a:p>
            <a:pPr>
              <a:spcBef>
                <a:spcPts val="400"/>
              </a:spcBef>
              <a:defRPr sz="1200" b="1">
                <a:solidFill>
                  <a:srgbClr val="2C3E50"/>
                </a:solidFill>
              </a:defRPr>
            </a:pPr>
            <a:r>
              <a:t>Optimal Configuration: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Best Metric: Mean Squared Difference (MSD)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Best k: 13 neighbors (min_k = 5)</a:t>
            </a:r>
          </a:p>
          <a:p>
            <a:pPr>
              <a:spcBef>
                <a:spcPts val="400"/>
              </a:spcBef>
              <a:defRPr sz="1200" b="1">
                <a:solidFill>
                  <a:srgbClr val="2C3E50"/>
                </a:solidFill>
              </a:defRPr>
            </a:pPr>
            <a:r>
              <a:t>Performance:</a:t>
            </a:r>
          </a:p>
          <a:p>
            <a:pPr>
              <a:spcBef>
                <a:spcPts val="400"/>
              </a:spcBef>
              <a:defRPr sz="1200" b="0">
                <a:solidFill>
                  <a:srgbClr val="E67E22"/>
                </a:solidFill>
              </a:defRPr>
            </a:pPr>
            <a:r>
              <a:t>• Tuned 5-Fold MAE: 0.3548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A2B4C"/>
                </a:solidFill>
              </a:defRPr>
            </a:pPr>
            <a:r>
              <a:t>Tuning SVD (Matrix Factorization)</a:t>
            </a:r>
          </a:p>
          <a:p>
            <a:pPr>
              <a:spcBef>
                <a:spcPts val="400"/>
              </a:spcBef>
              <a:defRPr sz="1200" b="1">
                <a:solidFill>
                  <a:srgbClr val="2C3E50"/>
                </a:solidFill>
              </a:defRPr>
            </a:pPr>
            <a:r>
              <a:t>Parameter Grid (72 Combinations):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Latent Factors: 50, 100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Epochs: 10, 20 | Biased: True, False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Learning Rates: 0.0005, 0.005, 0.05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Regularization Rates: 0.002, 0.02, 0.2</a:t>
            </a:r>
          </a:p>
          <a:p>
            <a:pPr>
              <a:spcBef>
                <a:spcPts val="400"/>
              </a:spcBef>
              <a:defRPr sz="1200" b="1">
                <a:solidFill>
                  <a:srgbClr val="2C3E50"/>
                </a:solidFill>
              </a:defRPr>
            </a:pPr>
            <a:r>
              <a:t>Optimal Configuration: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n_factors: 50 | n_epochs: 20</a:t>
            </a:r>
          </a:p>
          <a:p>
            <a:pPr>
              <a:spcBef>
                <a:spcPts val="400"/>
              </a:spcBef>
              <a:defRPr sz="1200" b="0">
                <a:solidFill>
                  <a:srgbClr val="2C3E50"/>
                </a:solidFill>
              </a:defRPr>
            </a:pPr>
            <a:r>
              <a:t>• biased: True | lr_all: 0.005 | reg_all: 0.02</a:t>
            </a:r>
          </a:p>
          <a:p>
            <a:pPr>
              <a:spcBef>
                <a:spcPts val="400"/>
              </a:spcBef>
              <a:defRPr sz="1200" b="1">
                <a:solidFill>
                  <a:srgbClr val="2C3E50"/>
                </a:solidFill>
              </a:defRPr>
            </a:pPr>
            <a:r>
              <a:t>Performance (Project Best):</a:t>
            </a:r>
          </a:p>
          <a:p>
            <a:pPr>
              <a:spcBef>
                <a:spcPts val="400"/>
              </a:spcBef>
              <a:defRPr sz="1200" b="0">
                <a:solidFill>
                  <a:srgbClr val="E67E22"/>
                </a:solidFill>
              </a:defRPr>
            </a:pPr>
            <a:r>
              <a:t>• Tuned 5-Fold MAE: 0.3491 (RMSE: 0.5492)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Recommendation Generation &amp; Critical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A2B4C"/>
                </a:solidFill>
              </a:defRPr>
            </a:pPr>
            <a:r>
              <a:t>Sample Top-10 Recommendations (User #103876)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1. to die for crock pot roast (Pred: 4.88, main-dish)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2. crock pot chicken with black beans (Pred: 4.85, main-dish)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3. creamy cajun chicken pasta (Pred: 4.81, main-dish)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4. jo mama s world famous spaghetti (Pred: 4.80, main-dish)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5. kitten s soft snickerdoodles (Pred: 4.78, desserts)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6. best banana bread (Pred: 4.77, desserts)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7. awesome broccoli cheese soup (Pred: 4.76, soups-stews)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8. brown sugar meatloaf (Pred: 4.76, main-dish)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9. beth s melt in your mouth sugar cookies (Pred: 4.75, desserts)</a:t>
            </a:r>
          </a:p>
          <a:p>
            <a:pPr>
              <a:spcBef>
                <a:spcPts val="300"/>
              </a:spcBef>
              <a:defRPr sz="1100">
                <a:solidFill>
                  <a:srgbClr val="2C3E50"/>
                </a:solidFill>
              </a:defRPr>
            </a:pPr>
            <a:r>
              <a:t>10. fabulous french onion soup (Pred: 4.74, soups-stews)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0392B"/>
                </a:solidFill>
              </a:defRPr>
            </a:pPr>
            <a:r>
              <a:t>Three Critical Limitations Uncovered:</a:t>
            </a:r>
          </a:p>
          <a:p>
            <a:pPr>
              <a:spcBef>
                <a:spcPts val="800"/>
              </a:spcBef>
              <a:defRPr sz="1200" b="1">
                <a:solidFill>
                  <a:srgbClr val="1A2B4C"/>
                </a:solidFill>
              </a:defRPr>
            </a:pPr>
            <a:r>
              <a:t>1. Popularity Bias: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The model tends to recommend the same globally high-volume, 5-star recipes (e.g. crock pot roasts, snickerdoodles) to almost every user.</a:t>
            </a:r>
          </a:p>
          <a:p>
            <a:pPr>
              <a:spcBef>
                <a:spcPts val="800"/>
              </a:spcBef>
              <a:defRPr sz="1200" b="1">
                <a:solidFill>
                  <a:srgbClr val="1A2B4C"/>
                </a:solidFill>
              </a:defRPr>
            </a:pPr>
            <a:r>
              <a:t>2. Score Compression: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Predicted ratings cluster tightly between 4.70 and 4.90, making relative ranking delicate due to 72% rating inflation.</a:t>
            </a:r>
          </a:p>
          <a:p>
            <a:pPr>
              <a:spcBef>
                <a:spcPts val="800"/>
              </a:spcBef>
              <a:defRPr sz="1200" b="1">
                <a:solidFill>
                  <a:srgbClr val="1A2B4C"/>
                </a:solidFill>
              </a:defRPr>
            </a:pPr>
            <a:r>
              <a:t>3. Meal-Type Mismatch:</a:t>
            </a:r>
          </a:p>
          <a:p>
            <a:pPr>
              <a:defRPr sz="1100">
                <a:solidFill>
                  <a:srgbClr val="2C3E50"/>
                </a:solidFill>
              </a:defRPr>
            </a:pPr>
            <a:r>
              <a:t>Comparing historical user reviews to predictions revealed instances where the model recommends heavy main dishes or desserts to users who primarily cooked light salads or side dishes.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FOOD.COM RECIPE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B4C"/>
                </a:solidFill>
              </a:defRPr>
            </a:pPr>
            <a:r>
              <a:t>Conclusions &amp; Strategic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2B4C"/>
                </a:solidFill>
              </a:defRPr>
            </a:pPr>
            <a:r>
              <a:t>Quantitative Success</a:t>
            </a:r>
          </a:p>
          <a:p>
            <a:pPr>
              <a:spcBef>
                <a:spcPts val="400"/>
              </a:spcBef>
              <a:defRPr sz="1200" b="1">
                <a:solidFill>
                  <a:srgbClr val="E67E22"/>
                </a:solidFill>
              </a:defRPr>
            </a:pPr>
            <a:r>
              <a:t>Strong Predictive Accuracy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Tuned SVD achieved MAE = 0.3491 on test folds.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Because ratings are integers (1-5), rounding predictions yields the true rating in most instances.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Baseline bias compensation effectively manages Food.com's skewed rating distribution.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2B4C"/>
                </a:solidFill>
              </a:defRPr>
            </a:pPr>
            <a:r>
              <a:t>Qualitative Reality</a:t>
            </a:r>
          </a:p>
          <a:p>
            <a:pPr>
              <a:spcBef>
                <a:spcPts val="400"/>
              </a:spcBef>
              <a:defRPr sz="1200" b="1">
                <a:solidFill>
                  <a:srgbClr val="E67E22"/>
                </a:solidFill>
              </a:defRPr>
            </a:pPr>
            <a:r>
              <a:t>Collaborative Filtering Alone Falls Short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Pure CF treats recipes as blind IDs without semantic understanding.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Ignoring ingredients, meal types, and dietary preferences leads to repetitive or irrelevant suggestions.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Recommender lacks diversity across distinct user personas.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A2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2B4C"/>
                </a:solidFill>
              </a:defRPr>
            </a:pPr>
            <a:r>
              <a:t>Future Roadmap</a:t>
            </a:r>
          </a:p>
          <a:p>
            <a:pPr>
              <a:spcBef>
                <a:spcPts val="400"/>
              </a:spcBef>
              <a:defRPr sz="1200" b="1">
                <a:solidFill>
                  <a:srgbClr val="E67E22"/>
                </a:solidFill>
              </a:defRPr>
            </a:pPr>
            <a:r>
              <a:t>Hybrid Recommendation Engine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Content-Based Fusion: Blend latent factors with ingredient TF-IDF and calorie embeddings.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Contextual Guardrails: Add post-filters for meal type (breakfast, dinner), prep time, and pantry ingredients.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Implicit Signals: Integrate recipe bookmarks and search clicks alongside ratings.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