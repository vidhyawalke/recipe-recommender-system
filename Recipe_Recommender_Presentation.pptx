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45920"/>
            <a:ext cx="9966960" cy="3474720"/>
          </a:xfrm>
          <a:prstGeom prst="rect">
            <a:avLst/>
          </a:prstGeom>
          <a:noFill/>
        </p:spPr>
        <p:txBody>
          <a:bodyPr wrap="square" lIns="0" tIns="0" rIns="0" bIns="0">
            <a:spAutoFit/>
          </a:bodyPr>
          <a:lstStyle/>
          <a:p>
            <a:pPr algn="ctr">
              <a:defRPr sz="1300" b="1">
                <a:solidFill>
                  <a:srgbClr val="0284C7"/>
                </a:solidFill>
                <a:latin typeface="Arial"/>
              </a:defRPr>
            </a:pPr>
            <a:r>
              <a:t>FOOD.COM RECIPE RECOMMENDATION SYSTEM</a:t>
            </a:r>
          </a:p>
          <a:p>
            <a:pPr algn="ctr">
              <a:spcBef>
                <a:spcPts val="1000"/>
              </a:spcBef>
              <a:defRPr sz="4400" b="1">
                <a:solidFill>
                  <a:srgbClr val="0F172A"/>
                </a:solidFill>
                <a:latin typeface="Arial"/>
              </a:defRPr>
            </a:pPr>
            <a:r>
              <a:t>Recipe Recommendations</a:t>
            </a:r>
          </a:p>
          <a:p>
            <a:pPr algn="ctr">
              <a:spcBef>
                <a:spcPts val="1200"/>
              </a:spcBef>
              <a:defRPr sz="2000">
                <a:solidFill>
                  <a:srgbClr val="1E3A8A"/>
                </a:solidFill>
                <a:latin typeface="Arial"/>
              </a:defRPr>
            </a:pPr>
            <a:r>
              <a:t>Collaborative Filtering, Clustering, and Content Based Methods on Food.com</a:t>
            </a:r>
          </a:p>
        </p:txBody>
      </p:sp>
      <p:sp>
        <p:nvSpPr>
          <p:cNvPr id="5" name="Rectangle 4"/>
          <p:cNvSpPr/>
          <p:nvPr/>
        </p:nvSpPr>
        <p:spPr>
          <a:xfrm>
            <a:off x="4206240" y="4023360"/>
            <a:ext cx="3749039" cy="3657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297680"/>
            <a:ext cx="9966960" cy="1645920"/>
          </a:xfrm>
          <a:prstGeom prst="rect">
            <a:avLst/>
          </a:prstGeom>
          <a:noFill/>
        </p:spPr>
        <p:txBody>
          <a:bodyPr wrap="square" lIns="0" tIns="0" rIns="0" bIns="0">
            <a:spAutoFit/>
          </a:bodyPr>
          <a:lstStyle/>
          <a:p>
            <a:pPr algn="ctr">
              <a:defRPr sz="2200" b="1">
                <a:solidFill>
                  <a:srgbClr val="0F172A"/>
                </a:solidFill>
                <a:latin typeface="Arial"/>
              </a:defRPr>
            </a:pPr>
            <a:r>
              <a:t>Vidhya Walke</a:t>
            </a:r>
          </a:p>
          <a:p>
            <a:pPr algn="ctr">
              <a:spcBef>
                <a:spcPts val="600"/>
              </a:spcBef>
              <a:defRPr sz="1600">
                <a:solidFill>
                  <a:srgbClr val="475569"/>
                </a:solidFill>
                <a:latin typeface="Arial"/>
              </a:defRPr>
            </a:pPr>
            <a:r>
              <a:t>MSc Data Science</a:t>
            </a:r>
          </a:p>
          <a:p>
            <a:pPr algn="ctr">
              <a:spcBef>
                <a:spcPts val="800"/>
              </a:spcBef>
              <a:defRPr sz="1200">
                <a:solidFill>
                  <a:srgbClr val="64748B"/>
                </a:solidFill>
                <a:latin typeface="Arial"/>
              </a:defRPr>
            </a:pPr>
            <a:r>
              <a:t>Food.com Benchmark Dataset: 180K Recipes and 1.13M User Interactions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DATASET ARCHITECTURE</a:t>
            </a:r>
          </a:p>
          <a:p>
            <a:pPr>
              <a:defRPr sz="2600" b="1">
                <a:solidFill>
                  <a:srgbClr val="0F172A"/>
                </a:solidFill>
                <a:latin typeface="Arial"/>
              </a:defRPr>
            </a:pPr>
            <a:r>
              <a:t>Data Description</a:t>
            </a:r>
          </a:p>
        </p:txBody>
      </p:sp>
      <p:graphicFrame>
        <p:nvGraphicFramePr>
          <p:cNvPr id="4" name="Table 3"/>
          <p:cNvGraphicFramePr>
            <a:graphicFrameLocks noGrp="1"/>
          </p:cNvGraphicFramePr>
          <p:nvPr/>
        </p:nvGraphicFramePr>
        <p:xfrm>
          <a:off x="731520" y="1280160"/>
          <a:ext cx="10728655" cy="4937760"/>
        </p:xfrm>
        <a:graphic>
          <a:graphicData uri="http://schemas.openxmlformats.org/drawingml/2006/table">
            <a:tbl>
              <a:tblPr firstRow="1" bandRow="1">
                <a:tableStyleId>{5C22544A-7EE6-4342-B048-85BDC9FD1C3A}</a:tableStyleId>
              </a:tblPr>
              <a:tblGrid>
                <a:gridCol w="2286000"/>
                <a:gridCol w="1463040"/>
                <a:gridCol w="6979615"/>
              </a:tblGrid>
              <a:tr h="822960">
                <a:tc>
                  <a:txBody>
                    <a:bodyPr/>
                    <a:lstStyle/>
                    <a:p>
                      <a:pPr>
                        <a:defRPr sz="1200" b="1">
                          <a:solidFill>
                            <a:srgbClr val="0F172A"/>
                          </a:solidFill>
                          <a:latin typeface="Arial"/>
                        </a:defRPr>
                      </a:pPr>
                      <a:r>
                        <a:t>File Name</a:t>
                      </a:r>
                    </a:p>
                  </a:txBody>
                  <a:tcPr marL="73152" marR="73152" marT="45720" marB="45720">
                    <a:solidFill>
                      <a:srgbClr val="F8FAFC"/>
                    </a:solidFill>
                  </a:tcPr>
                </a:tc>
                <a:tc>
                  <a:txBody>
                    <a:bodyPr/>
                    <a:lstStyle/>
                    <a:p>
                      <a:pPr algn="ctr">
                        <a:defRPr sz="1200" b="1">
                          <a:solidFill>
                            <a:srgbClr val="0F172A"/>
                          </a:solidFill>
                          <a:latin typeface="Arial"/>
                        </a:defRPr>
                      </a:pPr>
                      <a:r>
                        <a:t>Rows</a:t>
                      </a:r>
                    </a:p>
                  </a:txBody>
                  <a:tcPr marL="73152" marR="73152" marT="45720" marB="45720">
                    <a:solidFill>
                      <a:srgbClr val="F8FAFC"/>
                    </a:solidFill>
                  </a:tcPr>
                </a:tc>
                <a:tc>
                  <a:txBody>
                    <a:bodyPr/>
                    <a:lstStyle/>
                    <a:p>
                      <a:pPr>
                        <a:defRPr sz="1200" b="1">
                          <a:solidFill>
                            <a:srgbClr val="0F172A"/>
                          </a:solidFill>
                          <a:latin typeface="Arial"/>
                        </a:defRPr>
                      </a:pPr>
                      <a:r>
                        <a:t>Description</a:t>
                      </a:r>
                    </a:p>
                  </a:txBody>
                  <a:tcPr marL="73152" marR="73152" marT="45720" marB="45720">
                    <a:solidFill>
                      <a:srgbClr val="F8FAFC"/>
                    </a:solidFill>
                  </a:tcPr>
                </a:tc>
              </a:tr>
              <a:tr h="822960">
                <a:tc>
                  <a:txBody>
                    <a:bodyPr/>
                    <a:lstStyle/>
                    <a:p>
                      <a:pPr>
                        <a:defRPr sz="1100" b="1">
                          <a:solidFill>
                            <a:srgbClr val="0F172A"/>
                          </a:solidFill>
                          <a:latin typeface="Arial"/>
                        </a:defRPr>
                      </a:pPr>
                      <a:r>
                        <a:t>PP_users.csv</a:t>
                      </a:r>
                    </a:p>
                  </a:txBody>
                  <a:tcPr marL="73152" marR="73152" marT="45720" marB="45720">
                    <a:solidFill>
                      <a:srgbClr val="FFFFFF"/>
                    </a:solidFill>
                  </a:tcPr>
                </a:tc>
                <a:tc>
                  <a:txBody>
                    <a:bodyPr/>
                    <a:lstStyle/>
                    <a:p>
                      <a:pPr algn="ctr">
                        <a:defRPr sz="1100" b="1">
                          <a:solidFill>
                            <a:srgbClr val="0284C7"/>
                          </a:solidFill>
                          <a:latin typeface="Arial"/>
                        </a:defRPr>
                      </a:pPr>
                      <a:r>
                        <a:t>25,076 users</a:t>
                      </a:r>
                    </a:p>
                  </a:txBody>
                  <a:tcPr marL="73152" marR="73152" marT="45720" marB="45720">
                    <a:solidFill>
                      <a:srgbClr val="FFFFFF"/>
                    </a:solidFill>
                  </a:tcPr>
                </a:tc>
                <a:tc>
                  <a:txBody>
                    <a:bodyPr/>
                    <a:lstStyle/>
                    <a:p>
                      <a:pPr>
                        <a:defRPr sz="1050">
                          <a:solidFill>
                            <a:srgbClr val="334155"/>
                          </a:solidFill>
                          <a:latin typeface="Arial"/>
                        </a:defRPr>
                      </a:pPr>
                      <a:r>
                        <a:t>Techniques and ingredients tried by the user, ratings left by the user, and count of recipes rated</a:t>
                      </a:r>
                    </a:p>
                  </a:txBody>
                  <a:tcPr marL="73152" marR="73152" marT="45720" marB="45720">
                    <a:solidFill>
                      <a:srgbClr val="FFFFFF"/>
                    </a:solidFill>
                  </a:tcPr>
                </a:tc>
              </a:tr>
              <a:tr h="822960">
                <a:tc>
                  <a:txBody>
                    <a:bodyPr/>
                    <a:lstStyle/>
                    <a:p>
                      <a:pPr>
                        <a:defRPr sz="1100" b="1">
                          <a:solidFill>
                            <a:srgbClr val="0F172A"/>
                          </a:solidFill>
                          <a:latin typeface="Arial"/>
                        </a:defRPr>
                      </a:pPr>
                      <a:r>
                        <a:t>PP_recipes.csv</a:t>
                      </a:r>
                    </a:p>
                  </a:txBody>
                  <a:tcPr marL="73152" marR="73152" marT="45720" marB="45720">
                    <a:solidFill>
                      <a:srgbClr val="FFFFFF"/>
                    </a:solidFill>
                  </a:tcPr>
                </a:tc>
                <a:tc>
                  <a:txBody>
                    <a:bodyPr/>
                    <a:lstStyle/>
                    <a:p>
                      <a:pPr algn="ctr">
                        <a:defRPr sz="1100" b="1">
                          <a:solidFill>
                            <a:srgbClr val="0284C7"/>
                          </a:solidFill>
                          <a:latin typeface="Arial"/>
                        </a:defRPr>
                      </a:pPr>
                      <a:r>
                        <a:t>178,265 recipes</a:t>
                      </a:r>
                    </a:p>
                  </a:txBody>
                  <a:tcPr marL="73152" marR="73152" marT="45720" marB="45720">
                    <a:solidFill>
                      <a:srgbClr val="FFFFFF"/>
                    </a:solidFill>
                  </a:tcPr>
                </a:tc>
                <a:tc>
                  <a:txBody>
                    <a:bodyPr/>
                    <a:lstStyle/>
                    <a:p>
                      <a:pPr>
                        <a:defRPr sz="1050">
                          <a:solidFill>
                            <a:srgbClr val="334155"/>
                          </a:solidFill>
                          <a:latin typeface="Arial"/>
                        </a:defRPr>
                      </a:pPr>
                      <a:r>
                        <a:t>Processed data for each recipe, including tokenized lists for recipe name, ingredients, steps, as well as techniques and calorie level</a:t>
                      </a:r>
                    </a:p>
                  </a:txBody>
                  <a:tcPr marL="73152" marR="73152" marT="45720" marB="45720">
                    <a:solidFill>
                      <a:srgbClr val="FFFFFF"/>
                    </a:solidFill>
                  </a:tcPr>
                </a:tc>
              </a:tr>
              <a:tr h="822960">
                <a:tc>
                  <a:txBody>
                    <a:bodyPr/>
                    <a:lstStyle/>
                    <a:p>
                      <a:pPr>
                        <a:defRPr sz="1100" b="1">
                          <a:solidFill>
                            <a:srgbClr val="0F172A"/>
                          </a:solidFill>
                          <a:latin typeface="Arial"/>
                        </a:defRPr>
                      </a:pPr>
                      <a:r>
                        <a:t>RAW_recipes.csv</a:t>
                      </a:r>
                    </a:p>
                  </a:txBody>
                  <a:tcPr marL="73152" marR="73152" marT="45720" marB="45720">
                    <a:solidFill>
                      <a:srgbClr val="FFFFFF"/>
                    </a:solidFill>
                  </a:tcPr>
                </a:tc>
                <a:tc>
                  <a:txBody>
                    <a:bodyPr/>
                    <a:lstStyle/>
                    <a:p>
                      <a:pPr algn="ctr">
                        <a:defRPr sz="1100" b="1">
                          <a:solidFill>
                            <a:srgbClr val="0284C7"/>
                          </a:solidFill>
                          <a:latin typeface="Arial"/>
                        </a:defRPr>
                      </a:pPr>
                      <a:r>
                        <a:t>231,637 recipes</a:t>
                      </a:r>
                    </a:p>
                  </a:txBody>
                  <a:tcPr marL="73152" marR="73152" marT="45720" marB="45720">
                    <a:solidFill>
                      <a:srgbClr val="FFFFFF"/>
                    </a:solidFill>
                  </a:tcPr>
                </a:tc>
                <a:tc>
                  <a:txBody>
                    <a:bodyPr/>
                    <a:lstStyle/>
                    <a:p>
                      <a:pPr>
                        <a:defRPr sz="1050">
                          <a:solidFill>
                            <a:srgbClr val="334155"/>
                          </a:solidFill>
                          <a:latin typeface="Arial"/>
                        </a:defRPr>
                      </a:pPr>
                      <a:r>
                        <a:t>Raw data for recipes, including the text name, minutes to complete, tags via Food.com, nutrition data, number of steps, text for each step, user provided description, ingredients</a:t>
                      </a:r>
                    </a:p>
                  </a:txBody>
                  <a:tcPr marL="73152" marR="73152" marT="45720" marB="45720">
                    <a:solidFill>
                      <a:srgbClr val="FFFFFF"/>
                    </a:solidFill>
                  </a:tcPr>
                </a:tc>
              </a:tr>
              <a:tr h="822960">
                <a:tc>
                  <a:txBody>
                    <a:bodyPr/>
                    <a:lstStyle/>
                    <a:p>
                      <a:pPr>
                        <a:defRPr sz="1100" b="1">
                          <a:solidFill>
                            <a:srgbClr val="0F172A"/>
                          </a:solidFill>
                          <a:latin typeface="Arial"/>
                        </a:defRPr>
                      </a:pPr>
                      <a:r>
                        <a:t>RAW_interactions.csv</a:t>
                      </a:r>
                    </a:p>
                  </a:txBody>
                  <a:tcPr marL="73152" marR="73152" marT="45720" marB="45720">
                    <a:solidFill>
                      <a:srgbClr val="FFFFFF"/>
                    </a:solidFill>
                  </a:tcPr>
                </a:tc>
                <a:tc>
                  <a:txBody>
                    <a:bodyPr/>
                    <a:lstStyle/>
                    <a:p>
                      <a:pPr algn="ctr">
                        <a:defRPr sz="1100" b="1">
                          <a:solidFill>
                            <a:srgbClr val="0284C7"/>
                          </a:solidFill>
                          <a:latin typeface="Arial"/>
                        </a:defRPr>
                      </a:pPr>
                      <a:r>
                        <a:t>1,132,367 ratings</a:t>
                      </a:r>
                    </a:p>
                  </a:txBody>
                  <a:tcPr marL="73152" marR="73152" marT="45720" marB="45720">
                    <a:solidFill>
                      <a:srgbClr val="FFFFFF"/>
                    </a:solidFill>
                  </a:tcPr>
                </a:tc>
                <a:tc>
                  <a:txBody>
                    <a:bodyPr/>
                    <a:lstStyle/>
                    <a:p>
                      <a:pPr>
                        <a:defRPr sz="1050">
                          <a:solidFill>
                            <a:srgbClr val="334155"/>
                          </a:solidFill>
                          <a:latin typeface="Arial"/>
                        </a:defRPr>
                      </a:pPr>
                      <a:r>
                        <a:t>Interactions with the recipes by the users, including User ID, Recipe ID, Date submitted, rating on a scale of 0 to 5, and text of the user review</a:t>
                      </a:r>
                    </a:p>
                  </a:txBody>
                  <a:tcPr marL="73152" marR="73152" marT="45720" marB="45720">
                    <a:solidFill>
                      <a:srgbClr val="FFFFFF"/>
                    </a:solidFill>
                  </a:tcPr>
                </a:tc>
              </a:tr>
              <a:tr h="822960">
                <a:tc>
                  <a:txBody>
                    <a:bodyPr/>
                    <a:lstStyle/>
                    <a:p>
                      <a:pPr>
                        <a:defRPr sz="1100" b="1">
                          <a:solidFill>
                            <a:srgbClr val="0F172A"/>
                          </a:solidFill>
                          <a:latin typeface="Arial"/>
                        </a:defRPr>
                      </a:pPr>
                      <a:r>
                        <a:t>Ingr_map.pkl</a:t>
                      </a:r>
                    </a:p>
                  </a:txBody>
                  <a:tcPr marL="73152" marR="73152" marT="45720" marB="45720">
                    <a:solidFill>
                      <a:srgbClr val="FFFFFF"/>
                    </a:solidFill>
                  </a:tcPr>
                </a:tc>
                <a:tc>
                  <a:txBody>
                    <a:bodyPr/>
                    <a:lstStyle/>
                    <a:p>
                      <a:pPr algn="ctr">
                        <a:defRPr sz="1100" b="1">
                          <a:solidFill>
                            <a:srgbClr val="0284C7"/>
                          </a:solidFill>
                          <a:latin typeface="Arial"/>
                        </a:defRPr>
                      </a:pPr>
                      <a:r>
                        <a:t>11,659 ingredients</a:t>
                      </a:r>
                    </a:p>
                  </a:txBody>
                  <a:tcPr marL="73152" marR="73152" marT="45720" marB="45720">
                    <a:solidFill>
                      <a:srgbClr val="FFFFFF"/>
                    </a:solidFill>
                  </a:tcPr>
                </a:tc>
                <a:tc>
                  <a:txBody>
                    <a:bodyPr/>
                    <a:lstStyle/>
                    <a:p>
                      <a:pPr>
                        <a:defRPr sz="1050">
                          <a:solidFill>
                            <a:srgbClr val="334155"/>
                          </a:solidFill>
                          <a:latin typeface="Arial"/>
                        </a:defRPr>
                      </a:pPr>
                      <a:r>
                        <a:t>A map of ingredient IDs to ingredient names, with the text description of the ingredient, count of words in the text description, length of description, and a simplified word or category or phrase used in place of the original description</a:t>
                      </a:r>
                    </a:p>
                  </a:txBody>
                  <a:tcPr marL="73152" marR="73152" marT="45720" marB="45720">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EXPLORATORY DATA ANALYSIS</a:t>
            </a:r>
          </a:p>
          <a:p>
            <a:pPr>
              <a:defRPr sz="2600" b="1">
                <a:solidFill>
                  <a:srgbClr val="0F172A"/>
                </a:solidFill>
                <a:latin typeface="Arial"/>
              </a:defRPr>
            </a:pPr>
            <a:r>
              <a:t>EDA</a:t>
            </a:r>
          </a:p>
        </p:txBody>
      </p:sp>
      <p:pic>
        <p:nvPicPr>
          <p:cNvPr id="4" name="Picture 3" descr="eda_p1_users.png"/>
          <p:cNvPicPr>
            <a:picLocks noChangeAspect="1"/>
          </p:cNvPicPr>
          <p:nvPr/>
        </p:nvPicPr>
        <p:blipFill>
          <a:blip r:embed="rId2"/>
          <a:stretch>
            <a:fillRect/>
          </a:stretch>
        </p:blipFill>
        <p:spPr>
          <a:xfrm>
            <a:off x="731520" y="1234440"/>
            <a:ext cx="3383280" cy="2837590"/>
          </a:xfrm>
          <a:prstGeom prst="rect">
            <a:avLst/>
          </a:prstGeom>
        </p:spPr>
      </p:pic>
      <p:pic>
        <p:nvPicPr>
          <p:cNvPr id="5" name="Picture 4" descr="eda_p2_ratings.png"/>
          <p:cNvPicPr>
            <a:picLocks noChangeAspect="1"/>
          </p:cNvPicPr>
          <p:nvPr/>
        </p:nvPicPr>
        <p:blipFill>
          <a:blip r:embed="rId3"/>
          <a:stretch>
            <a:fillRect/>
          </a:stretch>
        </p:blipFill>
        <p:spPr>
          <a:xfrm>
            <a:off x="4389120" y="1234440"/>
            <a:ext cx="3474720" cy="2737658"/>
          </a:xfrm>
          <a:prstGeom prst="rect">
            <a:avLst/>
          </a:prstGeom>
        </p:spPr>
      </p:pic>
      <p:pic>
        <p:nvPicPr>
          <p:cNvPr id="6" name="Picture 5" descr="eda_p3_meals.png"/>
          <p:cNvPicPr>
            <a:picLocks noChangeAspect="1"/>
          </p:cNvPicPr>
          <p:nvPr/>
        </p:nvPicPr>
        <p:blipFill>
          <a:blip r:embed="rId4"/>
          <a:stretch>
            <a:fillRect/>
          </a:stretch>
        </p:blipFill>
        <p:spPr>
          <a:xfrm>
            <a:off x="8046720" y="1234440"/>
            <a:ext cx="3383280" cy="2377440"/>
          </a:xfrm>
          <a:prstGeom prst="rect">
            <a:avLst/>
          </a:prstGeom>
        </p:spPr>
      </p:pic>
      <p:sp>
        <p:nvSpPr>
          <p:cNvPr id="7" name="Rectangle 6"/>
          <p:cNvSpPr/>
          <p:nvPr/>
        </p:nvSpPr>
        <p:spPr>
          <a:xfrm>
            <a:off x="731520" y="4754880"/>
            <a:ext cx="3383280" cy="1554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172A"/>
                </a:solidFill>
                <a:latin typeface="Arial"/>
              </a:defRPr>
            </a:pPr>
            <a:r>
              <a:t>User Engagement Distribution</a:t>
            </a:r>
          </a:p>
          <a:p>
            <a:pPr>
              <a:spcBef>
                <a:spcPts val="800"/>
              </a:spcBef>
              <a:defRPr sz="1300" b="1">
                <a:solidFill>
                  <a:srgbClr val="0284C7"/>
                </a:solidFill>
                <a:latin typeface="Arial"/>
              </a:defRPr>
            </a:pPr>
            <a:r>
              <a:t>Median number of ratings per user = 6</a:t>
            </a:r>
          </a:p>
          <a:p>
            <a:pPr>
              <a:spcBef>
                <a:spcPts val="400"/>
              </a:spcBef>
              <a:defRPr sz="1000">
                <a:solidFill>
                  <a:srgbClr val="475569"/>
                </a:solidFill>
                <a:latin typeface="Arial"/>
              </a:defRPr>
            </a:pPr>
            <a:r>
              <a:t>Highly skewed activity with long tail interaction sparsity</a:t>
            </a:r>
          </a:p>
        </p:txBody>
      </p:sp>
      <p:sp>
        <p:nvSpPr>
          <p:cNvPr id="8" name="Rectangle 7"/>
          <p:cNvSpPr/>
          <p:nvPr/>
        </p:nvSpPr>
        <p:spPr>
          <a:xfrm>
            <a:off x="4389120" y="4754880"/>
            <a:ext cx="3474720" cy="1554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172A"/>
                </a:solidFill>
                <a:latin typeface="Arial"/>
              </a:defRPr>
            </a:pPr>
            <a:r>
              <a:t>Rating Polarity</a:t>
            </a:r>
          </a:p>
          <a:p>
            <a:pPr>
              <a:spcBef>
                <a:spcPts val="800"/>
              </a:spcBef>
              <a:defRPr sz="1300" b="1">
                <a:solidFill>
                  <a:srgbClr val="0284C7"/>
                </a:solidFill>
                <a:latin typeface="Arial"/>
              </a:defRPr>
            </a:pPr>
            <a:r>
              <a:t>Reviews with a 5 = 72%</a:t>
            </a:r>
          </a:p>
          <a:p>
            <a:pPr>
              <a:spcBef>
                <a:spcPts val="400"/>
              </a:spcBef>
              <a:defRPr sz="1000">
                <a:solidFill>
                  <a:srgbClr val="475569"/>
                </a:solidFill>
                <a:latin typeface="Arial"/>
              </a:defRPr>
            </a:pPr>
            <a:r>
              <a:t>Severe positive class imbalance across rating records</a:t>
            </a:r>
          </a:p>
        </p:txBody>
      </p:sp>
      <p:sp>
        <p:nvSpPr>
          <p:cNvPr id="9" name="Rectangle 8"/>
          <p:cNvSpPr/>
          <p:nvPr/>
        </p:nvSpPr>
        <p:spPr>
          <a:xfrm>
            <a:off x="8046720" y="4754880"/>
            <a:ext cx="3383280" cy="1554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172A"/>
                </a:solidFill>
                <a:latin typeface="Arial"/>
              </a:defRPr>
            </a:pPr>
            <a:r>
              <a:t>Meal Type Breakdown</a:t>
            </a:r>
          </a:p>
          <a:p>
            <a:pPr>
              <a:spcBef>
                <a:spcPts val="300"/>
              </a:spcBef>
              <a:defRPr sz="1100" b="1">
                <a:solidFill>
                  <a:srgbClr val="0F172A"/>
                </a:solidFill>
                <a:latin typeface="Arial"/>
              </a:defRPr>
            </a:pPr>
            <a:r>
              <a:t>•  32% main dish</a:t>
            </a:r>
          </a:p>
          <a:p>
            <a:pPr>
              <a:spcBef>
                <a:spcPts val="300"/>
              </a:spcBef>
              <a:defRPr sz="1100" b="1">
                <a:solidFill>
                  <a:srgbClr val="0F172A"/>
                </a:solidFill>
                <a:latin typeface="Arial"/>
              </a:defRPr>
            </a:pPr>
            <a:r>
              <a:t>•  20% desserts</a:t>
            </a:r>
          </a:p>
          <a:p>
            <a:pPr>
              <a:spcBef>
                <a:spcPts val="300"/>
              </a:spcBef>
              <a:defRPr sz="1100" b="1">
                <a:solidFill>
                  <a:srgbClr val="0F172A"/>
                </a:solidFill>
                <a:latin typeface="Arial"/>
              </a:defRPr>
            </a:pPr>
            <a:r>
              <a:t>•  11% side dishes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BASELINE MODELING</a:t>
            </a:r>
          </a:p>
          <a:p>
            <a:pPr>
              <a:defRPr sz="2600" b="1">
                <a:solidFill>
                  <a:srgbClr val="0F172A"/>
                </a:solidFill>
                <a:latin typeface="Arial"/>
              </a:defRPr>
            </a:pPr>
            <a:r>
              <a:t>Approach: User and Item Based Collaborative Filtering</a:t>
            </a:r>
          </a:p>
        </p:txBody>
      </p:sp>
      <p:pic>
        <p:nvPicPr>
          <p:cNvPr id="4" name="Picture 3" descr="cf_models_tables.png"/>
          <p:cNvPicPr>
            <a:picLocks noChangeAspect="1"/>
          </p:cNvPicPr>
          <p:nvPr/>
        </p:nvPicPr>
        <p:blipFill>
          <a:blip r:embed="rId2"/>
          <a:stretch>
            <a:fillRect/>
          </a:stretch>
        </p:blipFill>
        <p:spPr>
          <a:xfrm>
            <a:off x="731520" y="1234440"/>
            <a:ext cx="5669280" cy="4554012"/>
          </a:xfrm>
          <a:prstGeom prst="rect">
            <a:avLst/>
          </a:prstGeom>
        </p:spPr>
      </p:pic>
      <p:sp>
        <p:nvSpPr>
          <p:cNvPr id="5" name="TextBox 4"/>
          <p:cNvSpPr txBox="1"/>
          <p:nvPr/>
        </p:nvSpPr>
        <p:spPr>
          <a:xfrm>
            <a:off x="6583680" y="1234440"/>
            <a:ext cx="4846320" cy="5029200"/>
          </a:xfrm>
          <a:prstGeom prst="rect">
            <a:avLst/>
          </a:prstGeom>
          <a:noFill/>
        </p:spPr>
        <p:txBody>
          <a:bodyPr wrap="square">
            <a:spAutoFit/>
          </a:bodyPr>
          <a:lstStyle/>
          <a:p>
            <a:r>
              <a:rPr sz="1250" b="1">
                <a:solidFill>
                  <a:srgbClr val="0F172A"/>
                </a:solidFill>
                <a:latin typeface="Arial"/>
              </a:rPr>
              <a:t>•  Surprise Benchmark Evaluation: </a:t>
            </a:r>
            <a:r>
              <a:rPr sz="1200">
                <a:solidFill>
                  <a:srgbClr val="334155"/>
                </a:solidFill>
                <a:latin typeface="Arial"/>
              </a:rPr>
              <a:t>Multiple models from the Surprise package were compared with default settings across 5 fold cross validation.</a:t>
            </a:r>
          </a:p>
          <a:p>
            <a:pPr>
              <a:spcBef>
                <a:spcPts val="1400"/>
              </a:spcBef>
            </a:pPr>
            <a:r>
              <a:rPr sz="1250" b="1">
                <a:solidFill>
                  <a:srgbClr val="0F172A"/>
                </a:solidFill>
                <a:latin typeface="Arial"/>
              </a:rPr>
              <a:t>•  Neighborhood Model Performance: </a:t>
            </a:r>
            <a:r>
              <a:rPr sz="1200">
                <a:solidFill>
                  <a:srgbClr val="334155"/>
                </a:solidFill>
                <a:latin typeface="Arial"/>
              </a:rPr>
              <a:t>Item based KNNBasic model had the lowest MAE (mean absolute error) among neighborhood approaches.</a:t>
            </a:r>
          </a:p>
          <a:p>
            <a:pPr>
              <a:spcBef>
                <a:spcPts val="1400"/>
              </a:spcBef>
            </a:pPr>
            <a:r>
              <a:rPr sz="1250" b="1">
                <a:solidFill>
                  <a:srgbClr val="0F172A"/>
                </a:solidFill>
                <a:latin typeface="Arial"/>
              </a:rPr>
              <a:t>•  GridSearch Optimization for KNN: </a:t>
            </a:r>
            <a:r>
              <a:rPr sz="1200">
                <a:solidFill>
                  <a:srgbClr val="334155"/>
                </a:solidFill>
                <a:latin typeface="Arial"/>
              </a:rPr>
              <a:t>Using GridSearch, the best performing Item based KNNBasic model used MSD (Mean Squared Difference) and 13 neighbors, with an MAE of 0.3548.</a:t>
            </a:r>
          </a:p>
          <a:p>
            <a:pPr>
              <a:spcBef>
                <a:spcPts val="1400"/>
              </a:spcBef>
            </a:pPr>
            <a:r>
              <a:rPr sz="1250" b="1">
                <a:solidFill>
                  <a:srgbClr val="0F172A"/>
                </a:solidFill>
                <a:latin typeface="Arial"/>
              </a:rPr>
              <a:t>•  Matrix Factorization Comparison: </a:t>
            </a:r>
            <a:r>
              <a:rPr sz="1200">
                <a:solidFill>
                  <a:srgbClr val="334155"/>
                </a:solidFill>
                <a:latin typeface="Arial"/>
              </a:rPr>
              <a:t>SVDpp had the lowest overall MAE, but a high runtime (218 seconds), and SVD (biased=True) was very close on MAE (0.3526) in under 9 seconds.</a:t>
            </a:r>
          </a:p>
          <a:p>
            <a:pPr>
              <a:spcBef>
                <a:spcPts val="1400"/>
              </a:spcBef>
            </a:pPr>
            <a:r>
              <a:rPr sz="1250" b="1">
                <a:solidFill>
                  <a:srgbClr val="0F172A"/>
                </a:solidFill>
                <a:latin typeface="Arial"/>
              </a:rPr>
              <a:t>•  GridSearch Optimization for SVD: </a:t>
            </a:r>
            <a:r>
              <a:rPr sz="1200">
                <a:solidFill>
                  <a:srgbClr val="334155"/>
                </a:solidFill>
                <a:latin typeface="Arial"/>
              </a:rPr>
              <a:t>Using GridSearch, the best performing SVD model used 50 factors, 20 epochs, biased=True, learning rate 0.005, regularization 0.02, and had a MAE of 0.3491.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METHODOLOGY &amp; ARCHITECTURE</a:t>
            </a:r>
          </a:p>
          <a:p>
            <a:pPr>
              <a:defRPr sz="2600" b="1">
                <a:solidFill>
                  <a:srgbClr val="0F172A"/>
                </a:solidFill>
                <a:latin typeface="Arial"/>
              </a:defRPr>
            </a:pPr>
            <a:r>
              <a:t>Description of Approach: Cluster Based Collaborative Filtering</a:t>
            </a:r>
          </a:p>
        </p:txBody>
      </p:sp>
      <p:sp>
        <p:nvSpPr>
          <p:cNvPr id="4" name="TextBox 3"/>
          <p:cNvSpPr txBox="1"/>
          <p:nvPr/>
        </p:nvSpPr>
        <p:spPr>
          <a:xfrm>
            <a:off x="731520" y="1188720"/>
            <a:ext cx="10698480" cy="2743200"/>
          </a:xfrm>
          <a:prstGeom prst="rect">
            <a:avLst/>
          </a:prstGeom>
          <a:noFill/>
        </p:spPr>
        <p:txBody>
          <a:bodyPr wrap="square">
            <a:spAutoFit/>
          </a:bodyPr>
          <a:lstStyle/>
          <a:p>
            <a:r>
              <a:rPr sz="1250" b="1">
                <a:solidFill>
                  <a:srgbClr val="0F172A"/>
                </a:solidFill>
                <a:latin typeface="Arial"/>
              </a:rPr>
              <a:t>• Use Surprise CoClustering Algorithm: </a:t>
            </a:r>
            <a:r>
              <a:rPr sz="1200">
                <a:solidFill>
                  <a:srgbClr val="334155"/>
                </a:solidFill>
                <a:latin typeface="Arial"/>
              </a:rPr>
              <a:t>Combines assigning users and recipes to clusters simultaneously and incorporates both to make predictions. Evaluated over cluster ranges keeping one constant and optimized via GridSearch.</a:t>
            </a:r>
          </a:p>
          <a:p>
            <a:pPr>
              <a:spcBef>
                <a:spcPts val="800"/>
              </a:spcBef>
            </a:pPr>
            <a:r>
              <a:rPr sz="1250" b="1">
                <a:solidFill>
                  <a:srgbClr val="0F172A"/>
                </a:solidFill>
                <a:latin typeface="Arial"/>
              </a:rPr>
              <a:t>• Compare Performance Using KMeans for Neighborhood Models: </a:t>
            </a:r>
            <a:r>
              <a:rPr sz="1200">
                <a:solidFill>
                  <a:srgbClr val="334155"/>
                </a:solidFill>
                <a:latin typeface="Arial"/>
              </a:rPr>
              <a:t>Partition user or recipe interaction spaces using unsupervised clustering, comparing 5 fold cross validation RMSE, MAE, MSE, and runtime.</a:t>
            </a:r>
          </a:p>
          <a:p>
            <a:pPr>
              <a:spcBef>
                <a:spcPts val="800"/>
              </a:spcBef>
            </a:pPr>
            <a:r>
              <a:rPr sz="1250" b="1">
                <a:solidFill>
                  <a:srgbClr val="0F172A"/>
                </a:solidFill>
                <a:latin typeface="Arial"/>
              </a:rPr>
              <a:t>• Generate Cluster Focused Recommendations: </a:t>
            </a:r>
            <a:r>
              <a:rPr sz="1200">
                <a:solidFill>
                  <a:srgbClr val="334155"/>
                </a:solidFill>
                <a:latin typeface="Arial"/>
              </a:rPr>
              <a:t>Predict cluster for target user, filter ratings matrix to include only the user cluster, apply KNN to find most similar cluster peers, and rank average ratings to surface Top N recipes.</a:t>
            </a:r>
          </a:p>
        </p:txBody>
      </p:sp>
      <p:pic>
        <p:nvPicPr>
          <p:cNvPr id="5" name="Picture 4" descr="cluster_pipeline_diagram.png"/>
          <p:cNvPicPr>
            <a:picLocks noChangeAspect="1"/>
          </p:cNvPicPr>
          <p:nvPr/>
        </p:nvPicPr>
        <p:blipFill>
          <a:blip r:embed="rId2"/>
          <a:stretch>
            <a:fillRect/>
          </a:stretch>
        </p:blipFill>
        <p:spPr>
          <a:xfrm>
            <a:off x="731520" y="4114800"/>
            <a:ext cx="10698480" cy="225231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CLUSTERING PERFORMANCE</a:t>
            </a:r>
          </a:p>
          <a:p>
            <a:pPr>
              <a:defRPr sz="2600" b="1">
                <a:solidFill>
                  <a:srgbClr val="0F172A"/>
                </a:solidFill>
                <a:latin typeface="Arial"/>
              </a:defRPr>
            </a:pPr>
            <a:r>
              <a:t>Results: CoClustering</a:t>
            </a:r>
          </a:p>
        </p:txBody>
      </p:sp>
      <p:sp>
        <p:nvSpPr>
          <p:cNvPr id="4" name="TextBox 3"/>
          <p:cNvSpPr txBox="1"/>
          <p:nvPr/>
        </p:nvSpPr>
        <p:spPr>
          <a:xfrm>
            <a:off x="731520" y="1188720"/>
            <a:ext cx="10698480" cy="731520"/>
          </a:xfrm>
          <a:prstGeom prst="rect">
            <a:avLst/>
          </a:prstGeom>
          <a:noFill/>
        </p:spPr>
        <p:txBody>
          <a:bodyPr wrap="square">
            <a:spAutoFit/>
          </a:bodyPr>
          <a:lstStyle/>
          <a:p>
            <a:pPr>
              <a:defRPr sz="1100" b="1">
                <a:solidFill>
                  <a:srgbClr val="0F172A"/>
                </a:solidFill>
                <a:latin typeface="Arial"/>
              </a:defRPr>
            </a:pPr>
            <a:r>
              <a:t>• In general, the item and user based collaborative filtering models are very comparable to CoClustering results, but require a fraction of the runtime to compute.</a:t>
            </a:r>
          </a:p>
          <a:p>
            <a:pPr>
              <a:spcBef>
                <a:spcPts val="300"/>
              </a:spcBef>
              <a:defRPr sz="1100">
                <a:solidFill>
                  <a:srgbClr val="475569"/>
                </a:solidFill>
                <a:latin typeface="Arial"/>
              </a:defRPr>
            </a:pPr>
            <a:r>
              <a:t>• As expected, MAE values improve with targeted clusters, but computational cost of iterative joint clustering is significantly higher.</a:t>
            </a:r>
          </a:p>
        </p:txBody>
      </p:sp>
      <p:pic>
        <p:nvPicPr>
          <p:cNvPr id="5" name="Picture 4" descr="cocluster_users.png"/>
          <p:cNvPicPr>
            <a:picLocks noChangeAspect="1"/>
          </p:cNvPicPr>
          <p:nvPr/>
        </p:nvPicPr>
        <p:blipFill>
          <a:blip r:embed="rId2"/>
          <a:stretch>
            <a:fillRect/>
          </a:stretch>
        </p:blipFill>
        <p:spPr>
          <a:xfrm>
            <a:off x="731520" y="2011680"/>
            <a:ext cx="3017520" cy="2310079"/>
          </a:xfrm>
          <a:prstGeom prst="rect">
            <a:avLst/>
          </a:prstGeom>
        </p:spPr>
      </p:pic>
      <p:pic>
        <p:nvPicPr>
          <p:cNvPr id="6" name="Picture 5" descr="cocluster_recipes.png"/>
          <p:cNvPicPr>
            <a:picLocks noChangeAspect="1"/>
          </p:cNvPicPr>
          <p:nvPr/>
        </p:nvPicPr>
        <p:blipFill>
          <a:blip r:embed="rId3"/>
          <a:stretch>
            <a:fillRect/>
          </a:stretch>
        </p:blipFill>
        <p:spPr>
          <a:xfrm>
            <a:off x="3931920" y="2011680"/>
            <a:ext cx="3108960" cy="2125073"/>
          </a:xfrm>
          <a:prstGeom prst="rect">
            <a:avLst/>
          </a:prstGeom>
        </p:spPr>
      </p:pic>
      <p:sp>
        <p:nvSpPr>
          <p:cNvPr id="7" name="TextBox 6"/>
          <p:cNvSpPr txBox="1"/>
          <p:nvPr/>
        </p:nvSpPr>
        <p:spPr>
          <a:xfrm>
            <a:off x="7223760" y="1965960"/>
            <a:ext cx="4114800" cy="320040"/>
          </a:xfrm>
          <a:prstGeom prst="rect">
            <a:avLst/>
          </a:prstGeom>
          <a:noFill/>
        </p:spPr>
        <p:txBody>
          <a:bodyPr wrap="none">
            <a:spAutoFit/>
          </a:bodyPr>
          <a:lstStyle/>
          <a:p>
            <a:pPr>
              <a:defRPr sz="1100" b="1">
                <a:solidFill>
                  <a:srgbClr val="0F172A"/>
                </a:solidFill>
                <a:latin typeface="Arial"/>
              </a:defRPr>
            </a:pPr>
            <a:r>
              <a:t>CoClustering using Best Cluster Sizes</a:t>
            </a:r>
          </a:p>
        </p:txBody>
      </p:sp>
      <p:graphicFrame>
        <p:nvGraphicFramePr>
          <p:cNvPr id="8" name="Table 7"/>
          <p:cNvGraphicFramePr>
            <a:graphicFrameLocks noGrp="1"/>
          </p:cNvGraphicFramePr>
          <p:nvPr/>
        </p:nvGraphicFramePr>
        <p:xfrm>
          <a:off x="7223760" y="2286000"/>
          <a:ext cx="4370832" cy="685800"/>
        </p:xfrm>
        <a:graphic>
          <a:graphicData uri="http://schemas.openxmlformats.org/drawingml/2006/table">
            <a:tbl>
              <a:tblPr firstRow="1" bandRow="1">
                <a:tableStyleId>{5C22544A-7EE6-4342-B048-85BDC9FD1C3A}</a:tableStyleId>
              </a:tblPr>
              <a:tblGrid>
                <a:gridCol w="777240"/>
                <a:gridCol w="777240"/>
                <a:gridCol w="548640"/>
                <a:gridCol w="475488"/>
                <a:gridCol w="548640"/>
                <a:gridCol w="621792"/>
                <a:gridCol w="621792"/>
              </a:tblGrid>
              <a:tr h="342900">
                <a:tc>
                  <a:txBody>
                    <a:bodyPr/>
                    <a:lstStyle/>
                    <a:p>
                      <a:pPr>
                        <a:defRPr sz="650" b="1">
                          <a:solidFill>
                            <a:srgbClr val="0F172A"/>
                          </a:solidFill>
                          <a:latin typeface="Arial"/>
                        </a:defRPr>
                      </a:pPr>
                      <a:r>
                        <a:t>User Clusters</a:t>
                      </a:r>
                    </a:p>
                  </a:txBody>
                  <a:tcPr marL="0" marR="0" marT="0" marB="0">
                    <a:solidFill>
                      <a:srgbClr val="F8FAFC"/>
                    </a:solidFill>
                  </a:tcPr>
                </a:tc>
                <a:tc>
                  <a:txBody>
                    <a:bodyPr/>
                    <a:lstStyle/>
                    <a:p>
                      <a:pPr>
                        <a:defRPr sz="650" b="1">
                          <a:solidFill>
                            <a:srgbClr val="0F172A"/>
                          </a:solidFill>
                          <a:latin typeface="Arial"/>
                        </a:defRPr>
                      </a:pPr>
                      <a:r>
                        <a:t>Item Clusters</a:t>
                      </a:r>
                    </a:p>
                  </a:txBody>
                  <a:tcPr marL="0" marR="0" marT="0" marB="0">
                    <a:solidFill>
                      <a:srgbClr val="F8FAFC"/>
                    </a:solidFill>
                  </a:tcPr>
                </a:tc>
                <a:tc>
                  <a:txBody>
                    <a:bodyPr/>
                    <a:lstStyle/>
                    <a:p>
                      <a:pPr>
                        <a:defRPr sz="650" b="1">
                          <a:solidFill>
                            <a:srgbClr val="0F172A"/>
                          </a:solidFill>
                          <a:latin typeface="Arial"/>
                        </a:defRPr>
                      </a:pPr>
                      <a:r>
                        <a:t>RMSE</a:t>
                      </a:r>
                    </a:p>
                  </a:txBody>
                  <a:tcPr marL="0" marR="0" marT="0" marB="0">
                    <a:solidFill>
                      <a:srgbClr val="F8FAFC"/>
                    </a:solidFill>
                  </a:tcPr>
                </a:tc>
                <a:tc>
                  <a:txBody>
                    <a:bodyPr/>
                    <a:lstStyle/>
                    <a:p>
                      <a:pPr>
                        <a:defRPr sz="650" b="1">
                          <a:solidFill>
                            <a:srgbClr val="0F172A"/>
                          </a:solidFill>
                          <a:latin typeface="Arial"/>
                        </a:defRPr>
                      </a:pPr>
                      <a:r>
                        <a:t>MSE</a:t>
                      </a:r>
                    </a:p>
                  </a:txBody>
                  <a:tcPr marL="0" marR="0" marT="0" marB="0">
                    <a:solidFill>
                      <a:srgbClr val="F8FAFC"/>
                    </a:solidFill>
                  </a:tcPr>
                </a:tc>
                <a:tc>
                  <a:txBody>
                    <a:bodyPr/>
                    <a:lstStyle/>
                    <a:p>
                      <a:pPr>
                        <a:defRPr sz="650" b="1">
                          <a:solidFill>
                            <a:srgbClr val="0F172A"/>
                          </a:solidFill>
                          <a:latin typeface="Arial"/>
                        </a:defRPr>
                      </a:pPr>
                      <a:r>
                        <a:t>MAE</a:t>
                      </a:r>
                    </a:p>
                  </a:txBody>
                  <a:tcPr marL="0" marR="0" marT="0" marB="0">
                    <a:solidFill>
                      <a:srgbClr val="F8FAFC"/>
                    </a:solidFill>
                  </a:tcPr>
                </a:tc>
                <a:tc>
                  <a:txBody>
                    <a:bodyPr/>
                    <a:lstStyle/>
                    <a:p>
                      <a:pPr>
                        <a:defRPr sz="650" b="1">
                          <a:solidFill>
                            <a:srgbClr val="0F172A"/>
                          </a:solidFill>
                          <a:latin typeface="Arial"/>
                        </a:defRPr>
                      </a:pPr>
                      <a:r>
                        <a:t>Fit Time</a:t>
                      </a:r>
                    </a:p>
                  </a:txBody>
                  <a:tcPr marL="0" marR="0" marT="0" marB="0">
                    <a:solidFill>
                      <a:srgbClr val="F8FAFC"/>
                    </a:solidFill>
                  </a:tcPr>
                </a:tc>
                <a:tc>
                  <a:txBody>
                    <a:bodyPr/>
                    <a:lstStyle/>
                    <a:p>
                      <a:pPr>
                        <a:defRPr sz="650" b="1">
                          <a:solidFill>
                            <a:srgbClr val="0F172A"/>
                          </a:solidFill>
                          <a:latin typeface="Arial"/>
                        </a:defRPr>
                      </a:pPr>
                      <a:r>
                        <a:t>Test Time</a:t>
                      </a:r>
                    </a:p>
                  </a:txBody>
                  <a:tcPr marL="0" marR="0" marT="0" marB="0">
                    <a:solidFill>
                      <a:srgbClr val="F8FAFC"/>
                    </a:solidFill>
                  </a:tcPr>
                </a:tc>
              </a:tr>
              <a:tr h="342900">
                <a:tc>
                  <a:txBody>
                    <a:bodyPr/>
                    <a:lstStyle/>
                    <a:p>
                      <a:pPr>
                        <a:defRPr sz="700">
                          <a:solidFill>
                            <a:srgbClr val="0F172A"/>
                          </a:solidFill>
                          <a:latin typeface="Arial"/>
                        </a:defRPr>
                      </a:pPr>
                      <a:r>
                        <a:t>9</a:t>
                      </a:r>
                    </a:p>
                  </a:txBody>
                  <a:tcPr marL="0" marR="0" marT="0" marB="0">
                    <a:solidFill>
                      <a:srgbClr val="FFFFFF"/>
                    </a:solidFill>
                  </a:tcPr>
                </a:tc>
                <a:tc>
                  <a:txBody>
                    <a:bodyPr/>
                    <a:lstStyle/>
                    <a:p>
                      <a:pPr>
                        <a:defRPr sz="700">
                          <a:solidFill>
                            <a:srgbClr val="0F172A"/>
                          </a:solidFill>
                          <a:latin typeface="Arial"/>
                        </a:defRPr>
                      </a:pPr>
                      <a:r>
                        <a:t>5</a:t>
                      </a:r>
                    </a:p>
                  </a:txBody>
                  <a:tcPr marL="0" marR="0" marT="0" marB="0">
                    <a:solidFill>
                      <a:srgbClr val="FFFFFF"/>
                    </a:solidFill>
                  </a:tcPr>
                </a:tc>
                <a:tc>
                  <a:txBody>
                    <a:bodyPr/>
                    <a:lstStyle/>
                    <a:p>
                      <a:pPr>
                        <a:defRPr sz="700">
                          <a:solidFill>
                            <a:srgbClr val="0F172A"/>
                          </a:solidFill>
                          <a:latin typeface="Arial"/>
                        </a:defRPr>
                      </a:pPr>
                      <a:r>
                        <a:t>0.5882</a:t>
                      </a:r>
                    </a:p>
                  </a:txBody>
                  <a:tcPr marL="0" marR="0" marT="0" marB="0">
                    <a:solidFill>
                      <a:srgbClr val="FFFFFF"/>
                    </a:solidFill>
                  </a:tcPr>
                </a:tc>
                <a:tc>
                  <a:txBody>
                    <a:bodyPr/>
                    <a:lstStyle/>
                    <a:p>
                      <a:pPr>
                        <a:defRPr sz="700">
                          <a:solidFill>
                            <a:srgbClr val="0F172A"/>
                          </a:solidFill>
                          <a:latin typeface="Arial"/>
                        </a:defRPr>
                      </a:pPr>
                      <a:r>
                        <a:t>0.346</a:t>
                      </a:r>
                    </a:p>
                  </a:txBody>
                  <a:tcPr marL="0" marR="0" marT="0" marB="0">
                    <a:solidFill>
                      <a:srgbClr val="FFFFFF"/>
                    </a:solidFill>
                  </a:tcPr>
                </a:tc>
                <a:tc>
                  <a:txBody>
                    <a:bodyPr/>
                    <a:lstStyle/>
                    <a:p>
                      <a:pPr>
                        <a:defRPr sz="700">
                          <a:solidFill>
                            <a:srgbClr val="0F172A"/>
                          </a:solidFill>
                          <a:latin typeface="Arial"/>
                        </a:defRPr>
                      </a:pPr>
                      <a:r>
                        <a:t>0.3655</a:t>
                      </a:r>
                    </a:p>
                  </a:txBody>
                  <a:tcPr marL="0" marR="0" marT="0" marB="0">
                    <a:solidFill>
                      <a:srgbClr val="FFFFFF"/>
                    </a:solidFill>
                  </a:tcPr>
                </a:tc>
                <a:tc>
                  <a:txBody>
                    <a:bodyPr/>
                    <a:lstStyle/>
                    <a:p>
                      <a:pPr>
                        <a:defRPr sz="700">
                          <a:solidFill>
                            <a:srgbClr val="0F172A"/>
                          </a:solidFill>
                          <a:latin typeface="Arial"/>
                        </a:defRPr>
                      </a:pPr>
                      <a:r>
                        <a:t>0.7976</a:t>
                      </a:r>
                    </a:p>
                  </a:txBody>
                  <a:tcPr marL="0" marR="0" marT="0" marB="0">
                    <a:solidFill>
                      <a:srgbClr val="FFFFFF"/>
                    </a:solidFill>
                  </a:tcPr>
                </a:tc>
                <a:tc>
                  <a:txBody>
                    <a:bodyPr/>
                    <a:lstStyle/>
                    <a:p>
                      <a:pPr>
                        <a:defRPr sz="700">
                          <a:solidFill>
                            <a:srgbClr val="0F172A"/>
                          </a:solidFill>
                          <a:latin typeface="Arial"/>
                        </a:defRPr>
                      </a:pPr>
                      <a:r>
                        <a:t>0.0469</a:t>
                      </a:r>
                    </a:p>
                  </a:txBody>
                  <a:tcPr marL="0" marR="0" marT="0" marB="0">
                    <a:solidFill>
                      <a:srgbClr val="FFFFFF"/>
                    </a:solidFill>
                  </a:tcPr>
                </a:tc>
              </a:tr>
            </a:tbl>
          </a:graphicData>
        </a:graphic>
      </p:graphicFrame>
      <p:sp>
        <p:nvSpPr>
          <p:cNvPr id="9" name="TextBox 8"/>
          <p:cNvSpPr txBox="1"/>
          <p:nvPr/>
        </p:nvSpPr>
        <p:spPr>
          <a:xfrm>
            <a:off x="7223760" y="3337560"/>
            <a:ext cx="4114800" cy="320040"/>
          </a:xfrm>
          <a:prstGeom prst="rect">
            <a:avLst/>
          </a:prstGeom>
          <a:noFill/>
        </p:spPr>
        <p:txBody>
          <a:bodyPr wrap="none">
            <a:spAutoFit/>
          </a:bodyPr>
          <a:lstStyle/>
          <a:p>
            <a:pPr>
              <a:defRPr sz="1100" b="1">
                <a:solidFill>
                  <a:srgbClr val="0F172A"/>
                </a:solidFill>
                <a:latin typeface="Arial"/>
              </a:defRPr>
            </a:pPr>
            <a:r>
              <a:t>CoClustering GridSearch Best Params</a:t>
            </a:r>
          </a:p>
        </p:txBody>
      </p:sp>
      <p:graphicFrame>
        <p:nvGraphicFramePr>
          <p:cNvPr id="10" name="Table 9"/>
          <p:cNvGraphicFramePr>
            <a:graphicFrameLocks noGrp="1"/>
          </p:cNvGraphicFramePr>
          <p:nvPr/>
        </p:nvGraphicFramePr>
        <p:xfrm>
          <a:off x="7223760" y="3657600"/>
          <a:ext cx="4370832" cy="685800"/>
        </p:xfrm>
        <a:graphic>
          <a:graphicData uri="http://schemas.openxmlformats.org/drawingml/2006/table">
            <a:tbl>
              <a:tblPr firstRow="1" bandRow="1">
                <a:tableStyleId>{5C22544A-7EE6-4342-B048-85BDC9FD1C3A}</a:tableStyleId>
              </a:tblPr>
              <a:tblGrid>
                <a:gridCol w="777240"/>
                <a:gridCol w="777240"/>
                <a:gridCol w="548640"/>
                <a:gridCol w="475488"/>
                <a:gridCol w="548640"/>
                <a:gridCol w="621792"/>
                <a:gridCol w="621792"/>
              </a:tblGrid>
              <a:tr h="342900">
                <a:tc>
                  <a:txBody>
                    <a:bodyPr/>
                    <a:lstStyle/>
                    <a:p>
                      <a:pPr>
                        <a:defRPr sz="650" b="1">
                          <a:solidFill>
                            <a:srgbClr val="0F172A"/>
                          </a:solidFill>
                          <a:latin typeface="Arial"/>
                        </a:defRPr>
                      </a:pPr>
                      <a:r>
                        <a:t>User Clusters</a:t>
                      </a:r>
                    </a:p>
                  </a:txBody>
                  <a:tcPr marL="0" marR="0" marT="0" marB="0">
                    <a:solidFill>
                      <a:srgbClr val="F8FAFC"/>
                    </a:solidFill>
                  </a:tcPr>
                </a:tc>
                <a:tc>
                  <a:txBody>
                    <a:bodyPr/>
                    <a:lstStyle/>
                    <a:p>
                      <a:pPr>
                        <a:defRPr sz="650" b="1">
                          <a:solidFill>
                            <a:srgbClr val="0F172A"/>
                          </a:solidFill>
                          <a:latin typeface="Arial"/>
                        </a:defRPr>
                      </a:pPr>
                      <a:r>
                        <a:t>Item Clusters</a:t>
                      </a:r>
                    </a:p>
                  </a:txBody>
                  <a:tcPr marL="0" marR="0" marT="0" marB="0">
                    <a:solidFill>
                      <a:srgbClr val="F8FAFC"/>
                    </a:solidFill>
                  </a:tcPr>
                </a:tc>
                <a:tc>
                  <a:txBody>
                    <a:bodyPr/>
                    <a:lstStyle/>
                    <a:p>
                      <a:pPr>
                        <a:defRPr sz="650" b="1">
                          <a:solidFill>
                            <a:srgbClr val="0F172A"/>
                          </a:solidFill>
                          <a:latin typeface="Arial"/>
                        </a:defRPr>
                      </a:pPr>
                      <a:r>
                        <a:t>RMSE</a:t>
                      </a:r>
                    </a:p>
                  </a:txBody>
                  <a:tcPr marL="0" marR="0" marT="0" marB="0">
                    <a:solidFill>
                      <a:srgbClr val="F8FAFC"/>
                    </a:solidFill>
                  </a:tcPr>
                </a:tc>
                <a:tc>
                  <a:txBody>
                    <a:bodyPr/>
                    <a:lstStyle/>
                    <a:p>
                      <a:pPr>
                        <a:defRPr sz="650" b="1">
                          <a:solidFill>
                            <a:srgbClr val="0F172A"/>
                          </a:solidFill>
                          <a:latin typeface="Arial"/>
                        </a:defRPr>
                      </a:pPr>
                      <a:r>
                        <a:t>MSE</a:t>
                      </a:r>
                    </a:p>
                  </a:txBody>
                  <a:tcPr marL="0" marR="0" marT="0" marB="0">
                    <a:solidFill>
                      <a:srgbClr val="F8FAFC"/>
                    </a:solidFill>
                  </a:tcPr>
                </a:tc>
                <a:tc>
                  <a:txBody>
                    <a:bodyPr/>
                    <a:lstStyle/>
                    <a:p>
                      <a:pPr>
                        <a:defRPr sz="650" b="1">
                          <a:solidFill>
                            <a:srgbClr val="0F172A"/>
                          </a:solidFill>
                          <a:latin typeface="Arial"/>
                        </a:defRPr>
                      </a:pPr>
                      <a:r>
                        <a:t>MAE</a:t>
                      </a:r>
                    </a:p>
                  </a:txBody>
                  <a:tcPr marL="0" marR="0" marT="0" marB="0">
                    <a:solidFill>
                      <a:srgbClr val="F8FAFC"/>
                    </a:solidFill>
                  </a:tcPr>
                </a:tc>
                <a:tc>
                  <a:txBody>
                    <a:bodyPr/>
                    <a:lstStyle/>
                    <a:p>
                      <a:pPr>
                        <a:defRPr sz="650" b="1">
                          <a:solidFill>
                            <a:srgbClr val="0F172A"/>
                          </a:solidFill>
                          <a:latin typeface="Arial"/>
                        </a:defRPr>
                      </a:pPr>
                      <a:r>
                        <a:t>Fit Time</a:t>
                      </a:r>
                    </a:p>
                  </a:txBody>
                  <a:tcPr marL="0" marR="0" marT="0" marB="0">
                    <a:solidFill>
                      <a:srgbClr val="F8FAFC"/>
                    </a:solidFill>
                  </a:tcPr>
                </a:tc>
                <a:tc>
                  <a:txBody>
                    <a:bodyPr/>
                    <a:lstStyle/>
                    <a:p>
                      <a:pPr>
                        <a:defRPr sz="650" b="1">
                          <a:solidFill>
                            <a:srgbClr val="0F172A"/>
                          </a:solidFill>
                          <a:latin typeface="Arial"/>
                        </a:defRPr>
                      </a:pPr>
                      <a:r>
                        <a:t>Test Time</a:t>
                      </a:r>
                    </a:p>
                  </a:txBody>
                  <a:tcPr marL="0" marR="0" marT="0" marB="0">
                    <a:solidFill>
                      <a:srgbClr val="F8FAFC"/>
                    </a:solidFill>
                  </a:tcPr>
                </a:tc>
              </a:tr>
              <a:tr h="342900">
                <a:tc>
                  <a:txBody>
                    <a:bodyPr/>
                    <a:lstStyle/>
                    <a:p>
                      <a:pPr>
                        <a:defRPr sz="700" b="1">
                          <a:solidFill>
                            <a:srgbClr val="1E3A8A"/>
                          </a:solidFill>
                          <a:latin typeface="Arial"/>
                        </a:defRPr>
                      </a:pPr>
                      <a:r>
                        <a:t>2</a:t>
                      </a:r>
                    </a:p>
                  </a:txBody>
                  <a:tcPr marL="0" marR="0" marT="0" marB="0">
                    <a:solidFill>
                      <a:srgbClr val="E0F2FE"/>
                    </a:solidFill>
                  </a:tcPr>
                </a:tc>
                <a:tc>
                  <a:txBody>
                    <a:bodyPr/>
                    <a:lstStyle/>
                    <a:p>
                      <a:pPr>
                        <a:defRPr sz="700" b="1">
                          <a:solidFill>
                            <a:srgbClr val="1E3A8A"/>
                          </a:solidFill>
                          <a:latin typeface="Arial"/>
                        </a:defRPr>
                      </a:pPr>
                      <a:r>
                        <a:t>2</a:t>
                      </a:r>
                    </a:p>
                  </a:txBody>
                  <a:tcPr marL="0" marR="0" marT="0" marB="0">
                    <a:solidFill>
                      <a:srgbClr val="E0F2FE"/>
                    </a:solidFill>
                  </a:tcPr>
                </a:tc>
                <a:tc>
                  <a:txBody>
                    <a:bodyPr/>
                    <a:lstStyle/>
                    <a:p>
                      <a:pPr>
                        <a:defRPr sz="700" b="1">
                          <a:solidFill>
                            <a:srgbClr val="1E3A8A"/>
                          </a:solidFill>
                          <a:latin typeface="Arial"/>
                        </a:defRPr>
                      </a:pPr>
                      <a:r>
                        <a:t>0.5489</a:t>
                      </a:r>
                    </a:p>
                  </a:txBody>
                  <a:tcPr marL="0" marR="0" marT="0" marB="0">
                    <a:solidFill>
                      <a:srgbClr val="E0F2FE"/>
                    </a:solidFill>
                  </a:tcPr>
                </a:tc>
                <a:tc>
                  <a:txBody>
                    <a:bodyPr/>
                    <a:lstStyle/>
                    <a:p>
                      <a:pPr>
                        <a:defRPr sz="700" b="1">
                          <a:solidFill>
                            <a:srgbClr val="1E3A8A"/>
                          </a:solidFill>
                          <a:latin typeface="Arial"/>
                        </a:defRPr>
                      </a:pPr>
                      <a:r>
                        <a:t>0.3014</a:t>
                      </a:r>
                    </a:p>
                  </a:txBody>
                  <a:tcPr marL="0" marR="0" marT="0" marB="0">
                    <a:solidFill>
                      <a:srgbClr val="E0F2FE"/>
                    </a:solidFill>
                  </a:tcPr>
                </a:tc>
                <a:tc>
                  <a:txBody>
                    <a:bodyPr/>
                    <a:lstStyle/>
                    <a:p>
                      <a:pPr>
                        <a:defRPr sz="700" b="1">
                          <a:solidFill>
                            <a:srgbClr val="1E3A8A"/>
                          </a:solidFill>
                          <a:latin typeface="Arial"/>
                        </a:defRPr>
                      </a:pPr>
                      <a:r>
                        <a:t>0.3513</a:t>
                      </a:r>
                    </a:p>
                  </a:txBody>
                  <a:tcPr marL="0" marR="0" marT="0" marB="0">
                    <a:solidFill>
                      <a:srgbClr val="E0F2FE"/>
                    </a:solidFill>
                  </a:tcPr>
                </a:tc>
                <a:tc>
                  <a:txBody>
                    <a:bodyPr/>
                    <a:lstStyle/>
                    <a:p>
                      <a:pPr>
                        <a:defRPr sz="700" b="1">
                          <a:solidFill>
                            <a:srgbClr val="1E3A8A"/>
                          </a:solidFill>
                          <a:latin typeface="Arial"/>
                        </a:defRPr>
                      </a:pPr>
                      <a:r>
                        <a:t>0.8157</a:t>
                      </a:r>
                    </a:p>
                  </a:txBody>
                  <a:tcPr marL="0" marR="0" marT="0" marB="0">
                    <a:solidFill>
                      <a:srgbClr val="E0F2FE"/>
                    </a:solidFill>
                  </a:tcPr>
                </a:tc>
                <a:tc>
                  <a:txBody>
                    <a:bodyPr/>
                    <a:lstStyle/>
                    <a:p>
                      <a:pPr>
                        <a:defRPr sz="700" b="1">
                          <a:solidFill>
                            <a:srgbClr val="1E3A8A"/>
                          </a:solidFill>
                          <a:latin typeface="Arial"/>
                        </a:defRPr>
                      </a:pPr>
                      <a:r>
                        <a:t>0.0433</a:t>
                      </a:r>
                    </a:p>
                  </a:txBody>
                  <a:tcPr marL="0" marR="0" marT="0" marB="0">
                    <a:solidFill>
                      <a:srgbClr val="E0F2FE"/>
                    </a:solidFill>
                  </a:tcPr>
                </a:tc>
              </a:tr>
            </a:tbl>
          </a:graphicData>
        </a:graphic>
      </p:graphicFrame>
      <p:graphicFrame>
        <p:nvGraphicFramePr>
          <p:cNvPr id="11" name="Table 10"/>
          <p:cNvGraphicFramePr>
            <a:graphicFrameLocks noGrp="1"/>
          </p:cNvGraphicFramePr>
          <p:nvPr/>
        </p:nvGraphicFramePr>
        <p:xfrm>
          <a:off x="731520" y="4206240"/>
          <a:ext cx="3154680" cy="2103120"/>
        </p:xfrm>
        <a:graphic>
          <a:graphicData uri="http://schemas.openxmlformats.org/drawingml/2006/table">
            <a:tbl>
              <a:tblPr firstRow="1" bandRow="1">
                <a:tableStyleId>{5C22544A-7EE6-4342-B048-85BDC9FD1C3A}</a:tableStyleId>
              </a:tblPr>
              <a:tblGrid>
                <a:gridCol w="594360"/>
                <a:gridCol w="512064"/>
                <a:gridCol w="493776"/>
                <a:gridCol w="493776"/>
                <a:gridCol w="530352"/>
                <a:gridCol w="530352"/>
              </a:tblGrid>
              <a:tr h="210312">
                <a:tc>
                  <a:txBody>
                    <a:bodyPr/>
                    <a:lstStyle/>
                    <a:p>
                      <a:pPr>
                        <a:defRPr sz="600" b="1">
                          <a:solidFill>
                            <a:srgbClr val="0F172A"/>
                          </a:solidFill>
                          <a:latin typeface="Arial"/>
                        </a:defRPr>
                      </a:pPr>
                      <a:r>
                        <a:t>cluster size</a:t>
                      </a:r>
                    </a:p>
                  </a:txBody>
                  <a:tcPr marL="0" marR="0" marT="0" marB="0">
                    <a:solidFill>
                      <a:srgbClr val="F8FAFC"/>
                    </a:solidFill>
                  </a:tcPr>
                </a:tc>
                <a:tc>
                  <a:txBody>
                    <a:bodyPr/>
                    <a:lstStyle/>
                    <a:p>
                      <a:pPr>
                        <a:defRPr sz="600" b="1">
                          <a:solidFill>
                            <a:srgbClr val="0F172A"/>
                          </a:solidFill>
                          <a:latin typeface="Arial"/>
                        </a:defRPr>
                      </a:pPr>
                      <a:r>
                        <a:t>RMSE</a:t>
                      </a:r>
                    </a:p>
                  </a:txBody>
                  <a:tcPr marL="0" marR="0" marT="0" marB="0">
                    <a:solidFill>
                      <a:srgbClr val="F8FAFC"/>
                    </a:solidFill>
                  </a:tcPr>
                </a:tc>
                <a:tc>
                  <a:txBody>
                    <a:bodyPr/>
                    <a:lstStyle/>
                    <a:p>
                      <a:pPr>
                        <a:defRPr sz="600" b="1">
                          <a:solidFill>
                            <a:srgbClr val="0F172A"/>
                          </a:solidFill>
                          <a:latin typeface="Arial"/>
                        </a:defRPr>
                      </a:pPr>
                      <a:r>
                        <a:t>MSE</a:t>
                      </a:r>
                    </a:p>
                  </a:txBody>
                  <a:tcPr marL="0" marR="0" marT="0" marB="0">
                    <a:solidFill>
                      <a:srgbClr val="F8FAFC"/>
                    </a:solidFill>
                  </a:tcPr>
                </a:tc>
                <a:tc>
                  <a:txBody>
                    <a:bodyPr/>
                    <a:lstStyle/>
                    <a:p>
                      <a:pPr>
                        <a:defRPr sz="600" b="1">
                          <a:solidFill>
                            <a:srgbClr val="0F172A"/>
                          </a:solidFill>
                          <a:latin typeface="Arial"/>
                        </a:defRPr>
                      </a:pPr>
                      <a:r>
                        <a:t>MAE</a:t>
                      </a:r>
                    </a:p>
                  </a:txBody>
                  <a:tcPr marL="0" marR="0" marT="0" marB="0">
                    <a:solidFill>
                      <a:srgbClr val="F8FAFC"/>
                    </a:solidFill>
                  </a:tcPr>
                </a:tc>
                <a:tc>
                  <a:txBody>
                    <a:bodyPr/>
                    <a:lstStyle/>
                    <a:p>
                      <a:pPr>
                        <a:defRPr sz="600" b="1">
                          <a:solidFill>
                            <a:srgbClr val="0F172A"/>
                          </a:solidFill>
                          <a:latin typeface="Arial"/>
                        </a:defRPr>
                      </a:pPr>
                      <a:r>
                        <a:t>Fit Time</a:t>
                      </a:r>
                    </a:p>
                  </a:txBody>
                  <a:tcPr marL="0" marR="0" marT="0" marB="0">
                    <a:solidFill>
                      <a:srgbClr val="F8FAFC"/>
                    </a:solidFill>
                  </a:tcPr>
                </a:tc>
                <a:tc>
                  <a:txBody>
                    <a:bodyPr/>
                    <a:lstStyle/>
                    <a:p>
                      <a:pPr>
                        <a:defRPr sz="600" b="1">
                          <a:solidFill>
                            <a:srgbClr val="0F172A"/>
                          </a:solidFill>
                          <a:latin typeface="Arial"/>
                        </a:defRPr>
                      </a:pPr>
                      <a:r>
                        <a:t>Test Time</a:t>
                      </a:r>
                    </a:p>
                  </a:txBody>
                  <a:tcPr marL="0" marR="0" marT="0" marB="0">
                    <a:solidFill>
                      <a:srgbClr val="F8FAFC"/>
                    </a:solidFill>
                  </a:tcPr>
                </a:tc>
              </a:tr>
              <a:tr h="210312">
                <a:tc>
                  <a:txBody>
                    <a:bodyPr/>
                    <a:lstStyle/>
                    <a:p>
                      <a:pPr>
                        <a:defRPr sz="650">
                          <a:solidFill>
                            <a:srgbClr val="0F172A"/>
                          </a:solidFill>
                          <a:latin typeface="Arial"/>
                        </a:defRPr>
                      </a:pPr>
                      <a:r>
                        <a:t>1</a:t>
                      </a:r>
                    </a:p>
                  </a:txBody>
                  <a:tcPr marL="0" marR="0" marT="0" marB="0">
                    <a:solidFill>
                      <a:srgbClr val="FFFFFF"/>
                    </a:solidFill>
                  </a:tcPr>
                </a:tc>
                <a:tc>
                  <a:txBody>
                    <a:bodyPr/>
                    <a:lstStyle/>
                    <a:p>
                      <a:pPr>
                        <a:defRPr sz="650">
                          <a:solidFill>
                            <a:srgbClr val="0F172A"/>
                          </a:solidFill>
                          <a:latin typeface="Arial"/>
                        </a:defRPr>
                      </a:pPr>
                      <a:r>
                        <a:t>0.5394</a:t>
                      </a:r>
                    </a:p>
                  </a:txBody>
                  <a:tcPr marL="0" marR="0" marT="0" marB="0">
                    <a:solidFill>
                      <a:srgbClr val="FFFFFF"/>
                    </a:solidFill>
                  </a:tcPr>
                </a:tc>
                <a:tc>
                  <a:txBody>
                    <a:bodyPr/>
                    <a:lstStyle/>
                    <a:p>
                      <a:pPr>
                        <a:defRPr sz="650">
                          <a:solidFill>
                            <a:srgbClr val="0F172A"/>
                          </a:solidFill>
                          <a:latin typeface="Arial"/>
                        </a:defRPr>
                      </a:pPr>
                      <a:r>
                        <a:t>0.2910</a:t>
                      </a:r>
                    </a:p>
                  </a:txBody>
                  <a:tcPr marL="0" marR="0" marT="0" marB="0">
                    <a:solidFill>
                      <a:srgbClr val="FFFFFF"/>
                    </a:solidFill>
                  </a:tcPr>
                </a:tc>
                <a:tc>
                  <a:txBody>
                    <a:bodyPr/>
                    <a:lstStyle/>
                    <a:p>
                      <a:pPr>
                        <a:defRPr sz="650">
                          <a:solidFill>
                            <a:srgbClr val="0F172A"/>
                          </a:solidFill>
                          <a:latin typeface="Arial"/>
                        </a:defRPr>
                      </a:pPr>
                      <a:r>
                        <a:t>0.3468</a:t>
                      </a:r>
                    </a:p>
                  </a:txBody>
                  <a:tcPr marL="0" marR="0" marT="0" marB="0">
                    <a:solidFill>
                      <a:srgbClr val="FFFFFF"/>
                    </a:solidFill>
                  </a:tcPr>
                </a:tc>
                <a:tc>
                  <a:txBody>
                    <a:bodyPr/>
                    <a:lstStyle/>
                    <a:p>
                      <a:pPr>
                        <a:defRPr sz="650">
                          <a:solidFill>
                            <a:srgbClr val="0F172A"/>
                          </a:solidFill>
                          <a:latin typeface="Arial"/>
                        </a:defRPr>
                      </a:pPr>
                      <a:r>
                        <a:t>0.5604</a:t>
                      </a:r>
                    </a:p>
                  </a:txBody>
                  <a:tcPr marL="0" marR="0" marT="0" marB="0">
                    <a:solidFill>
                      <a:srgbClr val="FFFFFF"/>
                    </a:solidFill>
                  </a:tcPr>
                </a:tc>
                <a:tc>
                  <a:txBody>
                    <a:bodyPr/>
                    <a:lstStyle/>
                    <a:p>
                      <a:pPr>
                        <a:defRPr sz="650">
                          <a:solidFill>
                            <a:srgbClr val="0F172A"/>
                          </a:solidFill>
                          <a:latin typeface="Arial"/>
                        </a:defRPr>
                      </a:pPr>
                      <a:r>
                        <a:t>0.0481</a:t>
                      </a:r>
                    </a:p>
                  </a:txBody>
                  <a:tcPr marL="0" marR="0" marT="0" marB="0">
                    <a:solidFill>
                      <a:srgbClr val="FFFFFF"/>
                    </a:solidFill>
                  </a:tcPr>
                </a:tc>
              </a:tr>
              <a:tr h="210312">
                <a:tc>
                  <a:txBody>
                    <a:bodyPr/>
                    <a:lstStyle/>
                    <a:p>
                      <a:pPr>
                        <a:defRPr sz="650">
                          <a:solidFill>
                            <a:srgbClr val="0F172A"/>
                          </a:solidFill>
                          <a:latin typeface="Arial"/>
                        </a:defRPr>
                      </a:pPr>
                      <a:r>
                        <a:t>2</a:t>
                      </a:r>
                    </a:p>
                  </a:txBody>
                  <a:tcPr marL="0" marR="0" marT="0" marB="0">
                    <a:solidFill>
                      <a:srgbClr val="FFFFFF"/>
                    </a:solidFill>
                  </a:tcPr>
                </a:tc>
                <a:tc>
                  <a:txBody>
                    <a:bodyPr/>
                    <a:lstStyle/>
                    <a:p>
                      <a:pPr>
                        <a:defRPr sz="650">
                          <a:solidFill>
                            <a:srgbClr val="0F172A"/>
                          </a:solidFill>
                          <a:latin typeface="Arial"/>
                        </a:defRPr>
                      </a:pPr>
                      <a:r>
                        <a:t>0.5385</a:t>
                      </a:r>
                    </a:p>
                  </a:txBody>
                  <a:tcPr marL="0" marR="0" marT="0" marB="0">
                    <a:solidFill>
                      <a:srgbClr val="FFFFFF"/>
                    </a:solidFill>
                  </a:tcPr>
                </a:tc>
                <a:tc>
                  <a:txBody>
                    <a:bodyPr/>
                    <a:lstStyle/>
                    <a:p>
                      <a:pPr>
                        <a:defRPr sz="650">
                          <a:solidFill>
                            <a:srgbClr val="0F172A"/>
                          </a:solidFill>
                          <a:latin typeface="Arial"/>
                        </a:defRPr>
                      </a:pPr>
                      <a:r>
                        <a:t>0.2901</a:t>
                      </a:r>
                    </a:p>
                  </a:txBody>
                  <a:tcPr marL="0" marR="0" marT="0" marB="0">
                    <a:solidFill>
                      <a:srgbClr val="FFFFFF"/>
                    </a:solidFill>
                  </a:tcPr>
                </a:tc>
                <a:tc>
                  <a:txBody>
                    <a:bodyPr/>
                    <a:lstStyle/>
                    <a:p>
                      <a:pPr>
                        <a:defRPr sz="650">
                          <a:solidFill>
                            <a:srgbClr val="0F172A"/>
                          </a:solidFill>
                          <a:latin typeface="Arial"/>
                        </a:defRPr>
                      </a:pPr>
                      <a:r>
                        <a:t>0.3466</a:t>
                      </a:r>
                    </a:p>
                  </a:txBody>
                  <a:tcPr marL="0" marR="0" marT="0" marB="0">
                    <a:solidFill>
                      <a:srgbClr val="FFFFFF"/>
                    </a:solidFill>
                  </a:tcPr>
                </a:tc>
                <a:tc>
                  <a:txBody>
                    <a:bodyPr/>
                    <a:lstStyle/>
                    <a:p>
                      <a:pPr>
                        <a:defRPr sz="650">
                          <a:solidFill>
                            <a:srgbClr val="0F172A"/>
                          </a:solidFill>
                          <a:latin typeface="Arial"/>
                        </a:defRPr>
                      </a:pPr>
                      <a:r>
                        <a:t>0.5565</a:t>
                      </a:r>
                    </a:p>
                  </a:txBody>
                  <a:tcPr marL="0" marR="0" marT="0" marB="0">
                    <a:solidFill>
                      <a:srgbClr val="FFFFFF"/>
                    </a:solidFill>
                  </a:tcPr>
                </a:tc>
                <a:tc>
                  <a:txBody>
                    <a:bodyPr/>
                    <a:lstStyle/>
                    <a:p>
                      <a:pPr>
                        <a:defRPr sz="650">
                          <a:solidFill>
                            <a:srgbClr val="0F172A"/>
                          </a:solidFill>
                          <a:latin typeface="Arial"/>
                        </a:defRPr>
                      </a:pPr>
                      <a:r>
                        <a:t>0.0465</a:t>
                      </a:r>
                    </a:p>
                  </a:txBody>
                  <a:tcPr marL="0" marR="0" marT="0" marB="0">
                    <a:solidFill>
                      <a:srgbClr val="FFFFFF"/>
                    </a:solidFill>
                  </a:tcPr>
                </a:tc>
              </a:tr>
              <a:tr h="210312">
                <a:tc>
                  <a:txBody>
                    <a:bodyPr/>
                    <a:lstStyle/>
                    <a:p>
                      <a:pPr>
                        <a:defRPr sz="650">
                          <a:solidFill>
                            <a:srgbClr val="0F172A"/>
                          </a:solidFill>
                          <a:latin typeface="Arial"/>
                        </a:defRPr>
                      </a:pPr>
                      <a:r>
                        <a:t>3</a:t>
                      </a:r>
                    </a:p>
                  </a:txBody>
                  <a:tcPr marL="0" marR="0" marT="0" marB="0">
                    <a:solidFill>
                      <a:srgbClr val="FFFFFF"/>
                    </a:solidFill>
                  </a:tcPr>
                </a:tc>
                <a:tc>
                  <a:txBody>
                    <a:bodyPr/>
                    <a:lstStyle/>
                    <a:p>
                      <a:pPr>
                        <a:defRPr sz="650">
                          <a:solidFill>
                            <a:srgbClr val="0F172A"/>
                          </a:solidFill>
                          <a:latin typeface="Arial"/>
                        </a:defRPr>
                      </a:pPr>
                      <a:r>
                        <a:t>0.5398</a:t>
                      </a:r>
                    </a:p>
                  </a:txBody>
                  <a:tcPr marL="0" marR="0" marT="0" marB="0">
                    <a:solidFill>
                      <a:srgbClr val="FFFFFF"/>
                    </a:solidFill>
                  </a:tcPr>
                </a:tc>
                <a:tc>
                  <a:txBody>
                    <a:bodyPr/>
                    <a:lstStyle/>
                    <a:p>
                      <a:pPr>
                        <a:defRPr sz="650">
                          <a:solidFill>
                            <a:srgbClr val="0F172A"/>
                          </a:solidFill>
                          <a:latin typeface="Arial"/>
                        </a:defRPr>
                      </a:pPr>
                      <a:r>
                        <a:t>0.2914</a:t>
                      </a:r>
                    </a:p>
                  </a:txBody>
                  <a:tcPr marL="0" marR="0" marT="0" marB="0">
                    <a:solidFill>
                      <a:srgbClr val="FFFFFF"/>
                    </a:solidFill>
                  </a:tcPr>
                </a:tc>
                <a:tc>
                  <a:txBody>
                    <a:bodyPr/>
                    <a:lstStyle/>
                    <a:p>
                      <a:pPr>
                        <a:defRPr sz="650">
                          <a:solidFill>
                            <a:srgbClr val="0F172A"/>
                          </a:solidFill>
                          <a:latin typeface="Arial"/>
                        </a:defRPr>
                      </a:pPr>
                      <a:r>
                        <a:t>0.3471</a:t>
                      </a:r>
                    </a:p>
                  </a:txBody>
                  <a:tcPr marL="0" marR="0" marT="0" marB="0">
                    <a:solidFill>
                      <a:srgbClr val="FFFFFF"/>
                    </a:solidFill>
                  </a:tcPr>
                </a:tc>
                <a:tc>
                  <a:txBody>
                    <a:bodyPr/>
                    <a:lstStyle/>
                    <a:p>
                      <a:pPr>
                        <a:defRPr sz="650">
                          <a:solidFill>
                            <a:srgbClr val="0F172A"/>
                          </a:solidFill>
                          <a:latin typeface="Arial"/>
                        </a:defRPr>
                      </a:pPr>
                      <a:r>
                        <a:t>0.5681</a:t>
                      </a:r>
                    </a:p>
                  </a:txBody>
                  <a:tcPr marL="0" marR="0" marT="0" marB="0">
                    <a:solidFill>
                      <a:srgbClr val="FFFFFF"/>
                    </a:solidFill>
                  </a:tcPr>
                </a:tc>
                <a:tc>
                  <a:txBody>
                    <a:bodyPr/>
                    <a:lstStyle/>
                    <a:p>
                      <a:pPr>
                        <a:defRPr sz="650">
                          <a:solidFill>
                            <a:srgbClr val="0F172A"/>
                          </a:solidFill>
                          <a:latin typeface="Arial"/>
                        </a:defRPr>
                      </a:pPr>
                      <a:r>
                        <a:t>0.0313</a:t>
                      </a:r>
                    </a:p>
                  </a:txBody>
                  <a:tcPr marL="0" marR="0" marT="0" marB="0">
                    <a:solidFill>
                      <a:srgbClr val="FFFFFF"/>
                    </a:solidFill>
                  </a:tcPr>
                </a:tc>
              </a:tr>
              <a:tr h="210312">
                <a:tc>
                  <a:txBody>
                    <a:bodyPr/>
                    <a:lstStyle/>
                    <a:p>
                      <a:pPr>
                        <a:defRPr sz="650">
                          <a:solidFill>
                            <a:srgbClr val="0F172A"/>
                          </a:solidFill>
                          <a:latin typeface="Arial"/>
                        </a:defRPr>
                      </a:pPr>
                      <a:r>
                        <a:t>4</a:t>
                      </a:r>
                    </a:p>
                  </a:txBody>
                  <a:tcPr marL="0" marR="0" marT="0" marB="0">
                    <a:solidFill>
                      <a:srgbClr val="FFFFFF"/>
                    </a:solidFill>
                  </a:tcPr>
                </a:tc>
                <a:tc>
                  <a:txBody>
                    <a:bodyPr/>
                    <a:lstStyle/>
                    <a:p>
                      <a:pPr>
                        <a:defRPr sz="650">
                          <a:solidFill>
                            <a:srgbClr val="0F172A"/>
                          </a:solidFill>
                          <a:latin typeface="Arial"/>
                        </a:defRPr>
                      </a:pPr>
                      <a:r>
                        <a:t>0.5393</a:t>
                      </a:r>
                    </a:p>
                  </a:txBody>
                  <a:tcPr marL="0" marR="0" marT="0" marB="0">
                    <a:solidFill>
                      <a:srgbClr val="FFFFFF"/>
                    </a:solidFill>
                  </a:tcPr>
                </a:tc>
                <a:tc>
                  <a:txBody>
                    <a:bodyPr/>
                    <a:lstStyle/>
                    <a:p>
                      <a:pPr>
                        <a:defRPr sz="650">
                          <a:solidFill>
                            <a:srgbClr val="0F172A"/>
                          </a:solidFill>
                          <a:latin typeface="Arial"/>
                        </a:defRPr>
                      </a:pPr>
                      <a:r>
                        <a:t>0.2910</a:t>
                      </a:r>
                    </a:p>
                  </a:txBody>
                  <a:tcPr marL="0" marR="0" marT="0" marB="0">
                    <a:solidFill>
                      <a:srgbClr val="FFFFFF"/>
                    </a:solidFill>
                  </a:tcPr>
                </a:tc>
                <a:tc>
                  <a:txBody>
                    <a:bodyPr/>
                    <a:lstStyle/>
                    <a:p>
                      <a:pPr>
                        <a:defRPr sz="650">
                          <a:solidFill>
                            <a:srgbClr val="0F172A"/>
                          </a:solidFill>
                          <a:latin typeface="Arial"/>
                        </a:defRPr>
                      </a:pPr>
                      <a:r>
                        <a:t>0.3471</a:t>
                      </a:r>
                    </a:p>
                  </a:txBody>
                  <a:tcPr marL="0" marR="0" marT="0" marB="0">
                    <a:solidFill>
                      <a:srgbClr val="FFFFFF"/>
                    </a:solidFill>
                  </a:tcPr>
                </a:tc>
                <a:tc>
                  <a:txBody>
                    <a:bodyPr/>
                    <a:lstStyle/>
                    <a:p>
                      <a:pPr>
                        <a:defRPr sz="650">
                          <a:solidFill>
                            <a:srgbClr val="0F172A"/>
                          </a:solidFill>
                          <a:latin typeface="Arial"/>
                        </a:defRPr>
                      </a:pPr>
                      <a:r>
                        <a:t>0.5956</a:t>
                      </a:r>
                    </a:p>
                  </a:txBody>
                  <a:tcPr marL="0" marR="0" marT="0" marB="0">
                    <a:solidFill>
                      <a:srgbClr val="FFFFFF"/>
                    </a:solidFill>
                  </a:tcPr>
                </a:tc>
                <a:tc>
                  <a:txBody>
                    <a:bodyPr/>
                    <a:lstStyle/>
                    <a:p>
                      <a:pPr>
                        <a:defRPr sz="650">
                          <a:solidFill>
                            <a:srgbClr val="0F172A"/>
                          </a:solidFill>
                          <a:latin typeface="Arial"/>
                        </a:defRPr>
                      </a:pPr>
                      <a:r>
                        <a:t>0.0304</a:t>
                      </a:r>
                    </a:p>
                  </a:txBody>
                  <a:tcPr marL="0" marR="0" marT="0" marB="0">
                    <a:solidFill>
                      <a:srgbClr val="FFFFFF"/>
                    </a:solidFill>
                  </a:tcPr>
                </a:tc>
              </a:tr>
              <a:tr h="210312">
                <a:tc>
                  <a:txBody>
                    <a:bodyPr/>
                    <a:lstStyle/>
                    <a:p>
                      <a:pPr>
                        <a:defRPr sz="650">
                          <a:solidFill>
                            <a:srgbClr val="0F172A"/>
                          </a:solidFill>
                          <a:latin typeface="Arial"/>
                        </a:defRPr>
                      </a:pPr>
                      <a:r>
                        <a:t>5</a:t>
                      </a:r>
                    </a:p>
                  </a:txBody>
                  <a:tcPr marL="0" marR="0" marT="0" marB="0">
                    <a:solidFill>
                      <a:srgbClr val="FFFFFF"/>
                    </a:solidFill>
                  </a:tcPr>
                </a:tc>
                <a:tc>
                  <a:txBody>
                    <a:bodyPr/>
                    <a:lstStyle/>
                    <a:p>
                      <a:pPr>
                        <a:defRPr sz="650">
                          <a:solidFill>
                            <a:srgbClr val="0F172A"/>
                          </a:solidFill>
                          <a:latin typeface="Arial"/>
                        </a:defRPr>
                      </a:pPr>
                      <a:r>
                        <a:t>0.5390</a:t>
                      </a:r>
                    </a:p>
                  </a:txBody>
                  <a:tcPr marL="0" marR="0" marT="0" marB="0">
                    <a:solidFill>
                      <a:srgbClr val="FFFFFF"/>
                    </a:solidFill>
                  </a:tcPr>
                </a:tc>
                <a:tc>
                  <a:txBody>
                    <a:bodyPr/>
                    <a:lstStyle/>
                    <a:p>
                      <a:pPr>
                        <a:defRPr sz="650">
                          <a:solidFill>
                            <a:srgbClr val="0F172A"/>
                          </a:solidFill>
                          <a:latin typeface="Arial"/>
                        </a:defRPr>
                      </a:pPr>
                      <a:r>
                        <a:t>0.2906</a:t>
                      </a:r>
                    </a:p>
                  </a:txBody>
                  <a:tcPr marL="0" marR="0" marT="0" marB="0">
                    <a:solidFill>
                      <a:srgbClr val="FFFFFF"/>
                    </a:solidFill>
                  </a:tcPr>
                </a:tc>
                <a:tc>
                  <a:txBody>
                    <a:bodyPr/>
                    <a:lstStyle/>
                    <a:p>
                      <a:pPr>
                        <a:defRPr sz="650">
                          <a:solidFill>
                            <a:srgbClr val="0F172A"/>
                          </a:solidFill>
                          <a:latin typeface="Arial"/>
                        </a:defRPr>
                      </a:pPr>
                      <a:r>
                        <a:t>0.3466</a:t>
                      </a:r>
                    </a:p>
                  </a:txBody>
                  <a:tcPr marL="0" marR="0" marT="0" marB="0">
                    <a:solidFill>
                      <a:srgbClr val="FFFFFF"/>
                    </a:solidFill>
                  </a:tcPr>
                </a:tc>
                <a:tc>
                  <a:txBody>
                    <a:bodyPr/>
                    <a:lstStyle/>
                    <a:p>
                      <a:pPr>
                        <a:defRPr sz="650">
                          <a:solidFill>
                            <a:srgbClr val="0F172A"/>
                          </a:solidFill>
                          <a:latin typeface="Arial"/>
                        </a:defRPr>
                      </a:pPr>
                      <a:r>
                        <a:t>0.5899</a:t>
                      </a:r>
                    </a:p>
                  </a:txBody>
                  <a:tcPr marL="0" marR="0" marT="0" marB="0">
                    <a:solidFill>
                      <a:srgbClr val="FFFFFF"/>
                    </a:solidFill>
                  </a:tcPr>
                </a:tc>
                <a:tc>
                  <a:txBody>
                    <a:bodyPr/>
                    <a:lstStyle/>
                    <a:p>
                      <a:pPr>
                        <a:defRPr sz="650">
                          <a:solidFill>
                            <a:srgbClr val="0F172A"/>
                          </a:solidFill>
                          <a:latin typeface="Arial"/>
                        </a:defRPr>
                      </a:pPr>
                      <a:r>
                        <a:t>0.0313</a:t>
                      </a:r>
                    </a:p>
                  </a:txBody>
                  <a:tcPr marL="0" marR="0" marT="0" marB="0">
                    <a:solidFill>
                      <a:srgbClr val="FFFFFF"/>
                    </a:solidFill>
                  </a:tcPr>
                </a:tc>
              </a:tr>
              <a:tr h="210312">
                <a:tc>
                  <a:txBody>
                    <a:bodyPr/>
                    <a:lstStyle/>
                    <a:p>
                      <a:pPr>
                        <a:defRPr sz="650">
                          <a:solidFill>
                            <a:srgbClr val="0F172A"/>
                          </a:solidFill>
                          <a:latin typeface="Arial"/>
                        </a:defRPr>
                      </a:pPr>
                      <a:r>
                        <a:t>6</a:t>
                      </a:r>
                    </a:p>
                  </a:txBody>
                  <a:tcPr marL="0" marR="0" marT="0" marB="0">
                    <a:solidFill>
                      <a:srgbClr val="FFFFFF"/>
                    </a:solidFill>
                  </a:tcPr>
                </a:tc>
                <a:tc>
                  <a:txBody>
                    <a:bodyPr/>
                    <a:lstStyle/>
                    <a:p>
                      <a:pPr>
                        <a:defRPr sz="650">
                          <a:solidFill>
                            <a:srgbClr val="0F172A"/>
                          </a:solidFill>
                          <a:latin typeface="Arial"/>
                        </a:defRPr>
                      </a:pPr>
                      <a:r>
                        <a:t>0.5389</a:t>
                      </a:r>
                    </a:p>
                  </a:txBody>
                  <a:tcPr marL="0" marR="0" marT="0" marB="0">
                    <a:solidFill>
                      <a:srgbClr val="FFFFFF"/>
                    </a:solidFill>
                  </a:tcPr>
                </a:tc>
                <a:tc>
                  <a:txBody>
                    <a:bodyPr/>
                    <a:lstStyle/>
                    <a:p>
                      <a:pPr>
                        <a:defRPr sz="650">
                          <a:solidFill>
                            <a:srgbClr val="0F172A"/>
                          </a:solidFill>
                          <a:latin typeface="Arial"/>
                        </a:defRPr>
                      </a:pPr>
                      <a:r>
                        <a:t>0.2904</a:t>
                      </a:r>
                    </a:p>
                  </a:txBody>
                  <a:tcPr marL="0" marR="0" marT="0" marB="0">
                    <a:solidFill>
                      <a:srgbClr val="FFFFFF"/>
                    </a:solidFill>
                  </a:tcPr>
                </a:tc>
                <a:tc>
                  <a:txBody>
                    <a:bodyPr/>
                    <a:lstStyle/>
                    <a:p>
                      <a:pPr>
                        <a:defRPr sz="650">
                          <a:solidFill>
                            <a:srgbClr val="0F172A"/>
                          </a:solidFill>
                          <a:latin typeface="Arial"/>
                        </a:defRPr>
                      </a:pPr>
                      <a:r>
                        <a:t>0.3466</a:t>
                      </a:r>
                    </a:p>
                  </a:txBody>
                  <a:tcPr marL="0" marR="0" marT="0" marB="0">
                    <a:solidFill>
                      <a:srgbClr val="FFFFFF"/>
                    </a:solidFill>
                  </a:tcPr>
                </a:tc>
                <a:tc>
                  <a:txBody>
                    <a:bodyPr/>
                    <a:lstStyle/>
                    <a:p>
                      <a:pPr>
                        <a:defRPr sz="650">
                          <a:solidFill>
                            <a:srgbClr val="0F172A"/>
                          </a:solidFill>
                          <a:latin typeface="Arial"/>
                        </a:defRPr>
                      </a:pPr>
                      <a:r>
                        <a:t>0.6317</a:t>
                      </a:r>
                    </a:p>
                  </a:txBody>
                  <a:tcPr marL="0" marR="0" marT="0" marB="0">
                    <a:solidFill>
                      <a:srgbClr val="FFFFFF"/>
                    </a:solidFill>
                  </a:tcPr>
                </a:tc>
                <a:tc>
                  <a:txBody>
                    <a:bodyPr/>
                    <a:lstStyle/>
                    <a:p>
                      <a:pPr>
                        <a:defRPr sz="650">
                          <a:solidFill>
                            <a:srgbClr val="0F172A"/>
                          </a:solidFill>
                          <a:latin typeface="Arial"/>
                        </a:defRPr>
                      </a:pPr>
                      <a:r>
                        <a:t>0.0295</a:t>
                      </a:r>
                    </a:p>
                  </a:txBody>
                  <a:tcPr marL="0" marR="0" marT="0" marB="0">
                    <a:solidFill>
                      <a:srgbClr val="FFFFFF"/>
                    </a:solidFill>
                  </a:tcPr>
                </a:tc>
              </a:tr>
              <a:tr h="210312">
                <a:tc>
                  <a:txBody>
                    <a:bodyPr/>
                    <a:lstStyle/>
                    <a:p>
                      <a:pPr>
                        <a:defRPr sz="650">
                          <a:solidFill>
                            <a:srgbClr val="0F172A"/>
                          </a:solidFill>
                          <a:latin typeface="Arial"/>
                        </a:defRPr>
                      </a:pPr>
                      <a:r>
                        <a:t>7</a:t>
                      </a:r>
                    </a:p>
                  </a:txBody>
                  <a:tcPr marL="0" marR="0" marT="0" marB="0">
                    <a:solidFill>
                      <a:srgbClr val="FFFFFF"/>
                    </a:solidFill>
                  </a:tcPr>
                </a:tc>
                <a:tc>
                  <a:txBody>
                    <a:bodyPr/>
                    <a:lstStyle/>
                    <a:p>
                      <a:pPr>
                        <a:defRPr sz="650">
                          <a:solidFill>
                            <a:srgbClr val="0F172A"/>
                          </a:solidFill>
                          <a:latin typeface="Arial"/>
                        </a:defRPr>
                      </a:pPr>
                      <a:r>
                        <a:t>0.5397</a:t>
                      </a:r>
                    </a:p>
                  </a:txBody>
                  <a:tcPr marL="0" marR="0" marT="0" marB="0">
                    <a:solidFill>
                      <a:srgbClr val="FFFFFF"/>
                    </a:solidFill>
                  </a:tcPr>
                </a:tc>
                <a:tc>
                  <a:txBody>
                    <a:bodyPr/>
                    <a:lstStyle/>
                    <a:p>
                      <a:pPr>
                        <a:defRPr sz="650">
                          <a:solidFill>
                            <a:srgbClr val="0F172A"/>
                          </a:solidFill>
                          <a:latin typeface="Arial"/>
                        </a:defRPr>
                      </a:pPr>
                      <a:r>
                        <a:t>0.2914</a:t>
                      </a:r>
                    </a:p>
                  </a:txBody>
                  <a:tcPr marL="0" marR="0" marT="0" marB="0">
                    <a:solidFill>
                      <a:srgbClr val="FFFFFF"/>
                    </a:solidFill>
                  </a:tcPr>
                </a:tc>
                <a:tc>
                  <a:txBody>
                    <a:bodyPr/>
                    <a:lstStyle/>
                    <a:p>
                      <a:pPr>
                        <a:defRPr sz="650">
                          <a:solidFill>
                            <a:srgbClr val="0F172A"/>
                          </a:solidFill>
                          <a:latin typeface="Arial"/>
                        </a:defRPr>
                      </a:pPr>
                      <a:r>
                        <a:t>0.3469</a:t>
                      </a:r>
                    </a:p>
                  </a:txBody>
                  <a:tcPr marL="0" marR="0" marT="0" marB="0">
                    <a:solidFill>
                      <a:srgbClr val="FFFFFF"/>
                    </a:solidFill>
                  </a:tcPr>
                </a:tc>
                <a:tc>
                  <a:txBody>
                    <a:bodyPr/>
                    <a:lstStyle/>
                    <a:p>
                      <a:pPr>
                        <a:defRPr sz="650">
                          <a:solidFill>
                            <a:srgbClr val="0F172A"/>
                          </a:solidFill>
                          <a:latin typeface="Arial"/>
                        </a:defRPr>
                      </a:pPr>
                      <a:r>
                        <a:t>0.6759</a:t>
                      </a:r>
                    </a:p>
                  </a:txBody>
                  <a:tcPr marL="0" marR="0" marT="0" marB="0">
                    <a:solidFill>
                      <a:srgbClr val="FFFFFF"/>
                    </a:solidFill>
                  </a:tcPr>
                </a:tc>
                <a:tc>
                  <a:txBody>
                    <a:bodyPr/>
                    <a:lstStyle/>
                    <a:p>
                      <a:pPr>
                        <a:defRPr sz="650">
                          <a:solidFill>
                            <a:srgbClr val="0F172A"/>
                          </a:solidFill>
                          <a:latin typeface="Arial"/>
                        </a:defRPr>
                      </a:pPr>
                      <a:r>
                        <a:t>0.0307</a:t>
                      </a:r>
                    </a:p>
                  </a:txBody>
                  <a:tcPr marL="0" marR="0" marT="0" marB="0">
                    <a:solidFill>
                      <a:srgbClr val="FFFFFF"/>
                    </a:solidFill>
                  </a:tcPr>
                </a:tc>
              </a:tr>
              <a:tr h="210312">
                <a:tc>
                  <a:txBody>
                    <a:bodyPr/>
                    <a:lstStyle/>
                    <a:p>
                      <a:pPr>
                        <a:defRPr sz="650">
                          <a:solidFill>
                            <a:srgbClr val="0F172A"/>
                          </a:solidFill>
                          <a:latin typeface="Arial"/>
                        </a:defRPr>
                      </a:pPr>
                      <a:r>
                        <a:t>8</a:t>
                      </a:r>
                    </a:p>
                  </a:txBody>
                  <a:tcPr marL="0" marR="0" marT="0" marB="0">
                    <a:solidFill>
                      <a:srgbClr val="FFFFFF"/>
                    </a:solidFill>
                  </a:tcPr>
                </a:tc>
                <a:tc>
                  <a:txBody>
                    <a:bodyPr/>
                    <a:lstStyle/>
                    <a:p>
                      <a:pPr>
                        <a:defRPr sz="650">
                          <a:solidFill>
                            <a:srgbClr val="0F172A"/>
                          </a:solidFill>
                          <a:latin typeface="Arial"/>
                        </a:defRPr>
                      </a:pPr>
                      <a:r>
                        <a:t>0.5385</a:t>
                      </a:r>
                    </a:p>
                  </a:txBody>
                  <a:tcPr marL="0" marR="0" marT="0" marB="0">
                    <a:solidFill>
                      <a:srgbClr val="FFFFFF"/>
                    </a:solidFill>
                  </a:tcPr>
                </a:tc>
                <a:tc>
                  <a:txBody>
                    <a:bodyPr/>
                    <a:lstStyle/>
                    <a:p>
                      <a:pPr>
                        <a:defRPr sz="650">
                          <a:solidFill>
                            <a:srgbClr val="0F172A"/>
                          </a:solidFill>
                          <a:latin typeface="Arial"/>
                        </a:defRPr>
                      </a:pPr>
                      <a:r>
                        <a:t>0.2900</a:t>
                      </a:r>
                    </a:p>
                  </a:txBody>
                  <a:tcPr marL="0" marR="0" marT="0" marB="0">
                    <a:solidFill>
                      <a:srgbClr val="FFFFFF"/>
                    </a:solidFill>
                  </a:tcPr>
                </a:tc>
                <a:tc>
                  <a:txBody>
                    <a:bodyPr/>
                    <a:lstStyle/>
                    <a:p>
                      <a:pPr>
                        <a:defRPr sz="650">
                          <a:solidFill>
                            <a:srgbClr val="0F172A"/>
                          </a:solidFill>
                          <a:latin typeface="Arial"/>
                        </a:defRPr>
                      </a:pPr>
                      <a:r>
                        <a:t>0.3465</a:t>
                      </a:r>
                    </a:p>
                  </a:txBody>
                  <a:tcPr marL="0" marR="0" marT="0" marB="0">
                    <a:solidFill>
                      <a:srgbClr val="FFFFFF"/>
                    </a:solidFill>
                  </a:tcPr>
                </a:tc>
                <a:tc>
                  <a:txBody>
                    <a:bodyPr/>
                    <a:lstStyle/>
                    <a:p>
                      <a:pPr>
                        <a:defRPr sz="650">
                          <a:solidFill>
                            <a:srgbClr val="0F172A"/>
                          </a:solidFill>
                          <a:latin typeface="Arial"/>
                        </a:defRPr>
                      </a:pPr>
                      <a:r>
                        <a:t>0.6608</a:t>
                      </a:r>
                    </a:p>
                  </a:txBody>
                  <a:tcPr marL="0" marR="0" marT="0" marB="0">
                    <a:solidFill>
                      <a:srgbClr val="FFFFFF"/>
                    </a:solidFill>
                  </a:tcPr>
                </a:tc>
                <a:tc>
                  <a:txBody>
                    <a:bodyPr/>
                    <a:lstStyle/>
                    <a:p>
                      <a:pPr>
                        <a:defRPr sz="650">
                          <a:solidFill>
                            <a:srgbClr val="0F172A"/>
                          </a:solidFill>
                          <a:latin typeface="Arial"/>
                        </a:defRPr>
                      </a:pPr>
                      <a:r>
                        <a:t>0.0320</a:t>
                      </a:r>
                    </a:p>
                  </a:txBody>
                  <a:tcPr marL="0" marR="0" marT="0" marB="0">
                    <a:solidFill>
                      <a:srgbClr val="FFFFFF"/>
                    </a:solidFill>
                  </a:tcPr>
                </a:tc>
              </a:tr>
              <a:tr h="210312">
                <a:tc>
                  <a:txBody>
                    <a:bodyPr/>
                    <a:lstStyle/>
                    <a:p>
                      <a:pPr>
                        <a:defRPr sz="650">
                          <a:solidFill>
                            <a:srgbClr val="0F172A"/>
                          </a:solidFill>
                          <a:latin typeface="Arial"/>
                        </a:defRPr>
                      </a:pPr>
                      <a:r>
                        <a:t>9</a:t>
                      </a:r>
                    </a:p>
                  </a:txBody>
                  <a:tcPr marL="0" marR="0" marT="0" marB="0">
                    <a:solidFill>
                      <a:srgbClr val="E0F2FE"/>
                    </a:solidFill>
                  </a:tcPr>
                </a:tc>
                <a:tc>
                  <a:txBody>
                    <a:bodyPr/>
                    <a:lstStyle/>
                    <a:p>
                      <a:pPr>
                        <a:defRPr sz="650">
                          <a:solidFill>
                            <a:srgbClr val="0F172A"/>
                          </a:solidFill>
                          <a:latin typeface="Arial"/>
                        </a:defRPr>
                      </a:pPr>
                      <a:r>
                        <a:t>0.5387</a:t>
                      </a:r>
                    </a:p>
                  </a:txBody>
                  <a:tcPr marL="0" marR="0" marT="0" marB="0">
                    <a:solidFill>
                      <a:srgbClr val="E0F2FE"/>
                    </a:solidFill>
                  </a:tcPr>
                </a:tc>
                <a:tc>
                  <a:txBody>
                    <a:bodyPr/>
                    <a:lstStyle/>
                    <a:p>
                      <a:pPr>
                        <a:defRPr sz="650">
                          <a:solidFill>
                            <a:srgbClr val="0F172A"/>
                          </a:solidFill>
                          <a:latin typeface="Arial"/>
                        </a:defRPr>
                      </a:pPr>
                      <a:r>
                        <a:t>0.2903</a:t>
                      </a:r>
                    </a:p>
                  </a:txBody>
                  <a:tcPr marL="0" marR="0" marT="0" marB="0">
                    <a:solidFill>
                      <a:srgbClr val="E0F2FE"/>
                    </a:solidFill>
                  </a:tcPr>
                </a:tc>
                <a:tc>
                  <a:txBody>
                    <a:bodyPr/>
                    <a:lstStyle/>
                    <a:p>
                      <a:pPr>
                        <a:defRPr sz="650">
                          <a:solidFill>
                            <a:srgbClr val="0F172A"/>
                          </a:solidFill>
                          <a:latin typeface="Arial"/>
                        </a:defRPr>
                      </a:pPr>
                      <a:r>
                        <a:t>0.3462</a:t>
                      </a:r>
                    </a:p>
                  </a:txBody>
                  <a:tcPr marL="0" marR="0" marT="0" marB="0">
                    <a:solidFill>
                      <a:srgbClr val="E0F2FE"/>
                    </a:solidFill>
                  </a:tcPr>
                </a:tc>
                <a:tc>
                  <a:txBody>
                    <a:bodyPr/>
                    <a:lstStyle/>
                    <a:p>
                      <a:pPr>
                        <a:defRPr sz="650">
                          <a:solidFill>
                            <a:srgbClr val="0F172A"/>
                          </a:solidFill>
                          <a:latin typeface="Arial"/>
                        </a:defRPr>
                      </a:pPr>
                      <a:r>
                        <a:t>0.6721</a:t>
                      </a:r>
                    </a:p>
                  </a:txBody>
                  <a:tcPr marL="0" marR="0" marT="0" marB="0">
                    <a:solidFill>
                      <a:srgbClr val="E0F2FE"/>
                    </a:solidFill>
                  </a:tcPr>
                </a:tc>
                <a:tc>
                  <a:txBody>
                    <a:bodyPr/>
                    <a:lstStyle/>
                    <a:p>
                      <a:pPr>
                        <a:defRPr sz="650">
                          <a:solidFill>
                            <a:srgbClr val="0F172A"/>
                          </a:solidFill>
                          <a:latin typeface="Arial"/>
                        </a:defRPr>
                      </a:pPr>
                      <a:r>
                        <a:t>0.0426</a:t>
                      </a:r>
                    </a:p>
                  </a:txBody>
                  <a:tcPr marL="0" marR="0" marT="0" marB="0">
                    <a:solidFill>
                      <a:srgbClr val="E0F2FE"/>
                    </a:solidFill>
                  </a:tcPr>
                </a:tc>
              </a:tr>
            </a:tbl>
          </a:graphicData>
        </a:graphic>
      </p:graphicFrame>
      <p:graphicFrame>
        <p:nvGraphicFramePr>
          <p:cNvPr id="12" name="Table 11"/>
          <p:cNvGraphicFramePr>
            <a:graphicFrameLocks noGrp="1"/>
          </p:cNvGraphicFramePr>
          <p:nvPr/>
        </p:nvGraphicFramePr>
        <p:xfrm>
          <a:off x="3931920" y="4206240"/>
          <a:ext cx="3291840" cy="2103120"/>
        </p:xfrm>
        <a:graphic>
          <a:graphicData uri="http://schemas.openxmlformats.org/drawingml/2006/table">
            <a:tbl>
              <a:tblPr firstRow="1" bandRow="1">
                <a:tableStyleId>{5C22544A-7EE6-4342-B048-85BDC9FD1C3A}</a:tableStyleId>
              </a:tblPr>
              <a:tblGrid>
                <a:gridCol w="594360"/>
                <a:gridCol w="512064"/>
                <a:gridCol w="493776"/>
                <a:gridCol w="493776"/>
                <a:gridCol w="594360"/>
                <a:gridCol w="603504"/>
              </a:tblGrid>
              <a:tr h="210312">
                <a:tc>
                  <a:txBody>
                    <a:bodyPr/>
                    <a:lstStyle/>
                    <a:p>
                      <a:pPr>
                        <a:defRPr sz="600" b="1">
                          <a:solidFill>
                            <a:srgbClr val="0F172A"/>
                          </a:solidFill>
                          <a:latin typeface="Arial"/>
                        </a:defRPr>
                      </a:pPr>
                      <a:r>
                        <a:t>cluster size</a:t>
                      </a:r>
                    </a:p>
                  </a:txBody>
                  <a:tcPr marL="0" marR="0" marT="0" marB="0">
                    <a:solidFill>
                      <a:srgbClr val="F8FAFC"/>
                    </a:solidFill>
                  </a:tcPr>
                </a:tc>
                <a:tc>
                  <a:txBody>
                    <a:bodyPr/>
                    <a:lstStyle/>
                    <a:p>
                      <a:pPr>
                        <a:defRPr sz="600" b="1">
                          <a:solidFill>
                            <a:srgbClr val="0F172A"/>
                          </a:solidFill>
                          <a:latin typeface="Arial"/>
                        </a:defRPr>
                      </a:pPr>
                      <a:r>
                        <a:t>RMSE</a:t>
                      </a:r>
                    </a:p>
                  </a:txBody>
                  <a:tcPr marL="0" marR="0" marT="0" marB="0">
                    <a:solidFill>
                      <a:srgbClr val="F8FAFC"/>
                    </a:solidFill>
                  </a:tcPr>
                </a:tc>
                <a:tc>
                  <a:txBody>
                    <a:bodyPr/>
                    <a:lstStyle/>
                    <a:p>
                      <a:pPr>
                        <a:defRPr sz="600" b="1">
                          <a:solidFill>
                            <a:srgbClr val="0F172A"/>
                          </a:solidFill>
                          <a:latin typeface="Arial"/>
                        </a:defRPr>
                      </a:pPr>
                      <a:r>
                        <a:t>MSE</a:t>
                      </a:r>
                    </a:p>
                  </a:txBody>
                  <a:tcPr marL="0" marR="0" marT="0" marB="0">
                    <a:solidFill>
                      <a:srgbClr val="F8FAFC"/>
                    </a:solidFill>
                  </a:tcPr>
                </a:tc>
                <a:tc>
                  <a:txBody>
                    <a:bodyPr/>
                    <a:lstStyle/>
                    <a:p>
                      <a:pPr>
                        <a:defRPr sz="600" b="1">
                          <a:solidFill>
                            <a:srgbClr val="0F172A"/>
                          </a:solidFill>
                          <a:latin typeface="Arial"/>
                        </a:defRPr>
                      </a:pPr>
                      <a:r>
                        <a:t>MAE</a:t>
                      </a:r>
                    </a:p>
                  </a:txBody>
                  <a:tcPr marL="0" marR="0" marT="0" marB="0">
                    <a:solidFill>
                      <a:srgbClr val="F8FAFC"/>
                    </a:solidFill>
                  </a:tcPr>
                </a:tc>
                <a:tc>
                  <a:txBody>
                    <a:bodyPr/>
                    <a:lstStyle/>
                    <a:p>
                      <a:pPr>
                        <a:defRPr sz="600" b="1">
                          <a:solidFill>
                            <a:srgbClr val="0F172A"/>
                          </a:solidFill>
                          <a:latin typeface="Arial"/>
                        </a:defRPr>
                      </a:pPr>
                      <a:r>
                        <a:t>Fit Time</a:t>
                      </a:r>
                    </a:p>
                  </a:txBody>
                  <a:tcPr marL="0" marR="0" marT="0" marB="0">
                    <a:solidFill>
                      <a:srgbClr val="F8FAFC"/>
                    </a:solidFill>
                  </a:tcPr>
                </a:tc>
                <a:tc>
                  <a:txBody>
                    <a:bodyPr/>
                    <a:lstStyle/>
                    <a:p>
                      <a:pPr>
                        <a:defRPr sz="600" b="1">
                          <a:solidFill>
                            <a:srgbClr val="0F172A"/>
                          </a:solidFill>
                          <a:latin typeface="Arial"/>
                        </a:defRPr>
                      </a:pPr>
                      <a:r>
                        <a:t>Test Time</a:t>
                      </a:r>
                    </a:p>
                  </a:txBody>
                  <a:tcPr marL="0" marR="0" marT="0" marB="0">
                    <a:solidFill>
                      <a:srgbClr val="F8FAFC"/>
                    </a:solidFill>
                  </a:tcPr>
                </a:tc>
              </a:tr>
              <a:tr h="210312">
                <a:tc>
                  <a:txBody>
                    <a:bodyPr/>
                    <a:lstStyle/>
                    <a:p>
                      <a:pPr>
                        <a:defRPr sz="650">
                          <a:solidFill>
                            <a:srgbClr val="0F172A"/>
                          </a:solidFill>
                          <a:latin typeface="Arial"/>
                        </a:defRPr>
                      </a:pPr>
                      <a:r>
                        <a:t>2</a:t>
                      </a:r>
                    </a:p>
                  </a:txBody>
                  <a:tcPr marL="0" marR="0" marT="0" marB="0">
                    <a:solidFill>
                      <a:srgbClr val="FFFFFF"/>
                    </a:solidFill>
                  </a:tcPr>
                </a:tc>
                <a:tc>
                  <a:txBody>
                    <a:bodyPr/>
                    <a:lstStyle/>
                    <a:p>
                      <a:pPr>
                        <a:defRPr sz="650">
                          <a:solidFill>
                            <a:srgbClr val="0F172A"/>
                          </a:solidFill>
                          <a:latin typeface="Arial"/>
                        </a:defRPr>
                      </a:pPr>
                      <a:r>
                        <a:t>0.5386</a:t>
                      </a:r>
                    </a:p>
                  </a:txBody>
                  <a:tcPr marL="0" marR="0" marT="0" marB="0">
                    <a:solidFill>
                      <a:srgbClr val="FFFFFF"/>
                    </a:solidFill>
                  </a:tcPr>
                </a:tc>
                <a:tc>
                  <a:txBody>
                    <a:bodyPr/>
                    <a:lstStyle/>
                    <a:p>
                      <a:pPr>
                        <a:defRPr sz="650">
                          <a:solidFill>
                            <a:srgbClr val="0F172A"/>
                          </a:solidFill>
                          <a:latin typeface="Arial"/>
                        </a:defRPr>
                      </a:pPr>
                      <a:r>
                        <a:t>0.2902</a:t>
                      </a:r>
                    </a:p>
                  </a:txBody>
                  <a:tcPr marL="0" marR="0" marT="0" marB="0">
                    <a:solidFill>
                      <a:srgbClr val="FFFFFF"/>
                    </a:solidFill>
                  </a:tcPr>
                </a:tc>
                <a:tc>
                  <a:txBody>
                    <a:bodyPr/>
                    <a:lstStyle/>
                    <a:p>
                      <a:pPr>
                        <a:defRPr sz="650">
                          <a:solidFill>
                            <a:srgbClr val="0F172A"/>
                          </a:solidFill>
                          <a:latin typeface="Arial"/>
                        </a:defRPr>
                      </a:pPr>
                      <a:r>
                        <a:t>0.3464</a:t>
                      </a:r>
                    </a:p>
                  </a:txBody>
                  <a:tcPr marL="0" marR="0" marT="0" marB="0">
                    <a:solidFill>
                      <a:srgbClr val="FFFFFF"/>
                    </a:solidFill>
                  </a:tcPr>
                </a:tc>
                <a:tc>
                  <a:txBody>
                    <a:bodyPr/>
                    <a:lstStyle/>
                    <a:p>
                      <a:pPr>
                        <a:defRPr sz="650">
                          <a:solidFill>
                            <a:srgbClr val="0F172A"/>
                          </a:solidFill>
                          <a:latin typeface="Arial"/>
                        </a:defRPr>
                      </a:pPr>
                      <a:r>
                        <a:t>0.5592</a:t>
                      </a:r>
                    </a:p>
                  </a:txBody>
                  <a:tcPr marL="0" marR="0" marT="0" marB="0">
                    <a:solidFill>
                      <a:srgbClr val="FFFFFF"/>
                    </a:solidFill>
                  </a:tcPr>
                </a:tc>
                <a:tc>
                  <a:txBody>
                    <a:bodyPr/>
                    <a:lstStyle/>
                    <a:p>
                      <a:pPr>
                        <a:defRPr sz="650">
                          <a:solidFill>
                            <a:srgbClr val="0F172A"/>
                          </a:solidFill>
                          <a:latin typeface="Arial"/>
                        </a:defRPr>
                      </a:pPr>
                      <a:r>
                        <a:t>0.5592</a:t>
                      </a:r>
                    </a:p>
                  </a:txBody>
                  <a:tcPr marL="0" marR="0" marT="0" marB="0">
                    <a:solidFill>
                      <a:srgbClr val="FFFFFF"/>
                    </a:solidFill>
                  </a:tcPr>
                </a:tc>
              </a:tr>
              <a:tr h="210312">
                <a:tc>
                  <a:txBody>
                    <a:bodyPr/>
                    <a:lstStyle/>
                    <a:p>
                      <a:pPr>
                        <a:defRPr sz="650">
                          <a:solidFill>
                            <a:srgbClr val="0F172A"/>
                          </a:solidFill>
                          <a:latin typeface="Arial"/>
                        </a:defRPr>
                      </a:pPr>
                      <a:r>
                        <a:t>3</a:t>
                      </a:r>
                    </a:p>
                  </a:txBody>
                  <a:tcPr marL="0" marR="0" marT="0" marB="0">
                    <a:solidFill>
                      <a:srgbClr val="FFFFFF"/>
                    </a:solidFill>
                  </a:tcPr>
                </a:tc>
                <a:tc>
                  <a:txBody>
                    <a:bodyPr/>
                    <a:lstStyle/>
                    <a:p>
                      <a:pPr>
                        <a:defRPr sz="650">
                          <a:solidFill>
                            <a:srgbClr val="0F172A"/>
                          </a:solidFill>
                          <a:latin typeface="Arial"/>
                        </a:defRPr>
                      </a:pPr>
                      <a:r>
                        <a:t>0.5385</a:t>
                      </a:r>
                    </a:p>
                  </a:txBody>
                  <a:tcPr marL="0" marR="0" marT="0" marB="0">
                    <a:solidFill>
                      <a:srgbClr val="FFFFFF"/>
                    </a:solidFill>
                  </a:tcPr>
                </a:tc>
                <a:tc>
                  <a:txBody>
                    <a:bodyPr/>
                    <a:lstStyle/>
                    <a:p>
                      <a:pPr>
                        <a:defRPr sz="650">
                          <a:solidFill>
                            <a:srgbClr val="0F172A"/>
                          </a:solidFill>
                          <a:latin typeface="Arial"/>
                        </a:defRPr>
                      </a:pPr>
                      <a:r>
                        <a:t>0.2900</a:t>
                      </a:r>
                    </a:p>
                  </a:txBody>
                  <a:tcPr marL="0" marR="0" marT="0" marB="0">
                    <a:solidFill>
                      <a:srgbClr val="FFFFFF"/>
                    </a:solidFill>
                  </a:tcPr>
                </a:tc>
                <a:tc>
                  <a:txBody>
                    <a:bodyPr/>
                    <a:lstStyle/>
                    <a:p>
                      <a:pPr>
                        <a:defRPr sz="650">
                          <a:solidFill>
                            <a:srgbClr val="0F172A"/>
                          </a:solidFill>
                          <a:latin typeface="Arial"/>
                        </a:defRPr>
                      </a:pPr>
                      <a:r>
                        <a:t>0.3466</a:t>
                      </a:r>
                    </a:p>
                  </a:txBody>
                  <a:tcPr marL="0" marR="0" marT="0" marB="0">
                    <a:solidFill>
                      <a:srgbClr val="FFFFFF"/>
                    </a:solidFill>
                  </a:tcPr>
                </a:tc>
                <a:tc>
                  <a:txBody>
                    <a:bodyPr/>
                    <a:lstStyle/>
                    <a:p>
                      <a:pPr>
                        <a:defRPr sz="650">
                          <a:solidFill>
                            <a:srgbClr val="0F172A"/>
                          </a:solidFill>
                          <a:latin typeface="Arial"/>
                        </a:defRPr>
                      </a:pPr>
                      <a:r>
                        <a:t>0.5828</a:t>
                      </a:r>
                    </a:p>
                  </a:txBody>
                  <a:tcPr marL="0" marR="0" marT="0" marB="0">
                    <a:solidFill>
                      <a:srgbClr val="FFFFFF"/>
                    </a:solidFill>
                  </a:tcPr>
                </a:tc>
                <a:tc>
                  <a:txBody>
                    <a:bodyPr/>
                    <a:lstStyle/>
                    <a:p>
                      <a:pPr>
                        <a:defRPr sz="650">
                          <a:solidFill>
                            <a:srgbClr val="0F172A"/>
                          </a:solidFill>
                          <a:latin typeface="Arial"/>
                        </a:defRPr>
                      </a:pPr>
                      <a:r>
                        <a:t>0.5828</a:t>
                      </a:r>
                    </a:p>
                  </a:txBody>
                  <a:tcPr marL="0" marR="0" marT="0" marB="0">
                    <a:solidFill>
                      <a:srgbClr val="FFFFFF"/>
                    </a:solidFill>
                  </a:tcPr>
                </a:tc>
              </a:tr>
              <a:tr h="210312">
                <a:tc>
                  <a:txBody>
                    <a:bodyPr/>
                    <a:lstStyle/>
                    <a:p>
                      <a:pPr>
                        <a:defRPr sz="650">
                          <a:solidFill>
                            <a:srgbClr val="0F172A"/>
                          </a:solidFill>
                          <a:latin typeface="Arial"/>
                        </a:defRPr>
                      </a:pPr>
                      <a:r>
                        <a:t>4</a:t>
                      </a:r>
                    </a:p>
                  </a:txBody>
                  <a:tcPr marL="0" marR="0" marT="0" marB="0">
                    <a:solidFill>
                      <a:srgbClr val="FFFFFF"/>
                    </a:solidFill>
                  </a:tcPr>
                </a:tc>
                <a:tc>
                  <a:txBody>
                    <a:bodyPr/>
                    <a:lstStyle/>
                    <a:p>
                      <a:pPr>
                        <a:defRPr sz="650">
                          <a:solidFill>
                            <a:srgbClr val="0F172A"/>
                          </a:solidFill>
                          <a:latin typeface="Arial"/>
                        </a:defRPr>
                      </a:pPr>
                      <a:r>
                        <a:t>0.5393</a:t>
                      </a:r>
                    </a:p>
                  </a:txBody>
                  <a:tcPr marL="0" marR="0" marT="0" marB="0">
                    <a:solidFill>
                      <a:srgbClr val="FFFFFF"/>
                    </a:solidFill>
                  </a:tcPr>
                </a:tc>
                <a:tc>
                  <a:txBody>
                    <a:bodyPr/>
                    <a:lstStyle/>
                    <a:p>
                      <a:pPr>
                        <a:defRPr sz="650">
                          <a:solidFill>
                            <a:srgbClr val="0F172A"/>
                          </a:solidFill>
                          <a:latin typeface="Arial"/>
                        </a:defRPr>
                      </a:pPr>
                      <a:r>
                        <a:t>0.2909</a:t>
                      </a:r>
                    </a:p>
                  </a:txBody>
                  <a:tcPr marL="0" marR="0" marT="0" marB="0">
                    <a:solidFill>
                      <a:srgbClr val="FFFFFF"/>
                    </a:solidFill>
                  </a:tcPr>
                </a:tc>
                <a:tc>
                  <a:txBody>
                    <a:bodyPr/>
                    <a:lstStyle/>
                    <a:p>
                      <a:pPr>
                        <a:defRPr sz="650">
                          <a:solidFill>
                            <a:srgbClr val="0F172A"/>
                          </a:solidFill>
                          <a:latin typeface="Arial"/>
                        </a:defRPr>
                      </a:pPr>
                      <a:r>
                        <a:t>0.3466</a:t>
                      </a:r>
                    </a:p>
                  </a:txBody>
                  <a:tcPr marL="0" marR="0" marT="0" marB="0">
                    <a:solidFill>
                      <a:srgbClr val="FFFFFF"/>
                    </a:solidFill>
                  </a:tcPr>
                </a:tc>
                <a:tc>
                  <a:txBody>
                    <a:bodyPr/>
                    <a:lstStyle/>
                    <a:p>
                      <a:pPr>
                        <a:defRPr sz="650">
                          <a:solidFill>
                            <a:srgbClr val="0F172A"/>
                          </a:solidFill>
                          <a:latin typeface="Arial"/>
                        </a:defRPr>
                      </a:pPr>
                      <a:r>
                        <a:t>0.5877</a:t>
                      </a:r>
                    </a:p>
                  </a:txBody>
                  <a:tcPr marL="0" marR="0" marT="0" marB="0">
                    <a:solidFill>
                      <a:srgbClr val="FFFFFF"/>
                    </a:solidFill>
                  </a:tcPr>
                </a:tc>
                <a:tc>
                  <a:txBody>
                    <a:bodyPr/>
                    <a:lstStyle/>
                    <a:p>
                      <a:pPr>
                        <a:defRPr sz="650">
                          <a:solidFill>
                            <a:srgbClr val="0F172A"/>
                          </a:solidFill>
                          <a:latin typeface="Arial"/>
                        </a:defRPr>
                      </a:pPr>
                      <a:r>
                        <a:t>0.5877</a:t>
                      </a:r>
                    </a:p>
                  </a:txBody>
                  <a:tcPr marL="0" marR="0" marT="0" marB="0">
                    <a:solidFill>
                      <a:srgbClr val="FFFFFF"/>
                    </a:solidFill>
                  </a:tcPr>
                </a:tc>
              </a:tr>
              <a:tr h="210312">
                <a:tc>
                  <a:txBody>
                    <a:bodyPr/>
                    <a:lstStyle/>
                    <a:p>
                      <a:pPr>
                        <a:defRPr sz="650">
                          <a:solidFill>
                            <a:srgbClr val="0F172A"/>
                          </a:solidFill>
                          <a:latin typeface="Arial"/>
                        </a:defRPr>
                      </a:pPr>
                      <a:r>
                        <a:t>5</a:t>
                      </a:r>
                    </a:p>
                  </a:txBody>
                  <a:tcPr marL="0" marR="0" marT="0" marB="0">
                    <a:solidFill>
                      <a:srgbClr val="E0F2FE"/>
                    </a:solidFill>
                  </a:tcPr>
                </a:tc>
                <a:tc>
                  <a:txBody>
                    <a:bodyPr/>
                    <a:lstStyle/>
                    <a:p>
                      <a:pPr>
                        <a:defRPr sz="650">
                          <a:solidFill>
                            <a:srgbClr val="0F172A"/>
                          </a:solidFill>
                          <a:latin typeface="Arial"/>
                        </a:defRPr>
                      </a:pPr>
                      <a:r>
                        <a:t>0.5394</a:t>
                      </a:r>
                    </a:p>
                  </a:txBody>
                  <a:tcPr marL="0" marR="0" marT="0" marB="0">
                    <a:solidFill>
                      <a:srgbClr val="E0F2FE"/>
                    </a:solidFill>
                  </a:tcPr>
                </a:tc>
                <a:tc>
                  <a:txBody>
                    <a:bodyPr/>
                    <a:lstStyle/>
                    <a:p>
                      <a:pPr>
                        <a:defRPr sz="650">
                          <a:solidFill>
                            <a:srgbClr val="0F172A"/>
                          </a:solidFill>
                          <a:latin typeface="Arial"/>
                        </a:defRPr>
                      </a:pPr>
                      <a:r>
                        <a:t>0.2909</a:t>
                      </a:r>
                    </a:p>
                  </a:txBody>
                  <a:tcPr marL="0" marR="0" marT="0" marB="0">
                    <a:solidFill>
                      <a:srgbClr val="E0F2FE"/>
                    </a:solidFill>
                  </a:tcPr>
                </a:tc>
                <a:tc>
                  <a:txBody>
                    <a:bodyPr/>
                    <a:lstStyle/>
                    <a:p>
                      <a:pPr>
                        <a:defRPr sz="650">
                          <a:solidFill>
                            <a:srgbClr val="0F172A"/>
                          </a:solidFill>
                          <a:latin typeface="Arial"/>
                        </a:defRPr>
                      </a:pPr>
                      <a:r>
                        <a:t>0.3463</a:t>
                      </a:r>
                    </a:p>
                  </a:txBody>
                  <a:tcPr marL="0" marR="0" marT="0" marB="0">
                    <a:solidFill>
                      <a:srgbClr val="E0F2FE"/>
                    </a:solidFill>
                  </a:tcPr>
                </a:tc>
                <a:tc>
                  <a:txBody>
                    <a:bodyPr/>
                    <a:lstStyle/>
                    <a:p>
                      <a:pPr>
                        <a:defRPr sz="650">
                          <a:solidFill>
                            <a:srgbClr val="0F172A"/>
                          </a:solidFill>
                          <a:latin typeface="Arial"/>
                        </a:defRPr>
                      </a:pPr>
                      <a:r>
                        <a:t>0.6060</a:t>
                      </a:r>
                    </a:p>
                  </a:txBody>
                  <a:tcPr marL="0" marR="0" marT="0" marB="0">
                    <a:solidFill>
                      <a:srgbClr val="E0F2FE"/>
                    </a:solidFill>
                  </a:tcPr>
                </a:tc>
                <a:tc>
                  <a:txBody>
                    <a:bodyPr/>
                    <a:lstStyle/>
                    <a:p>
                      <a:pPr>
                        <a:defRPr sz="650">
                          <a:solidFill>
                            <a:srgbClr val="0F172A"/>
                          </a:solidFill>
                          <a:latin typeface="Arial"/>
                        </a:defRPr>
                      </a:pPr>
                      <a:r>
                        <a:t>0.6060</a:t>
                      </a:r>
                    </a:p>
                  </a:txBody>
                  <a:tcPr marL="0" marR="0" marT="0" marB="0">
                    <a:solidFill>
                      <a:srgbClr val="E0F2FE"/>
                    </a:solidFill>
                  </a:tcPr>
                </a:tc>
              </a:tr>
              <a:tr h="210312">
                <a:tc>
                  <a:txBody>
                    <a:bodyPr/>
                    <a:lstStyle/>
                    <a:p>
                      <a:pPr>
                        <a:defRPr sz="650">
                          <a:solidFill>
                            <a:srgbClr val="0F172A"/>
                          </a:solidFill>
                          <a:latin typeface="Arial"/>
                        </a:defRPr>
                      </a:pPr>
                      <a:r>
                        <a:t>6</a:t>
                      </a:r>
                    </a:p>
                  </a:txBody>
                  <a:tcPr marL="0" marR="0" marT="0" marB="0">
                    <a:solidFill>
                      <a:srgbClr val="FFFFFF"/>
                    </a:solidFill>
                  </a:tcPr>
                </a:tc>
                <a:tc>
                  <a:txBody>
                    <a:bodyPr/>
                    <a:lstStyle/>
                    <a:p>
                      <a:pPr>
                        <a:defRPr sz="650">
                          <a:solidFill>
                            <a:srgbClr val="0F172A"/>
                          </a:solidFill>
                          <a:latin typeface="Arial"/>
                        </a:defRPr>
                      </a:pPr>
                      <a:r>
                        <a:t>0.5390</a:t>
                      </a:r>
                    </a:p>
                  </a:txBody>
                  <a:tcPr marL="0" marR="0" marT="0" marB="0">
                    <a:solidFill>
                      <a:srgbClr val="FFFFFF"/>
                    </a:solidFill>
                  </a:tcPr>
                </a:tc>
                <a:tc>
                  <a:txBody>
                    <a:bodyPr/>
                    <a:lstStyle/>
                    <a:p>
                      <a:pPr>
                        <a:defRPr sz="650">
                          <a:solidFill>
                            <a:srgbClr val="0F172A"/>
                          </a:solidFill>
                          <a:latin typeface="Arial"/>
                        </a:defRPr>
                      </a:pPr>
                      <a:r>
                        <a:t>0.2906</a:t>
                      </a:r>
                    </a:p>
                  </a:txBody>
                  <a:tcPr marL="0" marR="0" marT="0" marB="0">
                    <a:solidFill>
                      <a:srgbClr val="FFFFFF"/>
                    </a:solidFill>
                  </a:tcPr>
                </a:tc>
                <a:tc>
                  <a:txBody>
                    <a:bodyPr/>
                    <a:lstStyle/>
                    <a:p>
                      <a:pPr>
                        <a:defRPr sz="650">
                          <a:solidFill>
                            <a:srgbClr val="0F172A"/>
                          </a:solidFill>
                          <a:latin typeface="Arial"/>
                        </a:defRPr>
                      </a:pPr>
                      <a:r>
                        <a:t>0.3468</a:t>
                      </a:r>
                    </a:p>
                  </a:txBody>
                  <a:tcPr marL="0" marR="0" marT="0" marB="0">
                    <a:solidFill>
                      <a:srgbClr val="FFFFFF"/>
                    </a:solidFill>
                  </a:tcPr>
                </a:tc>
                <a:tc>
                  <a:txBody>
                    <a:bodyPr/>
                    <a:lstStyle/>
                    <a:p>
                      <a:pPr>
                        <a:defRPr sz="650">
                          <a:solidFill>
                            <a:srgbClr val="0F172A"/>
                          </a:solidFill>
                          <a:latin typeface="Arial"/>
                        </a:defRPr>
                      </a:pPr>
                      <a:r>
                        <a:t>0.6320</a:t>
                      </a:r>
                    </a:p>
                  </a:txBody>
                  <a:tcPr marL="0" marR="0" marT="0" marB="0">
                    <a:solidFill>
                      <a:srgbClr val="FFFFFF"/>
                    </a:solidFill>
                  </a:tcPr>
                </a:tc>
                <a:tc>
                  <a:txBody>
                    <a:bodyPr/>
                    <a:lstStyle/>
                    <a:p>
                      <a:pPr>
                        <a:defRPr sz="650">
                          <a:solidFill>
                            <a:srgbClr val="0F172A"/>
                          </a:solidFill>
                          <a:latin typeface="Arial"/>
                        </a:defRPr>
                      </a:pPr>
                      <a:r>
                        <a:t>0.6320</a:t>
                      </a:r>
                    </a:p>
                  </a:txBody>
                  <a:tcPr marL="0" marR="0" marT="0" marB="0">
                    <a:solidFill>
                      <a:srgbClr val="FFFFFF"/>
                    </a:solidFill>
                  </a:tcPr>
                </a:tc>
              </a:tr>
              <a:tr h="210312">
                <a:tc>
                  <a:txBody>
                    <a:bodyPr/>
                    <a:lstStyle/>
                    <a:p>
                      <a:pPr>
                        <a:defRPr sz="650">
                          <a:solidFill>
                            <a:srgbClr val="0F172A"/>
                          </a:solidFill>
                          <a:latin typeface="Arial"/>
                        </a:defRPr>
                      </a:pPr>
                      <a:r>
                        <a:t>7</a:t>
                      </a:r>
                    </a:p>
                  </a:txBody>
                  <a:tcPr marL="0" marR="0" marT="0" marB="0">
                    <a:solidFill>
                      <a:srgbClr val="FFFFFF"/>
                    </a:solidFill>
                  </a:tcPr>
                </a:tc>
                <a:tc>
                  <a:txBody>
                    <a:bodyPr/>
                    <a:lstStyle/>
                    <a:p>
                      <a:pPr>
                        <a:defRPr sz="650">
                          <a:solidFill>
                            <a:srgbClr val="0F172A"/>
                          </a:solidFill>
                          <a:latin typeface="Arial"/>
                        </a:defRPr>
                      </a:pPr>
                      <a:r>
                        <a:t>0.5393</a:t>
                      </a:r>
                    </a:p>
                  </a:txBody>
                  <a:tcPr marL="0" marR="0" marT="0" marB="0">
                    <a:solidFill>
                      <a:srgbClr val="FFFFFF"/>
                    </a:solidFill>
                  </a:tcPr>
                </a:tc>
                <a:tc>
                  <a:txBody>
                    <a:bodyPr/>
                    <a:lstStyle/>
                    <a:p>
                      <a:pPr>
                        <a:defRPr sz="650">
                          <a:solidFill>
                            <a:srgbClr val="0F172A"/>
                          </a:solidFill>
                          <a:latin typeface="Arial"/>
                        </a:defRPr>
                      </a:pPr>
                      <a:r>
                        <a:t>0.2909</a:t>
                      </a:r>
                    </a:p>
                  </a:txBody>
                  <a:tcPr marL="0" marR="0" marT="0" marB="0">
                    <a:solidFill>
                      <a:srgbClr val="FFFFFF"/>
                    </a:solidFill>
                  </a:tcPr>
                </a:tc>
                <a:tc>
                  <a:txBody>
                    <a:bodyPr/>
                    <a:lstStyle/>
                    <a:p>
                      <a:pPr>
                        <a:defRPr sz="650">
                          <a:solidFill>
                            <a:srgbClr val="0F172A"/>
                          </a:solidFill>
                          <a:latin typeface="Arial"/>
                        </a:defRPr>
                      </a:pPr>
                      <a:r>
                        <a:t>0.3473</a:t>
                      </a:r>
                    </a:p>
                  </a:txBody>
                  <a:tcPr marL="0" marR="0" marT="0" marB="0">
                    <a:solidFill>
                      <a:srgbClr val="FFFFFF"/>
                    </a:solidFill>
                  </a:tcPr>
                </a:tc>
                <a:tc>
                  <a:txBody>
                    <a:bodyPr/>
                    <a:lstStyle/>
                    <a:p>
                      <a:pPr>
                        <a:defRPr sz="650">
                          <a:solidFill>
                            <a:srgbClr val="0F172A"/>
                          </a:solidFill>
                          <a:latin typeface="Arial"/>
                        </a:defRPr>
                      </a:pPr>
                      <a:r>
                        <a:t>0.6420</a:t>
                      </a:r>
                    </a:p>
                  </a:txBody>
                  <a:tcPr marL="0" marR="0" marT="0" marB="0">
                    <a:solidFill>
                      <a:srgbClr val="FFFFFF"/>
                    </a:solidFill>
                  </a:tcPr>
                </a:tc>
                <a:tc>
                  <a:txBody>
                    <a:bodyPr/>
                    <a:lstStyle/>
                    <a:p>
                      <a:pPr>
                        <a:defRPr sz="650">
                          <a:solidFill>
                            <a:srgbClr val="0F172A"/>
                          </a:solidFill>
                          <a:latin typeface="Arial"/>
                        </a:defRPr>
                      </a:pPr>
                      <a:r>
                        <a:t>0.6420</a:t>
                      </a:r>
                    </a:p>
                  </a:txBody>
                  <a:tcPr marL="0" marR="0" marT="0" marB="0">
                    <a:solidFill>
                      <a:srgbClr val="FFFFFF"/>
                    </a:solidFill>
                  </a:tcPr>
                </a:tc>
              </a:tr>
              <a:tr h="210312">
                <a:tc>
                  <a:txBody>
                    <a:bodyPr/>
                    <a:lstStyle/>
                    <a:p>
                      <a:pPr>
                        <a:defRPr sz="650">
                          <a:solidFill>
                            <a:srgbClr val="0F172A"/>
                          </a:solidFill>
                          <a:latin typeface="Arial"/>
                        </a:defRPr>
                      </a:pPr>
                      <a:r>
                        <a:t>8</a:t>
                      </a:r>
                    </a:p>
                  </a:txBody>
                  <a:tcPr marL="0" marR="0" marT="0" marB="0">
                    <a:solidFill>
                      <a:srgbClr val="FFFFFF"/>
                    </a:solidFill>
                  </a:tcPr>
                </a:tc>
                <a:tc>
                  <a:txBody>
                    <a:bodyPr/>
                    <a:lstStyle/>
                    <a:p>
                      <a:pPr>
                        <a:defRPr sz="650">
                          <a:solidFill>
                            <a:srgbClr val="0F172A"/>
                          </a:solidFill>
                          <a:latin typeface="Arial"/>
                        </a:defRPr>
                      </a:pPr>
                      <a:r>
                        <a:t>0.5401</a:t>
                      </a:r>
                    </a:p>
                  </a:txBody>
                  <a:tcPr marL="0" marR="0" marT="0" marB="0">
                    <a:solidFill>
                      <a:srgbClr val="FFFFFF"/>
                    </a:solidFill>
                  </a:tcPr>
                </a:tc>
                <a:tc>
                  <a:txBody>
                    <a:bodyPr/>
                    <a:lstStyle/>
                    <a:p>
                      <a:pPr>
                        <a:defRPr sz="650">
                          <a:solidFill>
                            <a:srgbClr val="0F172A"/>
                          </a:solidFill>
                          <a:latin typeface="Arial"/>
                        </a:defRPr>
                      </a:pPr>
                      <a:r>
                        <a:t>0.2918</a:t>
                      </a:r>
                    </a:p>
                  </a:txBody>
                  <a:tcPr marL="0" marR="0" marT="0" marB="0">
                    <a:solidFill>
                      <a:srgbClr val="FFFFFF"/>
                    </a:solidFill>
                  </a:tcPr>
                </a:tc>
                <a:tc>
                  <a:txBody>
                    <a:bodyPr/>
                    <a:lstStyle/>
                    <a:p>
                      <a:pPr>
                        <a:defRPr sz="650">
                          <a:solidFill>
                            <a:srgbClr val="0F172A"/>
                          </a:solidFill>
                          <a:latin typeface="Arial"/>
                        </a:defRPr>
                      </a:pPr>
                      <a:r>
                        <a:t>0.3476</a:t>
                      </a:r>
                    </a:p>
                  </a:txBody>
                  <a:tcPr marL="0" marR="0" marT="0" marB="0">
                    <a:solidFill>
                      <a:srgbClr val="FFFFFF"/>
                    </a:solidFill>
                  </a:tcPr>
                </a:tc>
                <a:tc>
                  <a:txBody>
                    <a:bodyPr/>
                    <a:lstStyle/>
                    <a:p>
                      <a:pPr>
                        <a:defRPr sz="650">
                          <a:solidFill>
                            <a:srgbClr val="0F172A"/>
                          </a:solidFill>
                          <a:latin typeface="Arial"/>
                        </a:defRPr>
                      </a:pPr>
                      <a:r>
                        <a:t>0.6791</a:t>
                      </a:r>
                    </a:p>
                  </a:txBody>
                  <a:tcPr marL="0" marR="0" marT="0" marB="0">
                    <a:solidFill>
                      <a:srgbClr val="FFFFFF"/>
                    </a:solidFill>
                  </a:tcPr>
                </a:tc>
                <a:tc>
                  <a:txBody>
                    <a:bodyPr/>
                    <a:lstStyle/>
                    <a:p>
                      <a:pPr>
                        <a:defRPr sz="650">
                          <a:solidFill>
                            <a:srgbClr val="0F172A"/>
                          </a:solidFill>
                          <a:latin typeface="Arial"/>
                        </a:defRPr>
                      </a:pPr>
                      <a:r>
                        <a:t>0.6791</a:t>
                      </a:r>
                    </a:p>
                  </a:txBody>
                  <a:tcPr marL="0" marR="0" marT="0" marB="0">
                    <a:solidFill>
                      <a:srgbClr val="FFFFFF"/>
                    </a:solidFill>
                  </a:tcPr>
                </a:tc>
              </a:tr>
              <a:tr h="210312">
                <a:tc>
                  <a:txBody>
                    <a:bodyPr/>
                    <a:lstStyle/>
                    <a:p>
                      <a:pPr>
                        <a:defRPr sz="650">
                          <a:solidFill>
                            <a:srgbClr val="0F172A"/>
                          </a:solidFill>
                          <a:latin typeface="Arial"/>
                        </a:defRPr>
                      </a:pPr>
                      <a:r>
                        <a:t>9</a:t>
                      </a:r>
                    </a:p>
                  </a:txBody>
                  <a:tcPr marL="0" marR="0" marT="0" marB="0">
                    <a:solidFill>
                      <a:srgbClr val="FFFFFF"/>
                    </a:solidFill>
                  </a:tcPr>
                </a:tc>
                <a:tc>
                  <a:txBody>
                    <a:bodyPr/>
                    <a:lstStyle/>
                    <a:p>
                      <a:pPr>
                        <a:defRPr sz="650">
                          <a:solidFill>
                            <a:srgbClr val="0F172A"/>
                          </a:solidFill>
                          <a:latin typeface="Arial"/>
                        </a:defRPr>
                      </a:pPr>
                      <a:r>
                        <a:t>0.5388</a:t>
                      </a:r>
                    </a:p>
                  </a:txBody>
                  <a:tcPr marL="0" marR="0" marT="0" marB="0">
                    <a:solidFill>
                      <a:srgbClr val="FFFFFF"/>
                    </a:solidFill>
                  </a:tcPr>
                </a:tc>
                <a:tc>
                  <a:txBody>
                    <a:bodyPr/>
                    <a:lstStyle/>
                    <a:p>
                      <a:pPr>
                        <a:defRPr sz="650">
                          <a:solidFill>
                            <a:srgbClr val="0F172A"/>
                          </a:solidFill>
                          <a:latin typeface="Arial"/>
                        </a:defRPr>
                      </a:pPr>
                      <a:r>
                        <a:t>0.2904</a:t>
                      </a:r>
                    </a:p>
                  </a:txBody>
                  <a:tcPr marL="0" marR="0" marT="0" marB="0">
                    <a:solidFill>
                      <a:srgbClr val="FFFFFF"/>
                    </a:solidFill>
                  </a:tcPr>
                </a:tc>
                <a:tc>
                  <a:txBody>
                    <a:bodyPr/>
                    <a:lstStyle/>
                    <a:p>
                      <a:pPr>
                        <a:defRPr sz="650">
                          <a:solidFill>
                            <a:srgbClr val="0F172A"/>
                          </a:solidFill>
                          <a:latin typeface="Arial"/>
                        </a:defRPr>
                      </a:pPr>
                      <a:r>
                        <a:t>0.3468</a:t>
                      </a:r>
                    </a:p>
                  </a:txBody>
                  <a:tcPr marL="0" marR="0" marT="0" marB="0">
                    <a:solidFill>
                      <a:srgbClr val="FFFFFF"/>
                    </a:solidFill>
                  </a:tcPr>
                </a:tc>
                <a:tc>
                  <a:txBody>
                    <a:bodyPr/>
                    <a:lstStyle/>
                    <a:p>
                      <a:pPr>
                        <a:defRPr sz="650">
                          <a:solidFill>
                            <a:srgbClr val="0F172A"/>
                          </a:solidFill>
                          <a:latin typeface="Arial"/>
                        </a:defRPr>
                      </a:pPr>
                      <a:r>
                        <a:t>0.6931</a:t>
                      </a:r>
                    </a:p>
                  </a:txBody>
                  <a:tcPr marL="0" marR="0" marT="0" marB="0">
                    <a:solidFill>
                      <a:srgbClr val="FFFFFF"/>
                    </a:solidFill>
                  </a:tcPr>
                </a:tc>
                <a:tc>
                  <a:txBody>
                    <a:bodyPr/>
                    <a:lstStyle/>
                    <a:p>
                      <a:pPr>
                        <a:defRPr sz="650">
                          <a:solidFill>
                            <a:srgbClr val="0F172A"/>
                          </a:solidFill>
                          <a:latin typeface="Arial"/>
                        </a:defRPr>
                      </a:pPr>
                      <a:r>
                        <a:t>0.6931</a:t>
                      </a:r>
                    </a:p>
                  </a:txBody>
                  <a:tcPr marL="0" marR="0" marT="0" marB="0">
                    <a:solidFill>
                      <a:srgbClr val="FFFFFF"/>
                    </a:solidFill>
                  </a:tcPr>
                </a:tc>
              </a:tr>
              <a:tr h="210312">
                <a:tc>
                  <a:txBody>
                    <a:bodyPr/>
                    <a:lstStyle/>
                    <a:p>
                      <a:pPr>
                        <a:defRPr sz="650">
                          <a:solidFill>
                            <a:srgbClr val="0F172A"/>
                          </a:solidFill>
                          <a:latin typeface="Arial"/>
                        </a:defRPr>
                      </a:pPr>
                      <a:r>
                        <a:t>10</a:t>
                      </a:r>
                    </a:p>
                  </a:txBody>
                  <a:tcPr marL="0" marR="0" marT="0" marB="0">
                    <a:solidFill>
                      <a:srgbClr val="FFFFFF"/>
                    </a:solidFill>
                  </a:tcPr>
                </a:tc>
                <a:tc>
                  <a:txBody>
                    <a:bodyPr/>
                    <a:lstStyle/>
                    <a:p>
                      <a:pPr>
                        <a:defRPr sz="650">
                          <a:solidFill>
                            <a:srgbClr val="0F172A"/>
                          </a:solidFill>
                          <a:latin typeface="Arial"/>
                        </a:defRPr>
                      </a:pPr>
                      <a:r>
                        <a:t>0.5393</a:t>
                      </a:r>
                    </a:p>
                  </a:txBody>
                  <a:tcPr marL="0" marR="0" marT="0" marB="0">
                    <a:solidFill>
                      <a:srgbClr val="FFFFFF"/>
                    </a:solidFill>
                  </a:tcPr>
                </a:tc>
                <a:tc>
                  <a:txBody>
                    <a:bodyPr/>
                    <a:lstStyle/>
                    <a:p>
                      <a:pPr>
                        <a:defRPr sz="650">
                          <a:solidFill>
                            <a:srgbClr val="0F172A"/>
                          </a:solidFill>
                          <a:latin typeface="Arial"/>
                        </a:defRPr>
                      </a:pPr>
                      <a:r>
                        <a:t>0.2910</a:t>
                      </a:r>
                    </a:p>
                  </a:txBody>
                  <a:tcPr marL="0" marR="0" marT="0" marB="0">
                    <a:solidFill>
                      <a:srgbClr val="FFFFFF"/>
                    </a:solidFill>
                  </a:tcPr>
                </a:tc>
                <a:tc>
                  <a:txBody>
                    <a:bodyPr/>
                    <a:lstStyle/>
                    <a:p>
                      <a:pPr>
                        <a:defRPr sz="650">
                          <a:solidFill>
                            <a:srgbClr val="0F172A"/>
                          </a:solidFill>
                          <a:latin typeface="Arial"/>
                        </a:defRPr>
                      </a:pPr>
                      <a:r>
                        <a:t>0.3470</a:t>
                      </a:r>
                    </a:p>
                  </a:txBody>
                  <a:tcPr marL="0" marR="0" marT="0" marB="0">
                    <a:solidFill>
                      <a:srgbClr val="FFFFFF"/>
                    </a:solidFill>
                  </a:tcPr>
                </a:tc>
                <a:tc>
                  <a:txBody>
                    <a:bodyPr/>
                    <a:lstStyle/>
                    <a:p>
                      <a:pPr>
                        <a:defRPr sz="650">
                          <a:solidFill>
                            <a:srgbClr val="0F172A"/>
                          </a:solidFill>
                          <a:latin typeface="Arial"/>
                        </a:defRPr>
                      </a:pPr>
                      <a:r>
                        <a:t>0.6798</a:t>
                      </a:r>
                    </a:p>
                  </a:txBody>
                  <a:tcPr marL="0" marR="0" marT="0" marB="0">
                    <a:solidFill>
                      <a:srgbClr val="FFFFFF"/>
                    </a:solidFill>
                  </a:tcPr>
                </a:tc>
                <a:tc>
                  <a:txBody>
                    <a:bodyPr/>
                    <a:lstStyle/>
                    <a:p>
                      <a:pPr>
                        <a:defRPr sz="650">
                          <a:solidFill>
                            <a:srgbClr val="0F172A"/>
                          </a:solidFill>
                          <a:latin typeface="Arial"/>
                        </a:defRPr>
                      </a:pPr>
                      <a:r>
                        <a:t>0.6798</a:t>
                      </a:r>
                    </a:p>
                  </a:txBody>
                  <a:tcPr marL="0" marR="0" marT="0" marB="0">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DISTANCE METRIC COMPARISON</a:t>
            </a:r>
          </a:p>
          <a:p>
            <a:pPr>
              <a:defRPr sz="2600" b="1">
                <a:solidFill>
                  <a:srgbClr val="0F172A"/>
                </a:solidFill>
                <a:latin typeface="Arial"/>
              </a:defRPr>
            </a:pPr>
            <a:r>
              <a:t>Determining User and Item Clusters</a:t>
            </a:r>
          </a:p>
        </p:txBody>
      </p:sp>
      <p:sp>
        <p:nvSpPr>
          <p:cNvPr id="4" name="TextBox 3"/>
          <p:cNvSpPr txBox="1"/>
          <p:nvPr/>
        </p:nvSpPr>
        <p:spPr>
          <a:xfrm>
            <a:off x="731520" y="1188720"/>
            <a:ext cx="10698480" cy="685800"/>
          </a:xfrm>
          <a:prstGeom prst="rect">
            <a:avLst/>
          </a:prstGeom>
          <a:noFill/>
        </p:spPr>
        <p:txBody>
          <a:bodyPr wrap="square">
            <a:spAutoFit/>
          </a:bodyPr>
          <a:lstStyle/>
          <a:p>
            <a:pPr>
              <a:defRPr sz="1200" b="1">
                <a:solidFill>
                  <a:srgbClr val="0F172A"/>
                </a:solidFill>
                <a:latin typeface="Arial"/>
              </a:defRPr>
            </a:pPr>
            <a:r>
              <a:t>• Scikit Learn KMeans did not provide good clustering results; only uses Euclidean distance which degrades in sparse spaces.</a:t>
            </a:r>
          </a:p>
          <a:p>
            <a:pPr>
              <a:spcBef>
                <a:spcPts val="300"/>
              </a:spcBef>
              <a:defRPr sz="1200">
                <a:solidFill>
                  <a:srgbClr val="1E3A8A"/>
                </a:solidFill>
                <a:latin typeface="Arial"/>
              </a:defRPr>
            </a:pPr>
            <a:r>
              <a:t>• NLTK KMeansClusterer was used to cluster with cosine similarity; provided much clearer elbow plot and cluster distribution.</a:t>
            </a:r>
          </a:p>
        </p:txBody>
      </p:sp>
      <p:sp>
        <p:nvSpPr>
          <p:cNvPr id="5" name="Rectangle 4"/>
          <p:cNvSpPr/>
          <p:nvPr/>
        </p:nvSpPr>
        <p:spPr>
          <a:xfrm>
            <a:off x="731520" y="1965960"/>
            <a:ext cx="3474720" cy="292608"/>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F172A"/>
                </a:solidFill>
                <a:latin typeface="Arial"/>
              </a:defRPr>
            </a:pPr>
            <a:r>
              <a:t>Euclidean Distance</a:t>
            </a:r>
          </a:p>
        </p:txBody>
      </p:sp>
      <p:sp>
        <p:nvSpPr>
          <p:cNvPr id="6" name="Rectangle 5"/>
          <p:cNvSpPr/>
          <p:nvPr/>
        </p:nvSpPr>
        <p:spPr>
          <a:xfrm>
            <a:off x="4389120" y="1965960"/>
            <a:ext cx="7040880" cy="292608"/>
          </a:xfrm>
          <a:prstGeom prst="rect">
            <a:avLst/>
          </a:prstGeom>
          <a:solidFill>
            <a:srgbClr val="DCFCE7"/>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66534"/>
                </a:solidFill>
                <a:latin typeface="Arial"/>
              </a:defRPr>
            </a:pPr>
            <a:r>
              <a:t>Cosine Similarity</a:t>
            </a:r>
          </a:p>
        </p:txBody>
      </p:sp>
      <p:pic>
        <p:nvPicPr>
          <p:cNvPr id="7" name="Picture 6" descr="cluster_determination.png"/>
          <p:cNvPicPr>
            <a:picLocks noChangeAspect="1"/>
          </p:cNvPicPr>
          <p:nvPr/>
        </p:nvPicPr>
        <p:blipFill>
          <a:blip r:embed="rId2"/>
          <a:stretch>
            <a:fillRect/>
          </a:stretch>
        </p:blipFill>
        <p:spPr>
          <a:xfrm>
            <a:off x="731520" y="2331720"/>
            <a:ext cx="10698480" cy="483489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NEIGHBORHOOD MODELING</a:t>
            </a:r>
          </a:p>
          <a:p>
            <a:pPr>
              <a:defRPr sz="2600" b="1">
                <a:solidFill>
                  <a:srgbClr val="0F172A"/>
                </a:solidFill>
                <a:latin typeface="Arial"/>
              </a:defRPr>
            </a:pPr>
            <a:r>
              <a:t>Results: Cluster Based Neighborhood methods</a:t>
            </a:r>
          </a:p>
        </p:txBody>
      </p:sp>
      <p:sp>
        <p:nvSpPr>
          <p:cNvPr id="4" name="TextBox 3"/>
          <p:cNvSpPr txBox="1"/>
          <p:nvPr/>
        </p:nvSpPr>
        <p:spPr>
          <a:xfrm>
            <a:off x="731520" y="1371600"/>
            <a:ext cx="3749039" cy="4572000"/>
          </a:xfrm>
          <a:prstGeom prst="rect">
            <a:avLst/>
          </a:prstGeom>
          <a:noFill/>
        </p:spPr>
        <p:txBody>
          <a:bodyPr wrap="square">
            <a:spAutoFit/>
          </a:bodyPr>
          <a:lstStyle/>
          <a:p>
            <a:pPr>
              <a:defRPr sz="1350" b="1">
                <a:solidFill>
                  <a:srgbClr val="0F172A"/>
                </a:solidFill>
                <a:latin typeface="Arial"/>
              </a:defRPr>
            </a:pPr>
            <a:r>
              <a:t>• KNN models were tested by using clusters for recipes only or users only.</a:t>
            </a:r>
          </a:p>
          <a:p>
            <a:pPr>
              <a:spcBef>
                <a:spcPts val="1800"/>
              </a:spcBef>
              <a:defRPr sz="1350" b="1">
                <a:solidFill>
                  <a:srgbClr val="0284C7"/>
                </a:solidFill>
                <a:latin typeface="Arial"/>
              </a:defRPr>
            </a:pPr>
            <a:r>
              <a:t>• User based KNNWithZScore had the lowest MAEs when filtering data with only clusters.</a:t>
            </a:r>
          </a:p>
          <a:p>
            <a:pPr>
              <a:spcBef>
                <a:spcPts val="1400"/>
              </a:spcBef>
              <a:defRPr sz="1150">
                <a:solidFill>
                  <a:srgbClr val="475569"/>
                </a:solidFill>
                <a:latin typeface="Arial"/>
              </a:defRPr>
            </a:pPr>
            <a:r>
              <a:t>Normalizing by user mean and standard deviation rating bias (Z score) within homogeneous user taste clusters effectively balances variance.</a:t>
            </a:r>
          </a:p>
        </p:txBody>
      </p:sp>
      <p:graphicFrame>
        <p:nvGraphicFramePr>
          <p:cNvPr id="5" name="Table 4"/>
          <p:cNvGraphicFramePr>
            <a:graphicFrameLocks noGrp="1"/>
          </p:cNvGraphicFramePr>
          <p:nvPr/>
        </p:nvGraphicFramePr>
        <p:xfrm>
          <a:off x="4617720" y="1188720"/>
          <a:ext cx="6949440" cy="5212080"/>
        </p:xfrm>
        <a:graphic>
          <a:graphicData uri="http://schemas.openxmlformats.org/drawingml/2006/table">
            <a:tbl>
              <a:tblPr firstRow="1" bandRow="1">
                <a:tableStyleId>{5C22544A-7EE6-4342-B048-85BDC9FD1C3A}</a:tableStyleId>
              </a:tblPr>
              <a:tblGrid>
                <a:gridCol w="1234440"/>
                <a:gridCol w="960120"/>
                <a:gridCol w="868680"/>
                <a:gridCol w="658368"/>
                <a:gridCol w="640080"/>
                <a:gridCol w="658368"/>
                <a:gridCol w="960120"/>
                <a:gridCol w="969264"/>
              </a:tblGrid>
              <a:tr h="306592">
                <a:tc>
                  <a:txBody>
                    <a:bodyPr/>
                    <a:lstStyle/>
                    <a:p>
                      <a:pPr>
                        <a:defRPr sz="680" b="1">
                          <a:solidFill>
                            <a:srgbClr val="0F172A"/>
                          </a:solidFill>
                          <a:latin typeface="Arial"/>
                        </a:defRPr>
                      </a:pPr>
                      <a:r>
                        <a:t>Model</a:t>
                      </a:r>
                    </a:p>
                  </a:txBody>
                  <a:tcPr marL="0" marR="0" marT="0" marB="0">
                    <a:solidFill>
                      <a:srgbClr val="F8FAFC"/>
                    </a:solidFill>
                  </a:tcPr>
                </a:tc>
                <a:tc>
                  <a:txBody>
                    <a:bodyPr/>
                    <a:lstStyle/>
                    <a:p>
                      <a:pPr>
                        <a:defRPr sz="680" b="1">
                          <a:solidFill>
                            <a:srgbClr val="0F172A"/>
                          </a:solidFill>
                          <a:latin typeface="Arial"/>
                        </a:defRPr>
                      </a:pPr>
                      <a:r>
                        <a:t>Clustering Type</a:t>
                      </a:r>
                    </a:p>
                  </a:txBody>
                  <a:tcPr marL="0" marR="0" marT="0" marB="0">
                    <a:solidFill>
                      <a:srgbClr val="F8FAFC"/>
                    </a:solidFill>
                  </a:tcPr>
                </a:tc>
                <a:tc>
                  <a:txBody>
                    <a:bodyPr/>
                    <a:lstStyle/>
                    <a:p>
                      <a:pPr>
                        <a:defRPr sz="680" b="1">
                          <a:solidFill>
                            <a:srgbClr val="0F172A"/>
                          </a:solidFill>
                          <a:latin typeface="Arial"/>
                        </a:defRPr>
                      </a:pPr>
                      <a:r>
                        <a:t>User Based</a:t>
                      </a:r>
                    </a:p>
                  </a:txBody>
                  <a:tcPr marL="0" marR="0" marT="0" marB="0">
                    <a:solidFill>
                      <a:srgbClr val="F8FAFC"/>
                    </a:solidFill>
                  </a:tcPr>
                </a:tc>
                <a:tc>
                  <a:txBody>
                    <a:bodyPr/>
                    <a:lstStyle/>
                    <a:p>
                      <a:pPr>
                        <a:defRPr sz="680" b="1">
                          <a:solidFill>
                            <a:srgbClr val="0F172A"/>
                          </a:solidFill>
                          <a:latin typeface="Arial"/>
                        </a:defRPr>
                      </a:pPr>
                      <a:r>
                        <a:t>RMSE</a:t>
                      </a:r>
                    </a:p>
                  </a:txBody>
                  <a:tcPr marL="0" marR="0" marT="0" marB="0">
                    <a:solidFill>
                      <a:srgbClr val="F8FAFC"/>
                    </a:solidFill>
                  </a:tcPr>
                </a:tc>
                <a:tc>
                  <a:txBody>
                    <a:bodyPr/>
                    <a:lstStyle/>
                    <a:p>
                      <a:pPr>
                        <a:defRPr sz="680" b="1">
                          <a:solidFill>
                            <a:srgbClr val="0F172A"/>
                          </a:solidFill>
                          <a:latin typeface="Arial"/>
                        </a:defRPr>
                      </a:pPr>
                      <a:r>
                        <a:t>MSE</a:t>
                      </a:r>
                    </a:p>
                  </a:txBody>
                  <a:tcPr marL="0" marR="0" marT="0" marB="0">
                    <a:solidFill>
                      <a:srgbClr val="F8FAFC"/>
                    </a:solidFill>
                  </a:tcPr>
                </a:tc>
                <a:tc>
                  <a:txBody>
                    <a:bodyPr/>
                    <a:lstStyle/>
                    <a:p>
                      <a:pPr>
                        <a:defRPr sz="680" b="1">
                          <a:solidFill>
                            <a:srgbClr val="0F172A"/>
                          </a:solidFill>
                          <a:latin typeface="Arial"/>
                        </a:defRPr>
                      </a:pPr>
                      <a:r>
                        <a:t>MAE</a:t>
                      </a:r>
                    </a:p>
                  </a:txBody>
                  <a:tcPr marL="0" marR="0" marT="0" marB="0">
                    <a:solidFill>
                      <a:srgbClr val="F8FAFC"/>
                    </a:solidFill>
                  </a:tcPr>
                </a:tc>
                <a:tc>
                  <a:txBody>
                    <a:bodyPr/>
                    <a:lstStyle/>
                    <a:p>
                      <a:pPr>
                        <a:defRPr sz="680" b="1">
                          <a:solidFill>
                            <a:srgbClr val="0F172A"/>
                          </a:solidFill>
                          <a:latin typeface="Arial"/>
                        </a:defRPr>
                      </a:pPr>
                      <a:r>
                        <a:t>Fit Time</a:t>
                      </a:r>
                    </a:p>
                  </a:txBody>
                  <a:tcPr marL="0" marR="0" marT="0" marB="0">
                    <a:solidFill>
                      <a:srgbClr val="F8FAFC"/>
                    </a:solidFill>
                  </a:tcPr>
                </a:tc>
                <a:tc>
                  <a:txBody>
                    <a:bodyPr/>
                    <a:lstStyle/>
                    <a:p>
                      <a:pPr>
                        <a:defRPr sz="680" b="1">
                          <a:solidFill>
                            <a:srgbClr val="0F172A"/>
                          </a:solidFill>
                          <a:latin typeface="Arial"/>
                        </a:defRPr>
                      </a:pPr>
                      <a:r>
                        <a:t>Test Time</a:t>
                      </a:r>
                    </a:p>
                  </a:txBody>
                  <a:tcPr marL="0" marR="0" marT="0" marB="0">
                    <a:solidFill>
                      <a:srgbClr val="F8FAFC"/>
                    </a:solidFill>
                  </a:tcPr>
                </a:tc>
              </a:tr>
              <a:tr h="306592">
                <a:tc>
                  <a:txBody>
                    <a:bodyPr/>
                    <a:lstStyle/>
                    <a:p>
                      <a:pPr>
                        <a:defRPr sz="700">
                          <a:solidFill>
                            <a:srgbClr val="0F172A"/>
                          </a:solidFill>
                          <a:latin typeface="Arial"/>
                        </a:defRPr>
                      </a:pPr>
                      <a:r>
                        <a:t>KNNBaseline</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0.5529</a:t>
                      </a:r>
                    </a:p>
                  </a:txBody>
                  <a:tcPr marL="0" marR="0" marT="0" marB="0">
                    <a:solidFill>
                      <a:srgbClr val="FFFFFF"/>
                    </a:solidFill>
                  </a:tcPr>
                </a:tc>
                <a:tc>
                  <a:txBody>
                    <a:bodyPr/>
                    <a:lstStyle/>
                    <a:p>
                      <a:pPr>
                        <a:defRPr sz="700">
                          <a:solidFill>
                            <a:srgbClr val="0F172A"/>
                          </a:solidFill>
                          <a:latin typeface="Arial"/>
                        </a:defRPr>
                      </a:pPr>
                      <a:r>
                        <a:t>0.3072</a:t>
                      </a:r>
                    </a:p>
                  </a:txBody>
                  <a:tcPr marL="0" marR="0" marT="0" marB="0">
                    <a:solidFill>
                      <a:srgbClr val="FFFFFF"/>
                    </a:solidFill>
                  </a:tcPr>
                </a:tc>
                <a:tc>
                  <a:txBody>
                    <a:bodyPr/>
                    <a:lstStyle/>
                    <a:p>
                      <a:pPr>
                        <a:defRPr sz="700">
                          <a:solidFill>
                            <a:srgbClr val="0F172A"/>
                          </a:solidFill>
                          <a:latin typeface="Arial"/>
                        </a:defRPr>
                      </a:pPr>
                      <a:r>
                        <a:t>0.3592</a:t>
                      </a:r>
                    </a:p>
                  </a:txBody>
                  <a:tcPr marL="0" marR="0" marT="0" marB="0">
                    <a:solidFill>
                      <a:srgbClr val="FFFFFF"/>
                    </a:solidFill>
                  </a:tcPr>
                </a:tc>
                <a:tc>
                  <a:txBody>
                    <a:bodyPr/>
                    <a:lstStyle/>
                    <a:p>
                      <a:pPr>
                        <a:defRPr sz="700">
                          <a:solidFill>
                            <a:srgbClr val="0F172A"/>
                          </a:solidFill>
                          <a:latin typeface="Arial"/>
                        </a:defRPr>
                      </a:pPr>
                      <a:r>
                        <a:t>0.1336</a:t>
                      </a:r>
                    </a:p>
                  </a:txBody>
                  <a:tcPr marL="0" marR="0" marT="0" marB="0">
                    <a:solidFill>
                      <a:srgbClr val="FFFFFF"/>
                    </a:solidFill>
                  </a:tcPr>
                </a:tc>
                <a:tc>
                  <a:txBody>
                    <a:bodyPr/>
                    <a:lstStyle/>
                    <a:p>
                      <a:pPr>
                        <a:defRPr sz="700">
                          <a:solidFill>
                            <a:srgbClr val="0F172A"/>
                          </a:solidFill>
                          <a:latin typeface="Arial"/>
                        </a:defRPr>
                      </a:pPr>
                      <a:r>
                        <a:t>0.1342</a:t>
                      </a:r>
                    </a:p>
                  </a:txBody>
                  <a:tcPr marL="0" marR="0" marT="0" marB="0">
                    <a:solidFill>
                      <a:srgbClr val="FFFFFF"/>
                    </a:solidFill>
                  </a:tcPr>
                </a:tc>
              </a:tr>
              <a:tr h="306592">
                <a:tc>
                  <a:txBody>
                    <a:bodyPr/>
                    <a:lstStyle/>
                    <a:p>
                      <a:pPr>
                        <a:defRPr sz="700">
                          <a:solidFill>
                            <a:srgbClr val="0F172A"/>
                          </a:solidFill>
                          <a:latin typeface="Arial"/>
                        </a:defRPr>
                      </a:pPr>
                      <a:r>
                        <a:t>KNNBaseline</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0.5592</a:t>
                      </a:r>
                    </a:p>
                  </a:txBody>
                  <a:tcPr marL="0" marR="0" marT="0" marB="0">
                    <a:solidFill>
                      <a:srgbClr val="FFFFFF"/>
                    </a:solidFill>
                  </a:tcPr>
                </a:tc>
                <a:tc>
                  <a:txBody>
                    <a:bodyPr/>
                    <a:lstStyle/>
                    <a:p>
                      <a:pPr>
                        <a:defRPr sz="700">
                          <a:solidFill>
                            <a:srgbClr val="0F172A"/>
                          </a:solidFill>
                          <a:latin typeface="Arial"/>
                        </a:defRPr>
                      </a:pPr>
                      <a:r>
                        <a:t>0.3143</a:t>
                      </a:r>
                    </a:p>
                  </a:txBody>
                  <a:tcPr marL="0" marR="0" marT="0" marB="0">
                    <a:solidFill>
                      <a:srgbClr val="FFFFFF"/>
                    </a:solidFill>
                  </a:tcPr>
                </a:tc>
                <a:tc>
                  <a:txBody>
                    <a:bodyPr/>
                    <a:lstStyle/>
                    <a:p>
                      <a:pPr>
                        <a:defRPr sz="700">
                          <a:solidFill>
                            <a:srgbClr val="0F172A"/>
                          </a:solidFill>
                          <a:latin typeface="Arial"/>
                        </a:defRPr>
                      </a:pPr>
                      <a:r>
                        <a:t>0.3708</a:t>
                      </a:r>
                    </a:p>
                  </a:txBody>
                  <a:tcPr marL="0" marR="0" marT="0" marB="0">
                    <a:solidFill>
                      <a:srgbClr val="FFFFFF"/>
                    </a:solidFill>
                  </a:tcPr>
                </a:tc>
                <a:tc>
                  <a:txBody>
                    <a:bodyPr/>
                    <a:lstStyle/>
                    <a:p>
                      <a:pPr>
                        <a:defRPr sz="700">
                          <a:solidFill>
                            <a:srgbClr val="0F172A"/>
                          </a:solidFill>
                          <a:latin typeface="Arial"/>
                        </a:defRPr>
                      </a:pPr>
                      <a:r>
                        <a:t>0.2470</a:t>
                      </a:r>
                    </a:p>
                  </a:txBody>
                  <a:tcPr marL="0" marR="0" marT="0" marB="0">
                    <a:solidFill>
                      <a:srgbClr val="FFFFFF"/>
                    </a:solidFill>
                  </a:tcPr>
                </a:tc>
                <a:tc>
                  <a:txBody>
                    <a:bodyPr/>
                    <a:lstStyle/>
                    <a:p>
                      <a:pPr>
                        <a:defRPr sz="700">
                          <a:solidFill>
                            <a:srgbClr val="0F172A"/>
                          </a:solidFill>
                          <a:latin typeface="Arial"/>
                        </a:defRPr>
                      </a:pPr>
                      <a:r>
                        <a:t>0.1866</a:t>
                      </a:r>
                    </a:p>
                  </a:txBody>
                  <a:tcPr marL="0" marR="0" marT="0" marB="0">
                    <a:solidFill>
                      <a:srgbClr val="FFFFFF"/>
                    </a:solidFill>
                  </a:tcPr>
                </a:tc>
              </a:tr>
              <a:tr h="306592">
                <a:tc>
                  <a:txBody>
                    <a:bodyPr/>
                    <a:lstStyle/>
                    <a:p>
                      <a:pPr>
                        <a:defRPr sz="700">
                          <a:solidFill>
                            <a:srgbClr val="0F172A"/>
                          </a:solidFill>
                          <a:latin typeface="Arial"/>
                        </a:defRPr>
                      </a:pPr>
                      <a:r>
                        <a:t>KNNBasic</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0.5668</a:t>
                      </a:r>
                    </a:p>
                  </a:txBody>
                  <a:tcPr marL="0" marR="0" marT="0" marB="0">
                    <a:solidFill>
                      <a:srgbClr val="FFFFFF"/>
                    </a:solidFill>
                  </a:tcPr>
                </a:tc>
                <a:tc>
                  <a:txBody>
                    <a:bodyPr/>
                    <a:lstStyle/>
                    <a:p>
                      <a:pPr>
                        <a:defRPr sz="700">
                          <a:solidFill>
                            <a:srgbClr val="0F172A"/>
                          </a:solidFill>
                          <a:latin typeface="Arial"/>
                        </a:defRPr>
                      </a:pPr>
                      <a:r>
                        <a:t>0.3227</a:t>
                      </a:r>
                    </a:p>
                  </a:txBody>
                  <a:tcPr marL="0" marR="0" marT="0" marB="0">
                    <a:solidFill>
                      <a:srgbClr val="FFFFFF"/>
                    </a:solidFill>
                  </a:tcPr>
                </a:tc>
                <a:tc>
                  <a:txBody>
                    <a:bodyPr/>
                    <a:lstStyle/>
                    <a:p>
                      <a:pPr>
                        <a:defRPr sz="700">
                          <a:solidFill>
                            <a:srgbClr val="0F172A"/>
                          </a:solidFill>
                          <a:latin typeface="Arial"/>
                        </a:defRPr>
                      </a:pPr>
                      <a:r>
                        <a:t>0.3649</a:t>
                      </a:r>
                    </a:p>
                  </a:txBody>
                  <a:tcPr marL="0" marR="0" marT="0" marB="0">
                    <a:solidFill>
                      <a:srgbClr val="FFFFFF"/>
                    </a:solidFill>
                  </a:tcPr>
                </a:tc>
                <a:tc>
                  <a:txBody>
                    <a:bodyPr/>
                    <a:lstStyle/>
                    <a:p>
                      <a:pPr>
                        <a:defRPr sz="700">
                          <a:solidFill>
                            <a:srgbClr val="0F172A"/>
                          </a:solidFill>
                          <a:latin typeface="Arial"/>
                        </a:defRPr>
                      </a:pPr>
                      <a:r>
                        <a:t>0.1097</a:t>
                      </a:r>
                    </a:p>
                  </a:txBody>
                  <a:tcPr marL="0" marR="0" marT="0" marB="0">
                    <a:solidFill>
                      <a:srgbClr val="FFFFFF"/>
                    </a:solidFill>
                  </a:tcPr>
                </a:tc>
                <a:tc>
                  <a:txBody>
                    <a:bodyPr/>
                    <a:lstStyle/>
                    <a:p>
                      <a:pPr>
                        <a:defRPr sz="700">
                          <a:solidFill>
                            <a:srgbClr val="0F172A"/>
                          </a:solidFill>
                          <a:latin typeface="Arial"/>
                        </a:defRPr>
                      </a:pPr>
                      <a:r>
                        <a:t>0.1107</a:t>
                      </a:r>
                    </a:p>
                  </a:txBody>
                  <a:tcPr marL="0" marR="0" marT="0" marB="0">
                    <a:solidFill>
                      <a:srgbClr val="FFFFFF"/>
                    </a:solidFill>
                  </a:tcPr>
                </a:tc>
              </a:tr>
              <a:tr h="306592">
                <a:tc>
                  <a:txBody>
                    <a:bodyPr/>
                    <a:lstStyle/>
                    <a:p>
                      <a:pPr>
                        <a:defRPr sz="700">
                          <a:solidFill>
                            <a:srgbClr val="0F172A"/>
                          </a:solidFill>
                          <a:latin typeface="Arial"/>
                        </a:defRPr>
                      </a:pPr>
                      <a:r>
                        <a:t>KNNBasic</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0.5930</a:t>
                      </a:r>
                    </a:p>
                  </a:txBody>
                  <a:tcPr marL="0" marR="0" marT="0" marB="0">
                    <a:solidFill>
                      <a:srgbClr val="FFFFFF"/>
                    </a:solidFill>
                  </a:tcPr>
                </a:tc>
                <a:tc>
                  <a:txBody>
                    <a:bodyPr/>
                    <a:lstStyle/>
                    <a:p>
                      <a:pPr>
                        <a:defRPr sz="700">
                          <a:solidFill>
                            <a:srgbClr val="0F172A"/>
                          </a:solidFill>
                          <a:latin typeface="Arial"/>
                        </a:defRPr>
                      </a:pPr>
                      <a:r>
                        <a:t>0.3537</a:t>
                      </a:r>
                    </a:p>
                  </a:txBody>
                  <a:tcPr marL="0" marR="0" marT="0" marB="0">
                    <a:solidFill>
                      <a:srgbClr val="FFFFFF"/>
                    </a:solidFill>
                  </a:tcPr>
                </a:tc>
                <a:tc>
                  <a:txBody>
                    <a:bodyPr/>
                    <a:lstStyle/>
                    <a:p>
                      <a:pPr>
                        <a:defRPr sz="700">
                          <a:solidFill>
                            <a:srgbClr val="0F172A"/>
                          </a:solidFill>
                          <a:latin typeface="Arial"/>
                        </a:defRPr>
                      </a:pPr>
                      <a:r>
                        <a:t>0.3954</a:t>
                      </a:r>
                    </a:p>
                  </a:txBody>
                  <a:tcPr marL="0" marR="0" marT="0" marB="0">
                    <a:solidFill>
                      <a:srgbClr val="FFFFFF"/>
                    </a:solidFill>
                  </a:tcPr>
                </a:tc>
                <a:tc>
                  <a:txBody>
                    <a:bodyPr/>
                    <a:lstStyle/>
                    <a:p>
                      <a:pPr>
                        <a:defRPr sz="700">
                          <a:solidFill>
                            <a:srgbClr val="0F172A"/>
                          </a:solidFill>
                          <a:latin typeface="Arial"/>
                        </a:defRPr>
                      </a:pPr>
                      <a:r>
                        <a:t>0.2189</a:t>
                      </a:r>
                    </a:p>
                  </a:txBody>
                  <a:tcPr marL="0" marR="0" marT="0" marB="0">
                    <a:solidFill>
                      <a:srgbClr val="FFFFFF"/>
                    </a:solidFill>
                  </a:tcPr>
                </a:tc>
                <a:tc>
                  <a:txBody>
                    <a:bodyPr/>
                    <a:lstStyle/>
                    <a:p>
                      <a:pPr>
                        <a:defRPr sz="700">
                          <a:solidFill>
                            <a:srgbClr val="0F172A"/>
                          </a:solidFill>
                          <a:latin typeface="Arial"/>
                        </a:defRPr>
                      </a:pPr>
                      <a:r>
                        <a:t>0.1562</a:t>
                      </a:r>
                    </a:p>
                  </a:txBody>
                  <a:tcPr marL="0" marR="0" marT="0" marB="0">
                    <a:solidFill>
                      <a:srgbClr val="FFFFFF"/>
                    </a:solidFill>
                  </a:tcPr>
                </a:tc>
              </a:tr>
              <a:tr h="306592">
                <a:tc>
                  <a:txBody>
                    <a:bodyPr/>
                    <a:lstStyle/>
                    <a:p>
                      <a:pPr>
                        <a:defRPr sz="700">
                          <a:solidFill>
                            <a:srgbClr val="0F172A"/>
                          </a:solidFill>
                          <a:latin typeface="Arial"/>
                        </a:defRPr>
                      </a:pPr>
                      <a:r>
                        <a:t>KNNWithMeans</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0.5644</a:t>
                      </a:r>
                    </a:p>
                  </a:txBody>
                  <a:tcPr marL="0" marR="0" marT="0" marB="0">
                    <a:solidFill>
                      <a:srgbClr val="FFFFFF"/>
                    </a:solidFill>
                  </a:tcPr>
                </a:tc>
                <a:tc>
                  <a:txBody>
                    <a:bodyPr/>
                    <a:lstStyle/>
                    <a:p>
                      <a:pPr>
                        <a:defRPr sz="700">
                          <a:solidFill>
                            <a:srgbClr val="0F172A"/>
                          </a:solidFill>
                          <a:latin typeface="Arial"/>
                        </a:defRPr>
                      </a:pPr>
                      <a:r>
                        <a:t>0.3199</a:t>
                      </a:r>
                    </a:p>
                  </a:txBody>
                  <a:tcPr marL="0" marR="0" marT="0" marB="0">
                    <a:solidFill>
                      <a:srgbClr val="FFFFFF"/>
                    </a:solidFill>
                  </a:tcPr>
                </a:tc>
                <a:tc>
                  <a:txBody>
                    <a:bodyPr/>
                    <a:lstStyle/>
                    <a:p>
                      <a:pPr>
                        <a:defRPr sz="700">
                          <a:solidFill>
                            <a:srgbClr val="0F172A"/>
                          </a:solidFill>
                          <a:latin typeface="Arial"/>
                        </a:defRPr>
                      </a:pPr>
                      <a:r>
                        <a:t>0.3651</a:t>
                      </a:r>
                    </a:p>
                  </a:txBody>
                  <a:tcPr marL="0" marR="0" marT="0" marB="0">
                    <a:solidFill>
                      <a:srgbClr val="FFFFFF"/>
                    </a:solidFill>
                  </a:tcPr>
                </a:tc>
                <a:tc>
                  <a:txBody>
                    <a:bodyPr/>
                    <a:lstStyle/>
                    <a:p>
                      <a:pPr>
                        <a:defRPr sz="700">
                          <a:solidFill>
                            <a:srgbClr val="0F172A"/>
                          </a:solidFill>
                          <a:latin typeface="Arial"/>
                        </a:defRPr>
                      </a:pPr>
                      <a:r>
                        <a:t>0.1185</a:t>
                      </a:r>
                    </a:p>
                  </a:txBody>
                  <a:tcPr marL="0" marR="0" marT="0" marB="0">
                    <a:solidFill>
                      <a:srgbClr val="FFFFFF"/>
                    </a:solidFill>
                  </a:tcPr>
                </a:tc>
                <a:tc>
                  <a:txBody>
                    <a:bodyPr/>
                    <a:lstStyle/>
                    <a:p>
                      <a:pPr>
                        <a:defRPr sz="700">
                          <a:solidFill>
                            <a:srgbClr val="0F172A"/>
                          </a:solidFill>
                          <a:latin typeface="Arial"/>
                        </a:defRPr>
                      </a:pPr>
                      <a:r>
                        <a:t>0.1253</a:t>
                      </a:r>
                    </a:p>
                  </a:txBody>
                  <a:tcPr marL="0" marR="0" marT="0" marB="0">
                    <a:solidFill>
                      <a:srgbClr val="FFFFFF"/>
                    </a:solidFill>
                  </a:tcPr>
                </a:tc>
              </a:tr>
              <a:tr h="306592">
                <a:tc>
                  <a:txBody>
                    <a:bodyPr/>
                    <a:lstStyle/>
                    <a:p>
                      <a:pPr>
                        <a:defRPr sz="700">
                          <a:solidFill>
                            <a:srgbClr val="0F172A"/>
                          </a:solidFill>
                          <a:latin typeface="Arial"/>
                        </a:defRPr>
                      </a:pPr>
                      <a:r>
                        <a:t>KNNWithMeans</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0.5765</a:t>
                      </a:r>
                    </a:p>
                  </a:txBody>
                  <a:tcPr marL="0" marR="0" marT="0" marB="0">
                    <a:solidFill>
                      <a:srgbClr val="FFFFFF"/>
                    </a:solidFill>
                  </a:tcPr>
                </a:tc>
                <a:tc>
                  <a:txBody>
                    <a:bodyPr/>
                    <a:lstStyle/>
                    <a:p>
                      <a:pPr>
                        <a:defRPr sz="700">
                          <a:solidFill>
                            <a:srgbClr val="0F172A"/>
                          </a:solidFill>
                          <a:latin typeface="Arial"/>
                        </a:defRPr>
                      </a:pPr>
                      <a:r>
                        <a:t>0.3335</a:t>
                      </a:r>
                    </a:p>
                  </a:txBody>
                  <a:tcPr marL="0" marR="0" marT="0" marB="0">
                    <a:solidFill>
                      <a:srgbClr val="FFFFFF"/>
                    </a:solidFill>
                  </a:tcPr>
                </a:tc>
                <a:tc>
                  <a:txBody>
                    <a:bodyPr/>
                    <a:lstStyle/>
                    <a:p>
                      <a:pPr>
                        <a:defRPr sz="700">
                          <a:solidFill>
                            <a:srgbClr val="0F172A"/>
                          </a:solidFill>
                          <a:latin typeface="Arial"/>
                        </a:defRPr>
                      </a:pPr>
                      <a:r>
                        <a:t>0.3555</a:t>
                      </a:r>
                    </a:p>
                  </a:txBody>
                  <a:tcPr marL="0" marR="0" marT="0" marB="0">
                    <a:solidFill>
                      <a:srgbClr val="FFFFFF"/>
                    </a:solidFill>
                  </a:tcPr>
                </a:tc>
                <a:tc>
                  <a:txBody>
                    <a:bodyPr/>
                    <a:lstStyle/>
                    <a:p>
                      <a:pPr>
                        <a:defRPr sz="700">
                          <a:solidFill>
                            <a:srgbClr val="0F172A"/>
                          </a:solidFill>
                          <a:latin typeface="Arial"/>
                        </a:defRPr>
                      </a:pPr>
                      <a:r>
                        <a:t>0.2371</a:t>
                      </a:r>
                    </a:p>
                  </a:txBody>
                  <a:tcPr marL="0" marR="0" marT="0" marB="0">
                    <a:solidFill>
                      <a:srgbClr val="FFFFFF"/>
                    </a:solidFill>
                  </a:tcPr>
                </a:tc>
                <a:tc>
                  <a:txBody>
                    <a:bodyPr/>
                    <a:lstStyle/>
                    <a:p>
                      <a:pPr>
                        <a:defRPr sz="700">
                          <a:solidFill>
                            <a:srgbClr val="0F172A"/>
                          </a:solidFill>
                          <a:latin typeface="Arial"/>
                        </a:defRPr>
                      </a:pPr>
                      <a:r>
                        <a:t>0.1523</a:t>
                      </a:r>
                    </a:p>
                  </a:txBody>
                  <a:tcPr marL="0" marR="0" marT="0" marB="0">
                    <a:solidFill>
                      <a:srgbClr val="FFFFFF"/>
                    </a:solidFill>
                  </a:tcPr>
                </a:tc>
              </a:tr>
              <a:tr h="306592">
                <a:tc>
                  <a:txBody>
                    <a:bodyPr/>
                    <a:lstStyle/>
                    <a:p>
                      <a:pPr>
                        <a:defRPr sz="700">
                          <a:solidFill>
                            <a:srgbClr val="0F172A"/>
                          </a:solidFill>
                          <a:latin typeface="Arial"/>
                        </a:defRPr>
                      </a:pPr>
                      <a:r>
                        <a:t>KNNWithZScore</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0.5675</a:t>
                      </a:r>
                    </a:p>
                  </a:txBody>
                  <a:tcPr marL="0" marR="0" marT="0" marB="0">
                    <a:solidFill>
                      <a:srgbClr val="FFFFFF"/>
                    </a:solidFill>
                  </a:tcPr>
                </a:tc>
                <a:tc>
                  <a:txBody>
                    <a:bodyPr/>
                    <a:lstStyle/>
                    <a:p>
                      <a:pPr>
                        <a:defRPr sz="700">
                          <a:solidFill>
                            <a:srgbClr val="0F172A"/>
                          </a:solidFill>
                          <a:latin typeface="Arial"/>
                        </a:defRPr>
                      </a:pPr>
                      <a:r>
                        <a:t>0.3235</a:t>
                      </a:r>
                    </a:p>
                  </a:txBody>
                  <a:tcPr marL="0" marR="0" marT="0" marB="0">
                    <a:solidFill>
                      <a:srgbClr val="FFFFFF"/>
                    </a:solidFill>
                  </a:tcPr>
                </a:tc>
                <a:tc>
                  <a:txBody>
                    <a:bodyPr/>
                    <a:lstStyle/>
                    <a:p>
                      <a:pPr>
                        <a:defRPr sz="700">
                          <a:solidFill>
                            <a:srgbClr val="0F172A"/>
                          </a:solidFill>
                          <a:latin typeface="Arial"/>
                        </a:defRPr>
                      </a:pPr>
                      <a:r>
                        <a:t>0.3626</a:t>
                      </a:r>
                    </a:p>
                  </a:txBody>
                  <a:tcPr marL="0" marR="0" marT="0" marB="0">
                    <a:solidFill>
                      <a:srgbClr val="FFFFFF"/>
                    </a:solidFill>
                  </a:tcPr>
                </a:tc>
                <a:tc>
                  <a:txBody>
                    <a:bodyPr/>
                    <a:lstStyle/>
                    <a:p>
                      <a:pPr>
                        <a:defRPr sz="700">
                          <a:solidFill>
                            <a:srgbClr val="0F172A"/>
                          </a:solidFill>
                          <a:latin typeface="Arial"/>
                        </a:defRPr>
                      </a:pPr>
                      <a:r>
                        <a:t>0.1429</a:t>
                      </a:r>
                    </a:p>
                  </a:txBody>
                  <a:tcPr marL="0" marR="0" marT="0" marB="0">
                    <a:solidFill>
                      <a:srgbClr val="FFFFFF"/>
                    </a:solidFill>
                  </a:tcPr>
                </a:tc>
                <a:tc>
                  <a:txBody>
                    <a:bodyPr/>
                    <a:lstStyle/>
                    <a:p>
                      <a:pPr>
                        <a:defRPr sz="700">
                          <a:solidFill>
                            <a:srgbClr val="0F172A"/>
                          </a:solidFill>
                          <a:latin typeface="Arial"/>
                        </a:defRPr>
                      </a:pPr>
                      <a:r>
                        <a:t>0.1328</a:t>
                      </a:r>
                    </a:p>
                  </a:txBody>
                  <a:tcPr marL="0" marR="0" marT="0" marB="0">
                    <a:solidFill>
                      <a:srgbClr val="FFFFFF"/>
                    </a:solidFill>
                  </a:tcPr>
                </a:tc>
              </a:tr>
              <a:tr h="306592">
                <a:tc>
                  <a:txBody>
                    <a:bodyPr/>
                    <a:lstStyle/>
                    <a:p>
                      <a:pPr>
                        <a:defRPr sz="700">
                          <a:solidFill>
                            <a:srgbClr val="0F172A"/>
                          </a:solidFill>
                          <a:latin typeface="Arial"/>
                        </a:defRPr>
                      </a:pPr>
                      <a:r>
                        <a:t>KNNWithZScore</a:t>
                      </a:r>
                    </a:p>
                  </a:txBody>
                  <a:tcPr marL="0" marR="0" marT="0" marB="0">
                    <a:solidFill>
                      <a:srgbClr val="FFFFFF"/>
                    </a:solidFill>
                  </a:tcPr>
                </a:tc>
                <a:tc>
                  <a:txBody>
                    <a:bodyPr/>
                    <a:lstStyle/>
                    <a:p>
                      <a:pPr>
                        <a:defRPr sz="700">
                          <a:solidFill>
                            <a:srgbClr val="0F172A"/>
                          </a:solidFill>
                          <a:latin typeface="Arial"/>
                        </a:defRPr>
                      </a:pPr>
                      <a:r>
                        <a:t>Recipe</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0.5809</a:t>
                      </a:r>
                    </a:p>
                  </a:txBody>
                  <a:tcPr marL="0" marR="0" marT="0" marB="0">
                    <a:solidFill>
                      <a:srgbClr val="FFFFFF"/>
                    </a:solidFill>
                  </a:tcPr>
                </a:tc>
                <a:tc>
                  <a:txBody>
                    <a:bodyPr/>
                    <a:lstStyle/>
                    <a:p>
                      <a:pPr>
                        <a:defRPr sz="700">
                          <a:solidFill>
                            <a:srgbClr val="0F172A"/>
                          </a:solidFill>
                          <a:latin typeface="Arial"/>
                        </a:defRPr>
                      </a:pPr>
                      <a:r>
                        <a:t>0.3386</a:t>
                      </a:r>
                    </a:p>
                  </a:txBody>
                  <a:tcPr marL="0" marR="0" marT="0" marB="0">
                    <a:solidFill>
                      <a:srgbClr val="FFFFFF"/>
                    </a:solidFill>
                  </a:tcPr>
                </a:tc>
                <a:tc>
                  <a:txBody>
                    <a:bodyPr/>
                    <a:lstStyle/>
                    <a:p>
                      <a:pPr>
                        <a:defRPr sz="700">
                          <a:solidFill>
                            <a:srgbClr val="0F172A"/>
                          </a:solidFill>
                          <a:latin typeface="Arial"/>
                        </a:defRPr>
                      </a:pPr>
                      <a:r>
                        <a:t>0.3541</a:t>
                      </a:r>
                    </a:p>
                  </a:txBody>
                  <a:tcPr marL="0" marR="0" marT="0" marB="0">
                    <a:solidFill>
                      <a:srgbClr val="FFFFFF"/>
                    </a:solidFill>
                  </a:tcPr>
                </a:tc>
                <a:tc>
                  <a:txBody>
                    <a:bodyPr/>
                    <a:lstStyle/>
                    <a:p>
                      <a:pPr>
                        <a:defRPr sz="700">
                          <a:solidFill>
                            <a:srgbClr val="0F172A"/>
                          </a:solidFill>
                          <a:latin typeface="Arial"/>
                        </a:defRPr>
                      </a:pPr>
                      <a:r>
                        <a:t>0.2680</a:t>
                      </a:r>
                    </a:p>
                  </a:txBody>
                  <a:tcPr marL="0" marR="0" marT="0" marB="0">
                    <a:solidFill>
                      <a:srgbClr val="FFFFFF"/>
                    </a:solidFill>
                  </a:tcPr>
                </a:tc>
                <a:tc>
                  <a:txBody>
                    <a:bodyPr/>
                    <a:lstStyle/>
                    <a:p>
                      <a:pPr>
                        <a:defRPr sz="700">
                          <a:solidFill>
                            <a:srgbClr val="0F172A"/>
                          </a:solidFill>
                          <a:latin typeface="Arial"/>
                        </a:defRPr>
                      </a:pPr>
                      <a:r>
                        <a:t>0.1638</a:t>
                      </a:r>
                    </a:p>
                  </a:txBody>
                  <a:tcPr marL="0" marR="0" marT="0" marB="0">
                    <a:solidFill>
                      <a:srgbClr val="FFFFFF"/>
                    </a:solidFill>
                  </a:tcPr>
                </a:tc>
              </a:tr>
              <a:tr h="306592">
                <a:tc>
                  <a:txBody>
                    <a:bodyPr/>
                    <a:lstStyle/>
                    <a:p>
                      <a:pPr>
                        <a:defRPr sz="700">
                          <a:solidFill>
                            <a:srgbClr val="0F172A"/>
                          </a:solidFill>
                          <a:latin typeface="Arial"/>
                        </a:defRPr>
                      </a:pPr>
                      <a:r>
                        <a:t>KNNBaseline</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0.5429</a:t>
                      </a:r>
                    </a:p>
                  </a:txBody>
                  <a:tcPr marL="0" marR="0" marT="0" marB="0">
                    <a:solidFill>
                      <a:srgbClr val="FFFFFF"/>
                    </a:solidFill>
                  </a:tcPr>
                </a:tc>
                <a:tc>
                  <a:txBody>
                    <a:bodyPr/>
                    <a:lstStyle/>
                    <a:p>
                      <a:pPr>
                        <a:defRPr sz="700">
                          <a:solidFill>
                            <a:srgbClr val="0F172A"/>
                          </a:solidFill>
                          <a:latin typeface="Arial"/>
                        </a:defRPr>
                      </a:pPr>
                      <a:r>
                        <a:t>0.3009</a:t>
                      </a:r>
                    </a:p>
                  </a:txBody>
                  <a:tcPr marL="0" marR="0" marT="0" marB="0">
                    <a:solidFill>
                      <a:srgbClr val="FFFFFF"/>
                    </a:solidFill>
                  </a:tcPr>
                </a:tc>
                <a:tc>
                  <a:txBody>
                    <a:bodyPr/>
                    <a:lstStyle/>
                    <a:p>
                      <a:pPr>
                        <a:defRPr sz="700">
                          <a:solidFill>
                            <a:srgbClr val="0F172A"/>
                          </a:solidFill>
                          <a:latin typeface="Arial"/>
                        </a:defRPr>
                      </a:pPr>
                      <a:r>
                        <a:t>0.3499</a:t>
                      </a:r>
                    </a:p>
                  </a:txBody>
                  <a:tcPr marL="0" marR="0" marT="0" marB="0">
                    <a:solidFill>
                      <a:srgbClr val="FFFFFF"/>
                    </a:solidFill>
                  </a:tcPr>
                </a:tc>
                <a:tc>
                  <a:txBody>
                    <a:bodyPr/>
                    <a:lstStyle/>
                    <a:p>
                      <a:pPr>
                        <a:defRPr sz="700">
                          <a:solidFill>
                            <a:srgbClr val="0F172A"/>
                          </a:solidFill>
                          <a:latin typeface="Arial"/>
                        </a:defRPr>
                      </a:pPr>
                      <a:r>
                        <a:t>0.9116</a:t>
                      </a:r>
                    </a:p>
                  </a:txBody>
                  <a:tcPr marL="0" marR="0" marT="0" marB="0">
                    <a:solidFill>
                      <a:srgbClr val="FFFFFF"/>
                    </a:solidFill>
                  </a:tcPr>
                </a:tc>
                <a:tc>
                  <a:txBody>
                    <a:bodyPr/>
                    <a:lstStyle/>
                    <a:p>
                      <a:pPr>
                        <a:defRPr sz="700">
                          <a:solidFill>
                            <a:srgbClr val="0F172A"/>
                          </a:solidFill>
                          <a:latin typeface="Arial"/>
                        </a:defRPr>
                      </a:pPr>
                      <a:r>
                        <a:t>0.2535</a:t>
                      </a:r>
                    </a:p>
                  </a:txBody>
                  <a:tcPr marL="0" marR="0" marT="0" marB="0">
                    <a:solidFill>
                      <a:srgbClr val="FFFFFF"/>
                    </a:solidFill>
                  </a:tcPr>
                </a:tc>
              </a:tr>
              <a:tr h="306592">
                <a:tc>
                  <a:txBody>
                    <a:bodyPr/>
                    <a:lstStyle/>
                    <a:p>
                      <a:pPr>
                        <a:defRPr sz="700">
                          <a:solidFill>
                            <a:srgbClr val="0F172A"/>
                          </a:solidFill>
                          <a:latin typeface="Arial"/>
                        </a:defRPr>
                      </a:pPr>
                      <a:r>
                        <a:t>KNNBaseline</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0.5389</a:t>
                      </a:r>
                    </a:p>
                  </a:txBody>
                  <a:tcPr marL="0" marR="0" marT="0" marB="0">
                    <a:solidFill>
                      <a:srgbClr val="FFFFFF"/>
                    </a:solidFill>
                  </a:tcPr>
                </a:tc>
                <a:tc>
                  <a:txBody>
                    <a:bodyPr/>
                    <a:lstStyle/>
                    <a:p>
                      <a:pPr>
                        <a:defRPr sz="700">
                          <a:solidFill>
                            <a:srgbClr val="0F172A"/>
                          </a:solidFill>
                          <a:latin typeface="Arial"/>
                        </a:defRPr>
                      </a:pPr>
                      <a:r>
                        <a:t>0.2967</a:t>
                      </a:r>
                    </a:p>
                  </a:txBody>
                  <a:tcPr marL="0" marR="0" marT="0" marB="0">
                    <a:solidFill>
                      <a:srgbClr val="FFFFFF"/>
                    </a:solidFill>
                  </a:tcPr>
                </a:tc>
                <a:tc>
                  <a:txBody>
                    <a:bodyPr/>
                    <a:lstStyle/>
                    <a:p>
                      <a:pPr>
                        <a:defRPr sz="700">
                          <a:solidFill>
                            <a:srgbClr val="0F172A"/>
                          </a:solidFill>
                          <a:latin typeface="Arial"/>
                        </a:defRPr>
                      </a:pPr>
                      <a:r>
                        <a:t>0.3540</a:t>
                      </a:r>
                    </a:p>
                  </a:txBody>
                  <a:tcPr marL="0" marR="0" marT="0" marB="0">
                    <a:solidFill>
                      <a:srgbClr val="FFFFFF"/>
                    </a:solidFill>
                  </a:tcPr>
                </a:tc>
                <a:tc>
                  <a:txBody>
                    <a:bodyPr/>
                    <a:lstStyle/>
                    <a:p>
                      <a:pPr>
                        <a:defRPr sz="700">
                          <a:solidFill>
                            <a:srgbClr val="0F172A"/>
                          </a:solidFill>
                          <a:latin typeface="Arial"/>
                        </a:defRPr>
                      </a:pPr>
                      <a:r>
                        <a:t>0.0571</a:t>
                      </a:r>
                    </a:p>
                  </a:txBody>
                  <a:tcPr marL="0" marR="0" marT="0" marB="0">
                    <a:solidFill>
                      <a:srgbClr val="FFFFFF"/>
                    </a:solidFill>
                  </a:tcPr>
                </a:tc>
                <a:tc>
                  <a:txBody>
                    <a:bodyPr/>
                    <a:lstStyle/>
                    <a:p>
                      <a:pPr>
                        <a:defRPr sz="700">
                          <a:solidFill>
                            <a:srgbClr val="0F172A"/>
                          </a:solidFill>
                          <a:latin typeface="Arial"/>
                        </a:defRPr>
                      </a:pPr>
                      <a:r>
                        <a:t>0.0862</a:t>
                      </a:r>
                    </a:p>
                  </a:txBody>
                  <a:tcPr marL="0" marR="0" marT="0" marB="0">
                    <a:solidFill>
                      <a:srgbClr val="FFFFFF"/>
                    </a:solidFill>
                  </a:tcPr>
                </a:tc>
              </a:tr>
              <a:tr h="306592">
                <a:tc>
                  <a:txBody>
                    <a:bodyPr/>
                    <a:lstStyle/>
                    <a:p>
                      <a:pPr>
                        <a:defRPr sz="700">
                          <a:solidFill>
                            <a:srgbClr val="0F172A"/>
                          </a:solidFill>
                          <a:latin typeface="Arial"/>
                        </a:defRPr>
                      </a:pPr>
                      <a:r>
                        <a:t>KNNBasic</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0.5596</a:t>
                      </a:r>
                    </a:p>
                  </a:txBody>
                  <a:tcPr marL="0" marR="0" marT="0" marB="0">
                    <a:solidFill>
                      <a:srgbClr val="FFFFFF"/>
                    </a:solidFill>
                  </a:tcPr>
                </a:tc>
                <a:tc>
                  <a:txBody>
                    <a:bodyPr/>
                    <a:lstStyle/>
                    <a:p>
                      <a:pPr>
                        <a:defRPr sz="700">
                          <a:solidFill>
                            <a:srgbClr val="0F172A"/>
                          </a:solidFill>
                          <a:latin typeface="Arial"/>
                        </a:defRPr>
                      </a:pPr>
                      <a:r>
                        <a:t>0.3197</a:t>
                      </a:r>
                    </a:p>
                  </a:txBody>
                  <a:tcPr marL="0" marR="0" marT="0" marB="0">
                    <a:solidFill>
                      <a:srgbClr val="FFFFFF"/>
                    </a:solidFill>
                  </a:tcPr>
                </a:tc>
                <a:tc>
                  <a:txBody>
                    <a:bodyPr/>
                    <a:lstStyle/>
                    <a:p>
                      <a:pPr>
                        <a:defRPr sz="700">
                          <a:solidFill>
                            <a:srgbClr val="0F172A"/>
                          </a:solidFill>
                          <a:latin typeface="Arial"/>
                        </a:defRPr>
                      </a:pPr>
                      <a:r>
                        <a:t>0.3592</a:t>
                      </a:r>
                    </a:p>
                  </a:txBody>
                  <a:tcPr marL="0" marR="0" marT="0" marB="0">
                    <a:solidFill>
                      <a:srgbClr val="FFFFFF"/>
                    </a:solidFill>
                  </a:tcPr>
                </a:tc>
                <a:tc>
                  <a:txBody>
                    <a:bodyPr/>
                    <a:lstStyle/>
                    <a:p>
                      <a:pPr>
                        <a:defRPr sz="700">
                          <a:solidFill>
                            <a:srgbClr val="0F172A"/>
                          </a:solidFill>
                          <a:latin typeface="Arial"/>
                        </a:defRPr>
                      </a:pPr>
                      <a:r>
                        <a:t>0.9093</a:t>
                      </a:r>
                    </a:p>
                  </a:txBody>
                  <a:tcPr marL="0" marR="0" marT="0" marB="0">
                    <a:solidFill>
                      <a:srgbClr val="FFFFFF"/>
                    </a:solidFill>
                  </a:tcPr>
                </a:tc>
                <a:tc>
                  <a:txBody>
                    <a:bodyPr/>
                    <a:lstStyle/>
                    <a:p>
                      <a:pPr>
                        <a:defRPr sz="700">
                          <a:solidFill>
                            <a:srgbClr val="0F172A"/>
                          </a:solidFill>
                          <a:latin typeface="Arial"/>
                        </a:defRPr>
                      </a:pPr>
                      <a:r>
                        <a:t>0.2220</a:t>
                      </a:r>
                    </a:p>
                  </a:txBody>
                  <a:tcPr marL="0" marR="0" marT="0" marB="0">
                    <a:solidFill>
                      <a:srgbClr val="FFFFFF"/>
                    </a:solidFill>
                  </a:tcPr>
                </a:tc>
              </a:tr>
              <a:tr h="306592">
                <a:tc>
                  <a:txBody>
                    <a:bodyPr/>
                    <a:lstStyle/>
                    <a:p>
                      <a:pPr>
                        <a:defRPr sz="700">
                          <a:solidFill>
                            <a:srgbClr val="0F172A"/>
                          </a:solidFill>
                          <a:latin typeface="Arial"/>
                        </a:defRPr>
                      </a:pPr>
                      <a:r>
                        <a:t>KNNBasic</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0.5840</a:t>
                      </a:r>
                    </a:p>
                  </a:txBody>
                  <a:tcPr marL="0" marR="0" marT="0" marB="0">
                    <a:solidFill>
                      <a:srgbClr val="FFFFFF"/>
                    </a:solidFill>
                  </a:tcPr>
                </a:tc>
                <a:tc>
                  <a:txBody>
                    <a:bodyPr/>
                    <a:lstStyle/>
                    <a:p>
                      <a:pPr>
                        <a:defRPr sz="700">
                          <a:solidFill>
                            <a:srgbClr val="0F172A"/>
                          </a:solidFill>
                          <a:latin typeface="Arial"/>
                        </a:defRPr>
                      </a:pPr>
                      <a:r>
                        <a:t>0.3480</a:t>
                      </a:r>
                    </a:p>
                  </a:txBody>
                  <a:tcPr marL="0" marR="0" marT="0" marB="0">
                    <a:solidFill>
                      <a:srgbClr val="FFFFFF"/>
                    </a:solidFill>
                  </a:tcPr>
                </a:tc>
                <a:tc>
                  <a:txBody>
                    <a:bodyPr/>
                    <a:lstStyle/>
                    <a:p>
                      <a:pPr>
                        <a:defRPr sz="700">
                          <a:solidFill>
                            <a:srgbClr val="0F172A"/>
                          </a:solidFill>
                          <a:latin typeface="Arial"/>
                        </a:defRPr>
                      </a:pPr>
                      <a:r>
                        <a:t>0.3956</a:t>
                      </a:r>
                    </a:p>
                  </a:txBody>
                  <a:tcPr marL="0" marR="0" marT="0" marB="0">
                    <a:solidFill>
                      <a:srgbClr val="FFFFFF"/>
                    </a:solidFill>
                  </a:tcPr>
                </a:tc>
                <a:tc>
                  <a:txBody>
                    <a:bodyPr/>
                    <a:lstStyle/>
                    <a:p>
                      <a:pPr>
                        <a:defRPr sz="700">
                          <a:solidFill>
                            <a:srgbClr val="0F172A"/>
                          </a:solidFill>
                          <a:latin typeface="Arial"/>
                        </a:defRPr>
                      </a:pPr>
                      <a:r>
                        <a:t>0.0358</a:t>
                      </a:r>
                    </a:p>
                  </a:txBody>
                  <a:tcPr marL="0" marR="0" marT="0" marB="0">
                    <a:solidFill>
                      <a:srgbClr val="FFFFFF"/>
                    </a:solidFill>
                  </a:tcPr>
                </a:tc>
                <a:tc>
                  <a:txBody>
                    <a:bodyPr/>
                    <a:lstStyle/>
                    <a:p>
                      <a:pPr>
                        <a:defRPr sz="700">
                          <a:solidFill>
                            <a:srgbClr val="0F172A"/>
                          </a:solidFill>
                          <a:latin typeface="Arial"/>
                        </a:defRPr>
                      </a:pPr>
                      <a:r>
                        <a:t>0.0652</a:t>
                      </a:r>
                    </a:p>
                  </a:txBody>
                  <a:tcPr marL="0" marR="0" marT="0" marB="0">
                    <a:solidFill>
                      <a:srgbClr val="FFFFFF"/>
                    </a:solidFill>
                  </a:tcPr>
                </a:tc>
              </a:tr>
              <a:tr h="306592">
                <a:tc>
                  <a:txBody>
                    <a:bodyPr/>
                    <a:lstStyle/>
                    <a:p>
                      <a:pPr>
                        <a:defRPr sz="700">
                          <a:solidFill>
                            <a:srgbClr val="0F172A"/>
                          </a:solidFill>
                          <a:latin typeface="Arial"/>
                        </a:defRPr>
                      </a:pPr>
                      <a:r>
                        <a:t>KNNWithMeans</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0.6018</a:t>
                      </a:r>
                    </a:p>
                  </a:txBody>
                  <a:tcPr marL="0" marR="0" marT="0" marB="0">
                    <a:solidFill>
                      <a:srgbClr val="FFFFFF"/>
                    </a:solidFill>
                  </a:tcPr>
                </a:tc>
                <a:tc>
                  <a:txBody>
                    <a:bodyPr/>
                    <a:lstStyle/>
                    <a:p>
                      <a:pPr>
                        <a:defRPr sz="700">
                          <a:solidFill>
                            <a:srgbClr val="0F172A"/>
                          </a:solidFill>
                          <a:latin typeface="Arial"/>
                        </a:defRPr>
                      </a:pPr>
                      <a:r>
                        <a:t>0.3683</a:t>
                      </a:r>
                    </a:p>
                  </a:txBody>
                  <a:tcPr marL="0" marR="0" marT="0" marB="0">
                    <a:solidFill>
                      <a:srgbClr val="FFFFFF"/>
                    </a:solidFill>
                  </a:tcPr>
                </a:tc>
                <a:tc>
                  <a:txBody>
                    <a:bodyPr/>
                    <a:lstStyle/>
                    <a:p>
                      <a:pPr>
                        <a:defRPr sz="700">
                          <a:solidFill>
                            <a:srgbClr val="0F172A"/>
                          </a:solidFill>
                          <a:latin typeface="Arial"/>
                        </a:defRPr>
                      </a:pPr>
                      <a:r>
                        <a:t>0.3764</a:t>
                      </a:r>
                    </a:p>
                  </a:txBody>
                  <a:tcPr marL="0" marR="0" marT="0" marB="0">
                    <a:solidFill>
                      <a:srgbClr val="FFFFFF"/>
                    </a:solidFill>
                  </a:tcPr>
                </a:tc>
                <a:tc>
                  <a:txBody>
                    <a:bodyPr/>
                    <a:lstStyle/>
                    <a:p>
                      <a:pPr>
                        <a:defRPr sz="700">
                          <a:solidFill>
                            <a:srgbClr val="0F172A"/>
                          </a:solidFill>
                          <a:latin typeface="Arial"/>
                        </a:defRPr>
                      </a:pPr>
                      <a:r>
                        <a:t>0.9255</a:t>
                      </a:r>
                    </a:p>
                  </a:txBody>
                  <a:tcPr marL="0" marR="0" marT="0" marB="0">
                    <a:solidFill>
                      <a:srgbClr val="FFFFFF"/>
                    </a:solidFill>
                  </a:tcPr>
                </a:tc>
                <a:tc>
                  <a:txBody>
                    <a:bodyPr/>
                    <a:lstStyle/>
                    <a:p>
                      <a:pPr>
                        <a:defRPr sz="700">
                          <a:solidFill>
                            <a:srgbClr val="0F172A"/>
                          </a:solidFill>
                          <a:latin typeface="Arial"/>
                        </a:defRPr>
                      </a:pPr>
                      <a:r>
                        <a:t>0.2232</a:t>
                      </a:r>
                    </a:p>
                  </a:txBody>
                  <a:tcPr marL="0" marR="0" marT="0" marB="0">
                    <a:solidFill>
                      <a:srgbClr val="FFFFFF"/>
                    </a:solidFill>
                  </a:tcPr>
                </a:tc>
              </a:tr>
              <a:tr h="306592">
                <a:tc>
                  <a:txBody>
                    <a:bodyPr/>
                    <a:lstStyle/>
                    <a:p>
                      <a:pPr>
                        <a:defRPr sz="700">
                          <a:solidFill>
                            <a:srgbClr val="0F172A"/>
                          </a:solidFill>
                          <a:latin typeface="Arial"/>
                        </a:defRPr>
                      </a:pPr>
                      <a:r>
                        <a:t>KNNWithMeans</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True</a:t>
                      </a:r>
                    </a:p>
                  </a:txBody>
                  <a:tcPr marL="0" marR="0" marT="0" marB="0">
                    <a:solidFill>
                      <a:srgbClr val="FFFFFF"/>
                    </a:solidFill>
                  </a:tcPr>
                </a:tc>
                <a:tc>
                  <a:txBody>
                    <a:bodyPr/>
                    <a:lstStyle/>
                    <a:p>
                      <a:pPr>
                        <a:defRPr sz="700">
                          <a:solidFill>
                            <a:srgbClr val="0F172A"/>
                          </a:solidFill>
                          <a:latin typeface="Arial"/>
                        </a:defRPr>
                      </a:pPr>
                      <a:r>
                        <a:t>0.5404</a:t>
                      </a:r>
                    </a:p>
                  </a:txBody>
                  <a:tcPr marL="0" marR="0" marT="0" marB="0">
                    <a:solidFill>
                      <a:srgbClr val="FFFFFF"/>
                    </a:solidFill>
                  </a:tcPr>
                </a:tc>
                <a:tc>
                  <a:txBody>
                    <a:bodyPr/>
                    <a:lstStyle/>
                    <a:p>
                      <a:pPr>
                        <a:defRPr sz="700">
                          <a:solidFill>
                            <a:srgbClr val="0F172A"/>
                          </a:solidFill>
                          <a:latin typeface="Arial"/>
                        </a:defRPr>
                      </a:pPr>
                      <a:r>
                        <a:t>0.2982</a:t>
                      </a:r>
                    </a:p>
                  </a:txBody>
                  <a:tcPr marL="0" marR="0" marT="0" marB="0">
                    <a:solidFill>
                      <a:srgbClr val="FFFFFF"/>
                    </a:solidFill>
                  </a:tcPr>
                </a:tc>
                <a:tc>
                  <a:txBody>
                    <a:bodyPr/>
                    <a:lstStyle/>
                    <a:p>
                      <a:pPr>
                        <a:defRPr sz="700">
                          <a:solidFill>
                            <a:srgbClr val="0F172A"/>
                          </a:solidFill>
                          <a:latin typeface="Arial"/>
                        </a:defRPr>
                      </a:pPr>
                      <a:r>
                        <a:t>0.3487</a:t>
                      </a:r>
                    </a:p>
                  </a:txBody>
                  <a:tcPr marL="0" marR="0" marT="0" marB="0">
                    <a:solidFill>
                      <a:srgbClr val="FFFFFF"/>
                    </a:solidFill>
                  </a:tcPr>
                </a:tc>
                <a:tc>
                  <a:txBody>
                    <a:bodyPr/>
                    <a:lstStyle/>
                    <a:p>
                      <a:pPr>
                        <a:defRPr sz="700">
                          <a:solidFill>
                            <a:srgbClr val="0F172A"/>
                          </a:solidFill>
                          <a:latin typeface="Arial"/>
                        </a:defRPr>
                      </a:pPr>
                      <a:r>
                        <a:t>0.0420</a:t>
                      </a:r>
                    </a:p>
                  </a:txBody>
                  <a:tcPr marL="0" marR="0" marT="0" marB="0">
                    <a:solidFill>
                      <a:srgbClr val="FFFFFF"/>
                    </a:solidFill>
                  </a:tcPr>
                </a:tc>
                <a:tc>
                  <a:txBody>
                    <a:bodyPr/>
                    <a:lstStyle/>
                    <a:p>
                      <a:pPr>
                        <a:defRPr sz="700">
                          <a:solidFill>
                            <a:srgbClr val="0F172A"/>
                          </a:solidFill>
                          <a:latin typeface="Arial"/>
                        </a:defRPr>
                      </a:pPr>
                      <a:r>
                        <a:t>0.0723</a:t>
                      </a:r>
                    </a:p>
                  </a:txBody>
                  <a:tcPr marL="0" marR="0" marT="0" marB="0">
                    <a:solidFill>
                      <a:srgbClr val="FFFFFF"/>
                    </a:solidFill>
                  </a:tcPr>
                </a:tc>
              </a:tr>
              <a:tr h="306592">
                <a:tc>
                  <a:txBody>
                    <a:bodyPr/>
                    <a:lstStyle/>
                    <a:p>
                      <a:pPr>
                        <a:defRPr sz="700">
                          <a:solidFill>
                            <a:srgbClr val="0F172A"/>
                          </a:solidFill>
                          <a:latin typeface="Arial"/>
                        </a:defRPr>
                      </a:pPr>
                      <a:r>
                        <a:t>KNNWithZScore</a:t>
                      </a:r>
                    </a:p>
                  </a:txBody>
                  <a:tcPr marL="0" marR="0" marT="0" marB="0">
                    <a:solidFill>
                      <a:srgbClr val="FFFFFF"/>
                    </a:solidFill>
                  </a:tcPr>
                </a:tc>
                <a:tc>
                  <a:txBody>
                    <a:bodyPr/>
                    <a:lstStyle/>
                    <a:p>
                      <a:pPr>
                        <a:defRPr sz="700">
                          <a:solidFill>
                            <a:srgbClr val="0F172A"/>
                          </a:solidFill>
                          <a:latin typeface="Arial"/>
                        </a:defRPr>
                      </a:pPr>
                      <a:r>
                        <a:t>User</a:t>
                      </a:r>
                    </a:p>
                  </a:txBody>
                  <a:tcPr marL="0" marR="0" marT="0" marB="0">
                    <a:solidFill>
                      <a:srgbClr val="FFFFFF"/>
                    </a:solidFill>
                  </a:tcPr>
                </a:tc>
                <a:tc>
                  <a:txBody>
                    <a:bodyPr/>
                    <a:lstStyle/>
                    <a:p>
                      <a:pPr>
                        <a:defRPr sz="700">
                          <a:solidFill>
                            <a:srgbClr val="0F172A"/>
                          </a:solidFill>
                          <a:latin typeface="Arial"/>
                        </a:defRPr>
                      </a:pPr>
                      <a:r>
                        <a:t>False</a:t>
                      </a:r>
                    </a:p>
                  </a:txBody>
                  <a:tcPr marL="0" marR="0" marT="0" marB="0">
                    <a:solidFill>
                      <a:srgbClr val="FFFFFF"/>
                    </a:solidFill>
                  </a:tcPr>
                </a:tc>
                <a:tc>
                  <a:txBody>
                    <a:bodyPr/>
                    <a:lstStyle/>
                    <a:p>
                      <a:pPr>
                        <a:defRPr sz="700">
                          <a:solidFill>
                            <a:srgbClr val="0F172A"/>
                          </a:solidFill>
                          <a:latin typeface="Arial"/>
                        </a:defRPr>
                      </a:pPr>
                      <a:r>
                        <a:t>0.6061</a:t>
                      </a:r>
                    </a:p>
                  </a:txBody>
                  <a:tcPr marL="0" marR="0" marT="0" marB="0">
                    <a:solidFill>
                      <a:srgbClr val="FFFFFF"/>
                    </a:solidFill>
                  </a:tcPr>
                </a:tc>
                <a:tc>
                  <a:txBody>
                    <a:bodyPr/>
                    <a:lstStyle/>
                    <a:p>
                      <a:pPr>
                        <a:defRPr sz="700">
                          <a:solidFill>
                            <a:srgbClr val="0F172A"/>
                          </a:solidFill>
                          <a:latin typeface="Arial"/>
                        </a:defRPr>
                      </a:pPr>
                      <a:r>
                        <a:t>0.3735</a:t>
                      </a:r>
                    </a:p>
                  </a:txBody>
                  <a:tcPr marL="0" marR="0" marT="0" marB="0">
                    <a:solidFill>
                      <a:srgbClr val="FFFFFF"/>
                    </a:solidFill>
                  </a:tcPr>
                </a:tc>
                <a:tc>
                  <a:txBody>
                    <a:bodyPr/>
                    <a:lstStyle/>
                    <a:p>
                      <a:pPr>
                        <a:defRPr sz="700">
                          <a:solidFill>
                            <a:srgbClr val="0F172A"/>
                          </a:solidFill>
                          <a:latin typeface="Arial"/>
                        </a:defRPr>
                      </a:pPr>
                      <a:r>
                        <a:t>0.3768</a:t>
                      </a:r>
                    </a:p>
                  </a:txBody>
                  <a:tcPr marL="0" marR="0" marT="0" marB="0">
                    <a:solidFill>
                      <a:srgbClr val="FFFFFF"/>
                    </a:solidFill>
                  </a:tcPr>
                </a:tc>
                <a:tc>
                  <a:txBody>
                    <a:bodyPr/>
                    <a:lstStyle/>
                    <a:p>
                      <a:pPr>
                        <a:defRPr sz="700">
                          <a:solidFill>
                            <a:srgbClr val="0F172A"/>
                          </a:solidFill>
                          <a:latin typeface="Arial"/>
                        </a:defRPr>
                      </a:pPr>
                      <a:r>
                        <a:t>1.0081</a:t>
                      </a:r>
                    </a:p>
                  </a:txBody>
                  <a:tcPr marL="0" marR="0" marT="0" marB="0">
                    <a:solidFill>
                      <a:srgbClr val="FFFFFF"/>
                    </a:solidFill>
                  </a:tcPr>
                </a:tc>
                <a:tc>
                  <a:txBody>
                    <a:bodyPr/>
                    <a:lstStyle/>
                    <a:p>
                      <a:pPr>
                        <a:defRPr sz="700">
                          <a:solidFill>
                            <a:srgbClr val="0F172A"/>
                          </a:solidFill>
                          <a:latin typeface="Arial"/>
                        </a:defRPr>
                      </a:pPr>
                      <a:r>
                        <a:t>0.2353</a:t>
                      </a:r>
                    </a:p>
                  </a:txBody>
                  <a:tcPr marL="0" marR="0" marT="0" marB="0">
                    <a:solidFill>
                      <a:srgbClr val="FFFFFF"/>
                    </a:solidFill>
                  </a:tcPr>
                </a:tc>
              </a:tr>
              <a:tr h="306608">
                <a:tc>
                  <a:txBody>
                    <a:bodyPr/>
                    <a:lstStyle/>
                    <a:p>
                      <a:pPr>
                        <a:defRPr sz="700">
                          <a:solidFill>
                            <a:srgbClr val="0F172A"/>
                          </a:solidFill>
                          <a:latin typeface="Arial"/>
                        </a:defRPr>
                      </a:pPr>
                      <a:r>
                        <a:t>KNNWithZScore</a:t>
                      </a:r>
                    </a:p>
                  </a:txBody>
                  <a:tcPr marL="0" marR="0" marT="0" marB="0">
                    <a:solidFill>
                      <a:srgbClr val="E0F2FE"/>
                    </a:solidFill>
                  </a:tcPr>
                </a:tc>
                <a:tc>
                  <a:txBody>
                    <a:bodyPr/>
                    <a:lstStyle/>
                    <a:p>
                      <a:pPr>
                        <a:defRPr sz="700">
                          <a:solidFill>
                            <a:srgbClr val="0F172A"/>
                          </a:solidFill>
                          <a:latin typeface="Arial"/>
                        </a:defRPr>
                      </a:pPr>
                      <a:r>
                        <a:t>User</a:t>
                      </a:r>
                    </a:p>
                  </a:txBody>
                  <a:tcPr marL="0" marR="0" marT="0" marB="0">
                    <a:solidFill>
                      <a:srgbClr val="E0F2FE"/>
                    </a:solidFill>
                  </a:tcPr>
                </a:tc>
                <a:tc>
                  <a:txBody>
                    <a:bodyPr/>
                    <a:lstStyle/>
                    <a:p>
                      <a:pPr>
                        <a:defRPr sz="700">
                          <a:solidFill>
                            <a:srgbClr val="0F172A"/>
                          </a:solidFill>
                          <a:latin typeface="Arial"/>
                        </a:defRPr>
                      </a:pPr>
                      <a:r>
                        <a:t>True</a:t>
                      </a:r>
                    </a:p>
                  </a:txBody>
                  <a:tcPr marL="0" marR="0" marT="0" marB="0">
                    <a:solidFill>
                      <a:srgbClr val="E0F2FE"/>
                    </a:solidFill>
                  </a:tcPr>
                </a:tc>
                <a:tc>
                  <a:txBody>
                    <a:bodyPr/>
                    <a:lstStyle/>
                    <a:p>
                      <a:pPr>
                        <a:defRPr sz="700">
                          <a:solidFill>
                            <a:srgbClr val="0F172A"/>
                          </a:solidFill>
                          <a:latin typeface="Arial"/>
                        </a:defRPr>
                      </a:pPr>
                      <a:r>
                        <a:t>0.5428</a:t>
                      </a:r>
                    </a:p>
                  </a:txBody>
                  <a:tcPr marL="0" marR="0" marT="0" marB="0">
                    <a:solidFill>
                      <a:srgbClr val="E0F2FE"/>
                    </a:solidFill>
                  </a:tcPr>
                </a:tc>
                <a:tc>
                  <a:txBody>
                    <a:bodyPr/>
                    <a:lstStyle/>
                    <a:p>
                      <a:pPr>
                        <a:defRPr sz="700">
                          <a:solidFill>
                            <a:srgbClr val="0F172A"/>
                          </a:solidFill>
                          <a:latin typeface="Arial"/>
                        </a:defRPr>
                      </a:pPr>
                      <a:r>
                        <a:t>0.3008</a:t>
                      </a:r>
                    </a:p>
                  </a:txBody>
                  <a:tcPr marL="0" marR="0" marT="0" marB="0">
                    <a:solidFill>
                      <a:srgbClr val="E0F2FE"/>
                    </a:solidFill>
                  </a:tcPr>
                </a:tc>
                <a:tc>
                  <a:txBody>
                    <a:bodyPr/>
                    <a:lstStyle/>
                    <a:p>
                      <a:pPr>
                        <a:defRPr sz="700">
                          <a:solidFill>
                            <a:srgbClr val="0F172A"/>
                          </a:solidFill>
                          <a:latin typeface="Arial"/>
                        </a:defRPr>
                      </a:pPr>
                      <a:r>
                        <a:t>0.3451</a:t>
                      </a:r>
                    </a:p>
                  </a:txBody>
                  <a:tcPr marL="0" marR="0" marT="0" marB="0">
                    <a:solidFill>
                      <a:srgbClr val="E0F2FE"/>
                    </a:solidFill>
                  </a:tcPr>
                </a:tc>
                <a:tc>
                  <a:txBody>
                    <a:bodyPr/>
                    <a:lstStyle/>
                    <a:p>
                      <a:pPr>
                        <a:defRPr sz="700">
                          <a:solidFill>
                            <a:srgbClr val="0F172A"/>
                          </a:solidFill>
                          <a:latin typeface="Arial"/>
                        </a:defRPr>
                      </a:pPr>
                      <a:r>
                        <a:t>0.0450</a:t>
                      </a:r>
                    </a:p>
                  </a:txBody>
                  <a:tcPr marL="0" marR="0" marT="0" marB="0">
                    <a:solidFill>
                      <a:srgbClr val="E0F2FE"/>
                    </a:solidFill>
                  </a:tcPr>
                </a:tc>
                <a:tc>
                  <a:txBody>
                    <a:bodyPr/>
                    <a:lstStyle/>
                    <a:p>
                      <a:pPr>
                        <a:defRPr sz="700">
                          <a:solidFill>
                            <a:srgbClr val="0F172A"/>
                          </a:solidFill>
                          <a:latin typeface="Arial"/>
                        </a:defRPr>
                      </a:pPr>
                      <a:r>
                        <a:t>0.0756</a:t>
                      </a:r>
                    </a:p>
                  </a:txBody>
                  <a:tcPr marL="0" marR="0" marT="0" marB="0">
                    <a:solidFill>
                      <a:srgbClr val="E0F2F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COMPARATIVE CASE STUDY</a:t>
            </a:r>
          </a:p>
          <a:p>
            <a:pPr>
              <a:defRPr sz="2600" b="1">
                <a:solidFill>
                  <a:srgbClr val="0F172A"/>
                </a:solidFill>
                <a:latin typeface="Arial"/>
              </a:defRPr>
            </a:pPr>
            <a:r>
              <a:t>Results: SVD vs Cluster Based Recommendations</a:t>
            </a:r>
          </a:p>
        </p:txBody>
      </p:sp>
      <p:sp>
        <p:nvSpPr>
          <p:cNvPr id="4" name="TextBox 3"/>
          <p:cNvSpPr txBox="1"/>
          <p:nvPr/>
        </p:nvSpPr>
        <p:spPr>
          <a:xfrm>
            <a:off x="731520" y="1188720"/>
            <a:ext cx="5120640" cy="365760"/>
          </a:xfrm>
          <a:prstGeom prst="rect">
            <a:avLst/>
          </a:prstGeom>
          <a:noFill/>
        </p:spPr>
        <p:txBody>
          <a:bodyPr wrap="none">
            <a:spAutoFit/>
          </a:bodyPr>
          <a:lstStyle/>
          <a:p>
            <a:pPr>
              <a:defRPr sz="1400" b="1">
                <a:solidFill>
                  <a:srgbClr val="0F172A"/>
                </a:solidFill>
                <a:latin typeface="Arial"/>
              </a:defRPr>
            </a:pPr>
            <a:r>
              <a:t>Optimized SVD Model</a:t>
            </a:r>
          </a:p>
        </p:txBody>
      </p:sp>
      <p:sp>
        <p:nvSpPr>
          <p:cNvPr id="5" name="TextBox 4"/>
          <p:cNvSpPr txBox="1"/>
          <p:nvPr/>
        </p:nvSpPr>
        <p:spPr>
          <a:xfrm>
            <a:off x="731520" y="1508760"/>
            <a:ext cx="5120640" cy="320040"/>
          </a:xfrm>
          <a:prstGeom prst="rect">
            <a:avLst/>
          </a:prstGeom>
          <a:noFill/>
        </p:spPr>
        <p:txBody>
          <a:bodyPr wrap="none">
            <a:spAutoFit/>
          </a:bodyPr>
          <a:lstStyle/>
          <a:p>
            <a:pPr>
              <a:defRPr sz="1050">
                <a:solidFill>
                  <a:srgbClr val="475569"/>
                </a:solidFill>
                <a:latin typeface="Arial"/>
              </a:defRPr>
            </a:pPr>
            <a:r>
              <a:t>Top 10 recommended recipes for user 173579:</a:t>
            </a:r>
          </a:p>
        </p:txBody>
      </p:sp>
      <p:graphicFrame>
        <p:nvGraphicFramePr>
          <p:cNvPr id="6" name="Table 5"/>
          <p:cNvGraphicFramePr>
            <a:graphicFrameLocks noGrp="1"/>
          </p:cNvGraphicFramePr>
          <p:nvPr/>
        </p:nvGraphicFramePr>
        <p:xfrm>
          <a:off x="731520" y="1874519"/>
          <a:ext cx="5120640" cy="4297680"/>
        </p:xfrm>
        <a:graphic>
          <a:graphicData uri="http://schemas.openxmlformats.org/drawingml/2006/table">
            <a:tbl>
              <a:tblPr firstRow="1" bandRow="1">
                <a:tableStyleId>{5C22544A-7EE6-4342-B048-85BDC9FD1C3A}</a:tableStyleId>
              </a:tblPr>
              <a:tblGrid>
                <a:gridCol w="365760"/>
                <a:gridCol w="2926080"/>
                <a:gridCol w="1097280"/>
                <a:gridCol w="731520"/>
              </a:tblGrid>
              <a:tr h="390698">
                <a:tc>
                  <a:txBody>
                    <a:bodyPr/>
                    <a:lstStyle/>
                    <a:p>
                      <a:pPr>
                        <a:defRPr sz="850" b="1">
                          <a:solidFill>
                            <a:srgbClr val="0F172A"/>
                          </a:solidFill>
                          <a:latin typeface="Arial"/>
                        </a:defRPr>
                      </a:pPr>
                    </a:p>
                  </a:txBody>
                  <a:tcPr marL="36576" marR="36576">
                    <a:solidFill>
                      <a:srgbClr val="F8FAFC"/>
                    </a:solidFill>
                  </a:tcPr>
                </a:tc>
                <a:tc>
                  <a:txBody>
                    <a:bodyPr/>
                    <a:lstStyle/>
                    <a:p>
                      <a:pPr>
                        <a:defRPr sz="850" b="1">
                          <a:solidFill>
                            <a:srgbClr val="0F172A"/>
                          </a:solidFill>
                          <a:latin typeface="Arial"/>
                        </a:defRPr>
                      </a:pPr>
                      <a:r>
                        <a:t>Name</a:t>
                      </a:r>
                    </a:p>
                  </a:txBody>
                  <a:tcPr marL="36576" marR="36576">
                    <a:solidFill>
                      <a:srgbClr val="F8FAFC"/>
                    </a:solidFill>
                  </a:tcPr>
                </a:tc>
                <a:tc>
                  <a:txBody>
                    <a:bodyPr/>
                    <a:lstStyle/>
                    <a:p>
                      <a:pPr>
                        <a:defRPr sz="850" b="1">
                          <a:solidFill>
                            <a:srgbClr val="0F172A"/>
                          </a:solidFill>
                          <a:latin typeface="Arial"/>
                        </a:defRPr>
                      </a:pPr>
                      <a:r>
                        <a:t>Type</a:t>
                      </a:r>
                    </a:p>
                  </a:txBody>
                  <a:tcPr marL="36576" marR="36576">
                    <a:solidFill>
                      <a:srgbClr val="F8FAFC"/>
                    </a:solidFill>
                  </a:tcPr>
                </a:tc>
                <a:tc>
                  <a:txBody>
                    <a:bodyPr/>
                    <a:lstStyle/>
                    <a:p>
                      <a:pPr>
                        <a:defRPr sz="850" b="1">
                          <a:solidFill>
                            <a:srgbClr val="0F172A"/>
                          </a:solidFill>
                          <a:latin typeface="Arial"/>
                        </a:defRPr>
                      </a:pPr>
                      <a:r>
                        <a:t>Ratings</a:t>
                      </a:r>
                    </a:p>
                  </a:txBody>
                  <a:tcPr marL="36576" marR="36576">
                    <a:solidFill>
                      <a:srgbClr val="F8FAFC"/>
                    </a:solidFill>
                  </a:tcPr>
                </a:tc>
              </a:tr>
              <a:tr h="390698">
                <a:tc>
                  <a:txBody>
                    <a:bodyPr/>
                    <a:lstStyle/>
                    <a:p>
                      <a:pPr>
                        <a:defRPr sz="800">
                          <a:solidFill>
                            <a:srgbClr val="0F172A"/>
                          </a:solidFill>
                          <a:latin typeface="Arial"/>
                        </a:defRPr>
                      </a:pPr>
                      <a:r>
                        <a:t>0</a:t>
                      </a:r>
                    </a:p>
                  </a:txBody>
                  <a:tcPr marL="36576" marR="36576">
                    <a:solidFill>
                      <a:srgbClr val="FFFFFF"/>
                    </a:solidFill>
                  </a:tcPr>
                </a:tc>
                <a:tc>
                  <a:txBody>
                    <a:bodyPr/>
                    <a:lstStyle/>
                    <a:p>
                      <a:pPr>
                        <a:defRPr sz="800">
                          <a:solidFill>
                            <a:srgbClr val="0F172A"/>
                          </a:solidFill>
                          <a:latin typeface="Arial"/>
                        </a:defRPr>
                      </a:pPr>
                      <a:r>
                        <a:t>50 whole wheat bread</a:t>
                      </a:r>
                    </a:p>
                  </a:txBody>
                  <a:tcPr marL="36576" marR="36576">
                    <a:solidFill>
                      <a:srgbClr val="FFFFFF"/>
                    </a:solidFill>
                  </a:tcPr>
                </a:tc>
                <a:tc>
                  <a:txBody>
                    <a:bodyPr/>
                    <a:lstStyle/>
                    <a:p>
                      <a:pPr>
                        <a:defRPr sz="800">
                          <a:solidFill>
                            <a:srgbClr val="0F172A"/>
                          </a:solidFill>
                          <a:latin typeface="Arial"/>
                        </a:defRPr>
                      </a:pPr>
                      <a:r>
                        <a:t>breads</a:t>
                      </a:r>
                    </a:p>
                  </a:txBody>
                  <a:tcPr marL="36576" marR="36576">
                    <a:solidFill>
                      <a:srgbClr val="FFFFFF"/>
                    </a:solidFill>
                  </a:tcPr>
                </a:tc>
                <a:tc>
                  <a:txBody>
                    <a:bodyPr/>
                    <a:lstStyle/>
                    <a:p>
                      <a:pPr>
                        <a:defRPr sz="800">
                          <a:solidFill>
                            <a:srgbClr val="0F172A"/>
                          </a:solidFill>
                          <a:latin typeface="Arial"/>
                        </a:defRPr>
                      </a:pPr>
                      <a:r>
                        <a:t>4.94</a:t>
                      </a:r>
                    </a:p>
                  </a:txBody>
                  <a:tcPr marL="36576" marR="36576">
                    <a:solidFill>
                      <a:srgbClr val="FFFFFF"/>
                    </a:solidFill>
                  </a:tcPr>
                </a:tc>
              </a:tr>
              <a:tr h="390698">
                <a:tc>
                  <a:txBody>
                    <a:bodyPr/>
                    <a:lstStyle/>
                    <a:p>
                      <a:pPr>
                        <a:defRPr sz="800">
                          <a:solidFill>
                            <a:srgbClr val="0F172A"/>
                          </a:solidFill>
                          <a:latin typeface="Arial"/>
                        </a:defRPr>
                      </a:pPr>
                      <a:r>
                        <a:t>1</a:t>
                      </a:r>
                    </a:p>
                  </a:txBody>
                  <a:tcPr marL="36576" marR="36576">
                    <a:solidFill>
                      <a:srgbClr val="FFFFFF"/>
                    </a:solidFill>
                  </a:tcPr>
                </a:tc>
                <a:tc>
                  <a:txBody>
                    <a:bodyPr/>
                    <a:lstStyle/>
                    <a:p>
                      <a:pPr>
                        <a:defRPr sz="800">
                          <a:solidFill>
                            <a:srgbClr val="0F172A"/>
                          </a:solidFill>
                          <a:latin typeface="Arial"/>
                        </a:defRPr>
                      </a:pPr>
                      <a:r>
                        <a:t>baby pacifiers shower favors</a:t>
                      </a:r>
                    </a:p>
                  </a:txBody>
                  <a:tcPr marL="36576" marR="36576">
                    <a:solidFill>
                      <a:srgbClr val="FFFFFF"/>
                    </a:solidFill>
                  </a:tcPr>
                </a:tc>
                <a:tc>
                  <a:txBody>
                    <a:bodyPr/>
                    <a:lstStyle/>
                    <a:p>
                      <a:pPr>
                        <a:defRPr sz="800">
                          <a:solidFill>
                            <a:srgbClr val="0F172A"/>
                          </a:solidFill>
                          <a:latin typeface="Arial"/>
                        </a:defRPr>
                      </a:pPr>
                      <a:r>
                        <a:t>None</a:t>
                      </a:r>
                    </a:p>
                  </a:txBody>
                  <a:tcPr marL="36576" marR="36576">
                    <a:solidFill>
                      <a:srgbClr val="FFFFFF"/>
                    </a:solidFill>
                  </a:tcPr>
                </a:tc>
                <a:tc>
                  <a:txBody>
                    <a:bodyPr/>
                    <a:lstStyle/>
                    <a:p>
                      <a:pPr>
                        <a:defRPr sz="800">
                          <a:solidFill>
                            <a:srgbClr val="0F172A"/>
                          </a:solidFill>
                          <a:latin typeface="Arial"/>
                        </a:defRPr>
                      </a:pPr>
                      <a:r>
                        <a:t>4.94</a:t>
                      </a:r>
                    </a:p>
                  </a:txBody>
                  <a:tcPr marL="36576" marR="36576">
                    <a:solidFill>
                      <a:srgbClr val="FFFFFF"/>
                    </a:solidFill>
                  </a:tcPr>
                </a:tc>
              </a:tr>
              <a:tr h="390698">
                <a:tc>
                  <a:txBody>
                    <a:bodyPr/>
                    <a:lstStyle/>
                    <a:p>
                      <a:pPr>
                        <a:defRPr sz="800">
                          <a:solidFill>
                            <a:srgbClr val="0F172A"/>
                          </a:solidFill>
                          <a:latin typeface="Arial"/>
                        </a:defRPr>
                      </a:pPr>
                      <a:r>
                        <a:t>2</a:t>
                      </a:r>
                    </a:p>
                  </a:txBody>
                  <a:tcPr marL="36576" marR="36576">
                    <a:solidFill>
                      <a:srgbClr val="FFFFFF"/>
                    </a:solidFill>
                  </a:tcPr>
                </a:tc>
                <a:tc>
                  <a:txBody>
                    <a:bodyPr/>
                    <a:lstStyle/>
                    <a:p>
                      <a:pPr>
                        <a:defRPr sz="800">
                          <a:solidFill>
                            <a:srgbClr val="0F172A"/>
                          </a:solidFill>
                          <a:latin typeface="Arial"/>
                        </a:defRPr>
                      </a:pPr>
                      <a:r>
                        <a:t>grilled balsamic asparagus</a:t>
                      </a:r>
                    </a:p>
                  </a:txBody>
                  <a:tcPr marL="36576" marR="36576">
                    <a:solidFill>
                      <a:srgbClr val="FFFFFF"/>
                    </a:solidFill>
                  </a:tcPr>
                </a:tc>
                <a:tc>
                  <a:txBody>
                    <a:bodyPr/>
                    <a:lstStyle/>
                    <a:p>
                      <a:pPr>
                        <a:defRPr sz="800">
                          <a:solidFill>
                            <a:srgbClr val="0F172A"/>
                          </a:solidFill>
                          <a:latin typeface="Arial"/>
                        </a:defRPr>
                      </a:pPr>
                      <a:r>
                        <a:t>side dishes</a:t>
                      </a:r>
                    </a:p>
                  </a:txBody>
                  <a:tcPr marL="36576" marR="36576">
                    <a:solidFill>
                      <a:srgbClr val="FFFFFF"/>
                    </a:solidFill>
                  </a:tcPr>
                </a:tc>
                <a:tc>
                  <a:txBody>
                    <a:bodyPr/>
                    <a:lstStyle/>
                    <a:p>
                      <a:pPr>
                        <a:defRPr sz="800">
                          <a:solidFill>
                            <a:srgbClr val="0F172A"/>
                          </a:solidFill>
                          <a:latin typeface="Arial"/>
                        </a:defRPr>
                      </a:pPr>
                      <a:r>
                        <a:t>4.94</a:t>
                      </a:r>
                    </a:p>
                  </a:txBody>
                  <a:tcPr marL="36576" marR="36576">
                    <a:solidFill>
                      <a:srgbClr val="FFFFFF"/>
                    </a:solidFill>
                  </a:tcPr>
                </a:tc>
              </a:tr>
              <a:tr h="390698">
                <a:tc>
                  <a:txBody>
                    <a:bodyPr/>
                    <a:lstStyle/>
                    <a:p>
                      <a:pPr>
                        <a:defRPr sz="800">
                          <a:solidFill>
                            <a:srgbClr val="0F172A"/>
                          </a:solidFill>
                          <a:latin typeface="Arial"/>
                        </a:defRPr>
                      </a:pPr>
                      <a:r>
                        <a:t>3</a:t>
                      </a:r>
                    </a:p>
                  </a:txBody>
                  <a:tcPr marL="36576" marR="36576">
                    <a:solidFill>
                      <a:srgbClr val="FFFFFF"/>
                    </a:solidFill>
                  </a:tcPr>
                </a:tc>
                <a:tc>
                  <a:txBody>
                    <a:bodyPr/>
                    <a:lstStyle/>
                    <a:p>
                      <a:pPr>
                        <a:defRPr sz="800">
                          <a:solidFill>
                            <a:srgbClr val="0F172A"/>
                          </a:solidFill>
                          <a:latin typeface="Arial"/>
                        </a:defRPr>
                      </a:pPr>
                      <a:r>
                        <a:t>grilled pork chops marinade</a:t>
                      </a:r>
                    </a:p>
                  </a:txBody>
                  <a:tcPr marL="36576" marR="36576">
                    <a:solidFill>
                      <a:srgbClr val="FFFFFF"/>
                    </a:solidFill>
                  </a:tcPr>
                </a:tc>
                <a:tc>
                  <a:txBody>
                    <a:bodyPr/>
                    <a:lstStyle/>
                    <a:p>
                      <a:pPr>
                        <a:defRPr sz="800">
                          <a:solidFill>
                            <a:srgbClr val="0F172A"/>
                          </a:solidFill>
                          <a:latin typeface="Arial"/>
                        </a:defRPr>
                      </a:pPr>
                      <a:r>
                        <a:t>main dish</a:t>
                      </a:r>
                    </a:p>
                  </a:txBody>
                  <a:tcPr marL="36576" marR="36576">
                    <a:solidFill>
                      <a:srgbClr val="FFFFFF"/>
                    </a:solidFill>
                  </a:tcPr>
                </a:tc>
                <a:tc>
                  <a:txBody>
                    <a:bodyPr/>
                    <a:lstStyle/>
                    <a:p>
                      <a:pPr>
                        <a:defRPr sz="800">
                          <a:solidFill>
                            <a:srgbClr val="0F172A"/>
                          </a:solidFill>
                          <a:latin typeface="Arial"/>
                        </a:defRPr>
                      </a:pPr>
                      <a:r>
                        <a:t>4.92</a:t>
                      </a:r>
                    </a:p>
                  </a:txBody>
                  <a:tcPr marL="36576" marR="36576">
                    <a:solidFill>
                      <a:srgbClr val="FFFFFF"/>
                    </a:solidFill>
                  </a:tcPr>
                </a:tc>
              </a:tr>
              <a:tr h="390698">
                <a:tc>
                  <a:txBody>
                    <a:bodyPr/>
                    <a:lstStyle/>
                    <a:p>
                      <a:pPr>
                        <a:defRPr sz="800">
                          <a:solidFill>
                            <a:srgbClr val="0F172A"/>
                          </a:solidFill>
                          <a:latin typeface="Arial"/>
                        </a:defRPr>
                      </a:pPr>
                      <a:r>
                        <a:t>4</a:t>
                      </a:r>
                    </a:p>
                  </a:txBody>
                  <a:tcPr marL="36576" marR="36576">
                    <a:solidFill>
                      <a:srgbClr val="FFFFFF"/>
                    </a:solidFill>
                  </a:tcPr>
                </a:tc>
                <a:tc>
                  <a:txBody>
                    <a:bodyPr/>
                    <a:lstStyle/>
                    <a:p>
                      <a:pPr>
                        <a:defRPr sz="800">
                          <a:solidFill>
                            <a:srgbClr val="0F172A"/>
                          </a:solidFill>
                          <a:latin typeface="Arial"/>
                        </a:defRPr>
                      </a:pPr>
                      <a:r>
                        <a:t>key west key lime cake</a:t>
                      </a:r>
                    </a:p>
                  </a:txBody>
                  <a:tcPr marL="36576" marR="36576">
                    <a:solidFill>
                      <a:srgbClr val="FFFFFF"/>
                    </a:solidFill>
                  </a:tcPr>
                </a:tc>
                <a:tc>
                  <a:txBody>
                    <a:bodyPr/>
                    <a:lstStyle/>
                    <a:p>
                      <a:pPr>
                        <a:defRPr sz="800">
                          <a:solidFill>
                            <a:srgbClr val="0F172A"/>
                          </a:solidFill>
                          <a:latin typeface="Arial"/>
                        </a:defRPr>
                      </a:pPr>
                      <a:r>
                        <a:t>desserts</a:t>
                      </a:r>
                    </a:p>
                  </a:txBody>
                  <a:tcPr marL="36576" marR="36576">
                    <a:solidFill>
                      <a:srgbClr val="FFFFFF"/>
                    </a:solidFill>
                  </a:tcPr>
                </a:tc>
                <a:tc>
                  <a:txBody>
                    <a:bodyPr/>
                    <a:lstStyle/>
                    <a:p>
                      <a:pPr>
                        <a:defRPr sz="800">
                          <a:solidFill>
                            <a:srgbClr val="0F172A"/>
                          </a:solidFill>
                          <a:latin typeface="Arial"/>
                        </a:defRPr>
                      </a:pPr>
                      <a:r>
                        <a:t>4.91</a:t>
                      </a:r>
                    </a:p>
                  </a:txBody>
                  <a:tcPr marL="36576" marR="36576">
                    <a:solidFill>
                      <a:srgbClr val="FFFFFF"/>
                    </a:solidFill>
                  </a:tcPr>
                </a:tc>
              </a:tr>
              <a:tr h="390698">
                <a:tc>
                  <a:txBody>
                    <a:bodyPr/>
                    <a:lstStyle/>
                    <a:p>
                      <a:pPr>
                        <a:defRPr sz="800">
                          <a:solidFill>
                            <a:srgbClr val="0F172A"/>
                          </a:solidFill>
                          <a:latin typeface="Arial"/>
                        </a:defRPr>
                      </a:pPr>
                      <a:r>
                        <a:t>5</a:t>
                      </a:r>
                    </a:p>
                  </a:txBody>
                  <a:tcPr marL="36576" marR="36576">
                    <a:solidFill>
                      <a:srgbClr val="FFFFFF"/>
                    </a:solidFill>
                  </a:tcPr>
                </a:tc>
                <a:tc>
                  <a:txBody>
                    <a:bodyPr/>
                    <a:lstStyle/>
                    <a:p>
                      <a:pPr>
                        <a:defRPr sz="800">
                          <a:solidFill>
                            <a:srgbClr val="0F172A"/>
                          </a:solidFill>
                          <a:latin typeface="Arial"/>
                        </a:defRPr>
                      </a:pPr>
                      <a:r>
                        <a:t>kittencal s strawberry shortcake</a:t>
                      </a:r>
                    </a:p>
                  </a:txBody>
                  <a:tcPr marL="36576" marR="36576">
                    <a:solidFill>
                      <a:srgbClr val="FFFFFF"/>
                    </a:solidFill>
                  </a:tcPr>
                </a:tc>
                <a:tc>
                  <a:txBody>
                    <a:bodyPr/>
                    <a:lstStyle/>
                    <a:p>
                      <a:pPr>
                        <a:defRPr sz="800">
                          <a:solidFill>
                            <a:srgbClr val="0F172A"/>
                          </a:solidFill>
                          <a:latin typeface="Arial"/>
                        </a:defRPr>
                      </a:pPr>
                      <a:r>
                        <a:t>desserts</a:t>
                      </a:r>
                    </a:p>
                  </a:txBody>
                  <a:tcPr marL="36576" marR="36576">
                    <a:solidFill>
                      <a:srgbClr val="FFFFFF"/>
                    </a:solidFill>
                  </a:tcPr>
                </a:tc>
                <a:tc>
                  <a:txBody>
                    <a:bodyPr/>
                    <a:lstStyle/>
                    <a:p>
                      <a:pPr>
                        <a:defRPr sz="800">
                          <a:solidFill>
                            <a:srgbClr val="0F172A"/>
                          </a:solidFill>
                          <a:latin typeface="Arial"/>
                        </a:defRPr>
                      </a:pPr>
                      <a:r>
                        <a:t>4.91</a:t>
                      </a:r>
                    </a:p>
                  </a:txBody>
                  <a:tcPr marL="36576" marR="36576">
                    <a:solidFill>
                      <a:srgbClr val="FFFFFF"/>
                    </a:solidFill>
                  </a:tcPr>
                </a:tc>
              </a:tr>
              <a:tr h="390698">
                <a:tc>
                  <a:txBody>
                    <a:bodyPr/>
                    <a:lstStyle/>
                    <a:p>
                      <a:pPr>
                        <a:defRPr sz="800">
                          <a:solidFill>
                            <a:srgbClr val="0F172A"/>
                          </a:solidFill>
                          <a:latin typeface="Arial"/>
                        </a:defRPr>
                      </a:pPr>
                      <a:r>
                        <a:t>6</a:t>
                      </a:r>
                    </a:p>
                  </a:txBody>
                  <a:tcPr marL="36576" marR="36576">
                    <a:solidFill>
                      <a:srgbClr val="FFFFFF"/>
                    </a:solidFill>
                  </a:tcPr>
                </a:tc>
                <a:tc>
                  <a:txBody>
                    <a:bodyPr/>
                    <a:lstStyle/>
                    <a:p>
                      <a:pPr>
                        <a:defRPr sz="800">
                          <a:solidFill>
                            <a:srgbClr val="0F172A"/>
                          </a:solidFill>
                          <a:latin typeface="Arial"/>
                        </a:defRPr>
                      </a:pPr>
                      <a:r>
                        <a:t>melt in your mouth pumpkin bread</a:t>
                      </a:r>
                    </a:p>
                  </a:txBody>
                  <a:tcPr marL="36576" marR="36576">
                    <a:solidFill>
                      <a:srgbClr val="FFFFFF"/>
                    </a:solidFill>
                  </a:tcPr>
                </a:tc>
                <a:tc>
                  <a:txBody>
                    <a:bodyPr/>
                    <a:lstStyle/>
                    <a:p>
                      <a:pPr>
                        <a:defRPr sz="800">
                          <a:solidFill>
                            <a:srgbClr val="0F172A"/>
                          </a:solidFill>
                          <a:latin typeface="Arial"/>
                        </a:defRPr>
                      </a:pPr>
                      <a:r>
                        <a:t>lunch</a:t>
                      </a:r>
                    </a:p>
                  </a:txBody>
                  <a:tcPr marL="36576" marR="36576">
                    <a:solidFill>
                      <a:srgbClr val="FFFFFF"/>
                    </a:solidFill>
                  </a:tcPr>
                </a:tc>
                <a:tc>
                  <a:txBody>
                    <a:bodyPr/>
                    <a:lstStyle/>
                    <a:p>
                      <a:pPr>
                        <a:defRPr sz="800">
                          <a:solidFill>
                            <a:srgbClr val="0F172A"/>
                          </a:solidFill>
                          <a:latin typeface="Arial"/>
                        </a:defRPr>
                      </a:pPr>
                      <a:r>
                        <a:t>4.91</a:t>
                      </a:r>
                    </a:p>
                  </a:txBody>
                  <a:tcPr marL="36576" marR="36576">
                    <a:solidFill>
                      <a:srgbClr val="FFFFFF"/>
                    </a:solidFill>
                  </a:tcPr>
                </a:tc>
              </a:tr>
              <a:tr h="390698">
                <a:tc>
                  <a:txBody>
                    <a:bodyPr/>
                    <a:lstStyle/>
                    <a:p>
                      <a:pPr>
                        <a:defRPr sz="800">
                          <a:solidFill>
                            <a:srgbClr val="0F172A"/>
                          </a:solidFill>
                          <a:latin typeface="Arial"/>
                        </a:defRPr>
                      </a:pPr>
                      <a:r>
                        <a:t>7</a:t>
                      </a:r>
                    </a:p>
                  </a:txBody>
                  <a:tcPr marL="36576" marR="36576">
                    <a:solidFill>
                      <a:srgbClr val="FFFFFF"/>
                    </a:solidFill>
                  </a:tcPr>
                </a:tc>
                <a:tc>
                  <a:txBody>
                    <a:bodyPr/>
                    <a:lstStyle/>
                    <a:p>
                      <a:pPr>
                        <a:defRPr sz="800">
                          <a:solidFill>
                            <a:srgbClr val="0F172A"/>
                          </a:solidFill>
                          <a:latin typeface="Arial"/>
                        </a:defRPr>
                      </a:pPr>
                      <a:r>
                        <a:t>sticky soy wings</a:t>
                      </a:r>
                    </a:p>
                  </a:txBody>
                  <a:tcPr marL="36576" marR="36576">
                    <a:solidFill>
                      <a:srgbClr val="FFFFFF"/>
                    </a:solidFill>
                  </a:tcPr>
                </a:tc>
                <a:tc>
                  <a:txBody>
                    <a:bodyPr/>
                    <a:lstStyle/>
                    <a:p>
                      <a:pPr>
                        <a:defRPr sz="800">
                          <a:solidFill>
                            <a:srgbClr val="0F172A"/>
                          </a:solidFill>
                          <a:latin typeface="Arial"/>
                        </a:defRPr>
                      </a:pPr>
                      <a:r>
                        <a:t>appetizers</a:t>
                      </a:r>
                    </a:p>
                  </a:txBody>
                  <a:tcPr marL="36576" marR="36576">
                    <a:solidFill>
                      <a:srgbClr val="FFFFFF"/>
                    </a:solidFill>
                  </a:tcPr>
                </a:tc>
                <a:tc>
                  <a:txBody>
                    <a:bodyPr/>
                    <a:lstStyle/>
                    <a:p>
                      <a:pPr>
                        <a:defRPr sz="800">
                          <a:solidFill>
                            <a:srgbClr val="0F172A"/>
                          </a:solidFill>
                          <a:latin typeface="Arial"/>
                        </a:defRPr>
                      </a:pPr>
                      <a:r>
                        <a:t>4.89</a:t>
                      </a:r>
                    </a:p>
                  </a:txBody>
                  <a:tcPr marL="36576" marR="36576">
                    <a:solidFill>
                      <a:srgbClr val="FFFFFF"/>
                    </a:solidFill>
                  </a:tcPr>
                </a:tc>
              </a:tr>
              <a:tr h="390698">
                <a:tc>
                  <a:txBody>
                    <a:bodyPr/>
                    <a:lstStyle/>
                    <a:p>
                      <a:pPr>
                        <a:defRPr sz="800">
                          <a:solidFill>
                            <a:srgbClr val="0F172A"/>
                          </a:solidFill>
                          <a:latin typeface="Arial"/>
                        </a:defRPr>
                      </a:pPr>
                      <a:r>
                        <a:t>8</a:t>
                      </a:r>
                    </a:p>
                  </a:txBody>
                  <a:tcPr marL="36576" marR="36576">
                    <a:solidFill>
                      <a:srgbClr val="FFFFFF"/>
                    </a:solidFill>
                  </a:tcPr>
                </a:tc>
                <a:tc>
                  <a:txBody>
                    <a:bodyPr/>
                    <a:lstStyle/>
                    <a:p>
                      <a:pPr>
                        <a:defRPr sz="800">
                          <a:solidFill>
                            <a:srgbClr val="0F172A"/>
                          </a:solidFill>
                          <a:latin typeface="Arial"/>
                        </a:defRPr>
                      </a:pPr>
                      <a:r>
                        <a:t>stove top mac n cheese by alton brown</a:t>
                      </a:r>
                    </a:p>
                  </a:txBody>
                  <a:tcPr marL="36576" marR="36576">
                    <a:solidFill>
                      <a:srgbClr val="FFFFFF"/>
                    </a:solidFill>
                  </a:tcPr>
                </a:tc>
                <a:tc>
                  <a:txBody>
                    <a:bodyPr/>
                    <a:lstStyle/>
                    <a:p>
                      <a:pPr>
                        <a:defRPr sz="800">
                          <a:solidFill>
                            <a:srgbClr val="0F172A"/>
                          </a:solidFill>
                          <a:latin typeface="Arial"/>
                        </a:defRPr>
                      </a:pPr>
                      <a:r>
                        <a:t>side dishes</a:t>
                      </a:r>
                    </a:p>
                  </a:txBody>
                  <a:tcPr marL="36576" marR="36576">
                    <a:solidFill>
                      <a:srgbClr val="FFFFFF"/>
                    </a:solidFill>
                  </a:tcPr>
                </a:tc>
                <a:tc>
                  <a:txBody>
                    <a:bodyPr/>
                    <a:lstStyle/>
                    <a:p>
                      <a:pPr>
                        <a:defRPr sz="800">
                          <a:solidFill>
                            <a:srgbClr val="0F172A"/>
                          </a:solidFill>
                          <a:latin typeface="Arial"/>
                        </a:defRPr>
                      </a:pPr>
                      <a:r>
                        <a:t>4.89</a:t>
                      </a:r>
                    </a:p>
                  </a:txBody>
                  <a:tcPr marL="36576" marR="36576">
                    <a:solidFill>
                      <a:srgbClr val="FFFFFF"/>
                    </a:solidFill>
                  </a:tcPr>
                </a:tc>
              </a:tr>
              <a:tr h="390700">
                <a:tc>
                  <a:txBody>
                    <a:bodyPr/>
                    <a:lstStyle/>
                    <a:p>
                      <a:pPr>
                        <a:defRPr sz="800">
                          <a:solidFill>
                            <a:srgbClr val="0F172A"/>
                          </a:solidFill>
                          <a:latin typeface="Arial"/>
                        </a:defRPr>
                      </a:pPr>
                      <a:r>
                        <a:t>9</a:t>
                      </a:r>
                    </a:p>
                  </a:txBody>
                  <a:tcPr marL="36576" marR="36576">
                    <a:solidFill>
                      <a:srgbClr val="FFFFFF"/>
                    </a:solidFill>
                  </a:tcPr>
                </a:tc>
                <a:tc>
                  <a:txBody>
                    <a:bodyPr/>
                    <a:lstStyle/>
                    <a:p>
                      <a:pPr>
                        <a:defRPr sz="800">
                          <a:solidFill>
                            <a:srgbClr val="0F172A"/>
                          </a:solidFill>
                          <a:latin typeface="Arial"/>
                        </a:defRPr>
                      </a:pPr>
                      <a:r>
                        <a:t>the ultimate lemon meringue pie</a:t>
                      </a:r>
                    </a:p>
                  </a:txBody>
                  <a:tcPr marL="36576" marR="36576">
                    <a:solidFill>
                      <a:srgbClr val="FFFFFF"/>
                    </a:solidFill>
                  </a:tcPr>
                </a:tc>
                <a:tc>
                  <a:txBody>
                    <a:bodyPr/>
                    <a:lstStyle/>
                    <a:p>
                      <a:pPr>
                        <a:defRPr sz="800">
                          <a:solidFill>
                            <a:srgbClr val="0F172A"/>
                          </a:solidFill>
                          <a:latin typeface="Arial"/>
                        </a:defRPr>
                      </a:pPr>
                      <a:r>
                        <a:t>desserts</a:t>
                      </a:r>
                    </a:p>
                  </a:txBody>
                  <a:tcPr marL="36576" marR="36576">
                    <a:solidFill>
                      <a:srgbClr val="FFFFFF"/>
                    </a:solidFill>
                  </a:tcPr>
                </a:tc>
                <a:tc>
                  <a:txBody>
                    <a:bodyPr/>
                    <a:lstStyle/>
                    <a:p>
                      <a:pPr>
                        <a:defRPr sz="800">
                          <a:solidFill>
                            <a:srgbClr val="0F172A"/>
                          </a:solidFill>
                          <a:latin typeface="Arial"/>
                        </a:defRPr>
                      </a:pPr>
                      <a:r>
                        <a:t>4.89</a:t>
                      </a:r>
                    </a:p>
                  </a:txBody>
                  <a:tcPr marL="36576" marR="36576">
                    <a:solidFill>
                      <a:srgbClr val="FFFFFF"/>
                    </a:solidFill>
                  </a:tcPr>
                </a:tc>
              </a:tr>
            </a:tbl>
          </a:graphicData>
        </a:graphic>
      </p:graphicFrame>
      <p:sp>
        <p:nvSpPr>
          <p:cNvPr id="7" name="TextBox 6"/>
          <p:cNvSpPr txBox="1"/>
          <p:nvPr/>
        </p:nvSpPr>
        <p:spPr>
          <a:xfrm>
            <a:off x="6217920" y="1188720"/>
            <a:ext cx="5212080" cy="365760"/>
          </a:xfrm>
          <a:prstGeom prst="rect">
            <a:avLst/>
          </a:prstGeom>
          <a:noFill/>
        </p:spPr>
        <p:txBody>
          <a:bodyPr wrap="none">
            <a:spAutoFit/>
          </a:bodyPr>
          <a:lstStyle/>
          <a:p>
            <a:pPr>
              <a:defRPr sz="1400" b="1">
                <a:solidFill>
                  <a:srgbClr val="0F172A"/>
                </a:solidFill>
                <a:latin typeface="Arial"/>
              </a:defRPr>
            </a:pPr>
            <a:r>
              <a:t>Cluster Based Approach</a:t>
            </a:r>
          </a:p>
        </p:txBody>
      </p:sp>
      <p:sp>
        <p:nvSpPr>
          <p:cNvPr id="8" name="TextBox 7"/>
          <p:cNvSpPr txBox="1"/>
          <p:nvPr/>
        </p:nvSpPr>
        <p:spPr>
          <a:xfrm>
            <a:off x="6217920" y="1508760"/>
            <a:ext cx="5212080" cy="320040"/>
          </a:xfrm>
          <a:prstGeom prst="rect">
            <a:avLst/>
          </a:prstGeom>
          <a:noFill/>
        </p:spPr>
        <p:txBody>
          <a:bodyPr wrap="none">
            <a:spAutoFit/>
          </a:bodyPr>
          <a:lstStyle/>
          <a:p>
            <a:pPr>
              <a:defRPr sz="1050">
                <a:solidFill>
                  <a:srgbClr val="475569"/>
                </a:solidFill>
                <a:latin typeface="Arial"/>
              </a:defRPr>
            </a:pPr>
            <a:r>
              <a:t>Top 10 recommended recipes for user 173579:</a:t>
            </a:r>
          </a:p>
        </p:txBody>
      </p:sp>
      <p:graphicFrame>
        <p:nvGraphicFramePr>
          <p:cNvPr id="9" name="Table 8"/>
          <p:cNvGraphicFramePr>
            <a:graphicFrameLocks noGrp="1"/>
          </p:cNvGraphicFramePr>
          <p:nvPr/>
        </p:nvGraphicFramePr>
        <p:xfrm>
          <a:off x="6217920" y="1874519"/>
          <a:ext cx="5212080" cy="4297680"/>
        </p:xfrm>
        <a:graphic>
          <a:graphicData uri="http://schemas.openxmlformats.org/drawingml/2006/table">
            <a:tbl>
              <a:tblPr firstRow="1" bandRow="1">
                <a:tableStyleId>{5C22544A-7EE6-4342-B048-85BDC9FD1C3A}</a:tableStyleId>
              </a:tblPr>
              <a:tblGrid>
                <a:gridCol w="365760"/>
                <a:gridCol w="3566160"/>
                <a:gridCol w="1280160"/>
              </a:tblGrid>
              <a:tr h="390698">
                <a:tc>
                  <a:txBody>
                    <a:bodyPr/>
                    <a:lstStyle/>
                    <a:p>
                      <a:pPr>
                        <a:defRPr sz="850" b="1">
                          <a:solidFill>
                            <a:srgbClr val="0F172A"/>
                          </a:solidFill>
                          <a:latin typeface="Arial"/>
                        </a:defRPr>
                      </a:pPr>
                    </a:p>
                  </a:txBody>
                  <a:tcPr marL="36576" marR="36576">
                    <a:solidFill>
                      <a:srgbClr val="F8FAFC"/>
                    </a:solidFill>
                  </a:tcPr>
                </a:tc>
                <a:tc>
                  <a:txBody>
                    <a:bodyPr/>
                    <a:lstStyle/>
                    <a:p>
                      <a:pPr>
                        <a:defRPr sz="850" b="1">
                          <a:solidFill>
                            <a:srgbClr val="0F172A"/>
                          </a:solidFill>
                          <a:latin typeface="Arial"/>
                        </a:defRPr>
                      </a:pPr>
                      <a:r>
                        <a:t>name</a:t>
                      </a:r>
                    </a:p>
                  </a:txBody>
                  <a:tcPr marL="36576" marR="36576">
                    <a:solidFill>
                      <a:srgbClr val="F8FAFC"/>
                    </a:solidFill>
                  </a:tcPr>
                </a:tc>
                <a:tc>
                  <a:txBody>
                    <a:bodyPr/>
                    <a:lstStyle/>
                    <a:p>
                      <a:pPr>
                        <a:defRPr sz="850" b="1">
                          <a:solidFill>
                            <a:srgbClr val="0F172A"/>
                          </a:solidFill>
                          <a:latin typeface="Arial"/>
                        </a:defRPr>
                      </a:pPr>
                      <a:r>
                        <a:t>meal_type</a:t>
                      </a:r>
                    </a:p>
                  </a:txBody>
                  <a:tcPr marL="36576" marR="36576">
                    <a:solidFill>
                      <a:srgbClr val="F8FAFC"/>
                    </a:solidFill>
                  </a:tcPr>
                </a:tc>
              </a:tr>
              <a:tr h="390698">
                <a:tc>
                  <a:txBody>
                    <a:bodyPr/>
                    <a:lstStyle/>
                    <a:p>
                      <a:pPr>
                        <a:defRPr sz="800">
                          <a:solidFill>
                            <a:srgbClr val="0F172A"/>
                          </a:solidFill>
                          <a:latin typeface="Arial"/>
                        </a:defRPr>
                      </a:pPr>
                      <a:r>
                        <a:t>0</a:t>
                      </a:r>
                    </a:p>
                  </a:txBody>
                  <a:tcPr marL="36576" marR="36576">
                    <a:solidFill>
                      <a:srgbClr val="FFFFFF"/>
                    </a:solidFill>
                  </a:tcPr>
                </a:tc>
                <a:tc>
                  <a:txBody>
                    <a:bodyPr/>
                    <a:lstStyle/>
                    <a:p>
                      <a:pPr>
                        <a:defRPr sz="800">
                          <a:solidFill>
                            <a:srgbClr val="0F172A"/>
                          </a:solidFill>
                          <a:latin typeface="Arial"/>
                        </a:defRPr>
                      </a:pPr>
                      <a:r>
                        <a:t>bacon parmesan brussels sprouts</a:t>
                      </a:r>
                    </a:p>
                  </a:txBody>
                  <a:tcPr marL="36576" marR="36576">
                    <a:solidFill>
                      <a:srgbClr val="FFFFFF"/>
                    </a:solidFill>
                  </a:tcPr>
                </a:tc>
                <a:tc>
                  <a:txBody>
                    <a:bodyPr/>
                    <a:lstStyle/>
                    <a:p>
                      <a:pPr>
                        <a:defRPr sz="800">
                          <a:solidFill>
                            <a:srgbClr val="0F172A"/>
                          </a:solidFill>
                          <a:latin typeface="Arial"/>
                        </a:defRPr>
                      </a:pPr>
                      <a:r>
                        <a:t>vegetables</a:t>
                      </a:r>
                    </a:p>
                  </a:txBody>
                  <a:tcPr marL="36576" marR="36576">
                    <a:solidFill>
                      <a:srgbClr val="FFFFFF"/>
                    </a:solidFill>
                  </a:tcPr>
                </a:tc>
              </a:tr>
              <a:tr h="390698">
                <a:tc>
                  <a:txBody>
                    <a:bodyPr/>
                    <a:lstStyle/>
                    <a:p>
                      <a:pPr>
                        <a:defRPr sz="800">
                          <a:solidFill>
                            <a:srgbClr val="0F172A"/>
                          </a:solidFill>
                          <a:latin typeface="Arial"/>
                        </a:defRPr>
                      </a:pPr>
                      <a:r>
                        <a:t>1</a:t>
                      </a:r>
                    </a:p>
                  </a:txBody>
                  <a:tcPr marL="36576" marR="36576">
                    <a:solidFill>
                      <a:srgbClr val="FFFFFF"/>
                    </a:solidFill>
                  </a:tcPr>
                </a:tc>
                <a:tc>
                  <a:txBody>
                    <a:bodyPr/>
                    <a:lstStyle/>
                    <a:p>
                      <a:pPr>
                        <a:defRPr sz="800">
                          <a:solidFill>
                            <a:srgbClr val="0F172A"/>
                          </a:solidFill>
                          <a:latin typeface="Arial"/>
                        </a:defRPr>
                      </a:pPr>
                      <a:r>
                        <a:t>baklava salmon salmon with honey butter walnuts and mustard</a:t>
                      </a:r>
                    </a:p>
                  </a:txBody>
                  <a:tcPr marL="36576" marR="36576">
                    <a:solidFill>
                      <a:srgbClr val="FFFFFF"/>
                    </a:solidFill>
                  </a:tcPr>
                </a:tc>
                <a:tc>
                  <a:txBody>
                    <a:bodyPr/>
                    <a:lstStyle/>
                    <a:p>
                      <a:pPr>
                        <a:defRPr sz="800">
                          <a:solidFill>
                            <a:srgbClr val="0F172A"/>
                          </a:solidFill>
                          <a:latin typeface="Arial"/>
                        </a:defRPr>
                      </a:pPr>
                      <a:r>
                        <a:t>main dish</a:t>
                      </a:r>
                    </a:p>
                  </a:txBody>
                  <a:tcPr marL="36576" marR="36576">
                    <a:solidFill>
                      <a:srgbClr val="FFFFFF"/>
                    </a:solidFill>
                  </a:tcPr>
                </a:tc>
              </a:tr>
              <a:tr h="390698">
                <a:tc>
                  <a:txBody>
                    <a:bodyPr/>
                    <a:lstStyle/>
                    <a:p>
                      <a:pPr>
                        <a:defRPr sz="800">
                          <a:solidFill>
                            <a:srgbClr val="0F172A"/>
                          </a:solidFill>
                          <a:latin typeface="Arial"/>
                        </a:defRPr>
                      </a:pPr>
                      <a:r>
                        <a:t>2</a:t>
                      </a:r>
                    </a:p>
                  </a:txBody>
                  <a:tcPr marL="36576" marR="36576">
                    <a:solidFill>
                      <a:srgbClr val="FFFFFF"/>
                    </a:solidFill>
                  </a:tcPr>
                </a:tc>
                <a:tc>
                  <a:txBody>
                    <a:bodyPr/>
                    <a:lstStyle/>
                    <a:p>
                      <a:pPr>
                        <a:defRPr sz="800">
                          <a:solidFill>
                            <a:srgbClr val="0F172A"/>
                          </a:solidFill>
                          <a:latin typeface="Arial"/>
                        </a:defRPr>
                      </a:pPr>
                      <a:r>
                        <a:t>calzone bread machine</a:t>
                      </a:r>
                    </a:p>
                  </a:txBody>
                  <a:tcPr marL="36576" marR="36576">
                    <a:solidFill>
                      <a:srgbClr val="FFFFFF"/>
                    </a:solidFill>
                  </a:tcPr>
                </a:tc>
                <a:tc>
                  <a:txBody>
                    <a:bodyPr/>
                    <a:lstStyle/>
                    <a:p>
                      <a:pPr>
                        <a:defRPr sz="800">
                          <a:solidFill>
                            <a:srgbClr val="0F172A"/>
                          </a:solidFill>
                          <a:latin typeface="Arial"/>
                        </a:defRPr>
                      </a:pPr>
                      <a:r>
                        <a:t>main dish</a:t>
                      </a:r>
                    </a:p>
                  </a:txBody>
                  <a:tcPr marL="36576" marR="36576">
                    <a:solidFill>
                      <a:srgbClr val="FFFFFF"/>
                    </a:solidFill>
                  </a:tcPr>
                </a:tc>
              </a:tr>
              <a:tr h="390698">
                <a:tc>
                  <a:txBody>
                    <a:bodyPr/>
                    <a:lstStyle/>
                    <a:p>
                      <a:pPr>
                        <a:defRPr sz="800">
                          <a:solidFill>
                            <a:srgbClr val="0F172A"/>
                          </a:solidFill>
                          <a:latin typeface="Arial"/>
                        </a:defRPr>
                      </a:pPr>
                      <a:r>
                        <a:t>3</a:t>
                      </a:r>
                    </a:p>
                  </a:txBody>
                  <a:tcPr marL="36576" marR="36576">
                    <a:solidFill>
                      <a:srgbClr val="FFFFFF"/>
                    </a:solidFill>
                  </a:tcPr>
                </a:tc>
                <a:tc>
                  <a:txBody>
                    <a:bodyPr/>
                    <a:lstStyle/>
                    <a:p>
                      <a:pPr>
                        <a:defRPr sz="800">
                          <a:solidFill>
                            <a:srgbClr val="0F172A"/>
                          </a:solidFill>
                          <a:latin typeface="Arial"/>
                        </a:defRPr>
                      </a:pPr>
                      <a:r>
                        <a:t>country sausage gravy</a:t>
                      </a:r>
                    </a:p>
                  </a:txBody>
                  <a:tcPr marL="36576" marR="36576">
                    <a:solidFill>
                      <a:srgbClr val="FFFFFF"/>
                    </a:solidFill>
                  </a:tcPr>
                </a:tc>
                <a:tc>
                  <a:txBody>
                    <a:bodyPr/>
                    <a:lstStyle/>
                    <a:p>
                      <a:pPr>
                        <a:defRPr sz="800">
                          <a:solidFill>
                            <a:srgbClr val="0F172A"/>
                          </a:solidFill>
                          <a:latin typeface="Arial"/>
                        </a:defRPr>
                      </a:pPr>
                      <a:r>
                        <a:t>lunch</a:t>
                      </a:r>
                    </a:p>
                  </a:txBody>
                  <a:tcPr marL="36576" marR="36576">
                    <a:solidFill>
                      <a:srgbClr val="FFFFFF"/>
                    </a:solidFill>
                  </a:tcPr>
                </a:tc>
              </a:tr>
              <a:tr h="390698">
                <a:tc>
                  <a:txBody>
                    <a:bodyPr/>
                    <a:lstStyle/>
                    <a:p>
                      <a:pPr>
                        <a:defRPr sz="800">
                          <a:solidFill>
                            <a:srgbClr val="0F172A"/>
                          </a:solidFill>
                          <a:latin typeface="Arial"/>
                        </a:defRPr>
                      </a:pPr>
                      <a:r>
                        <a:t>4</a:t>
                      </a:r>
                    </a:p>
                  </a:txBody>
                  <a:tcPr marL="36576" marR="36576">
                    <a:solidFill>
                      <a:srgbClr val="FFFFFF"/>
                    </a:solidFill>
                  </a:tcPr>
                </a:tc>
                <a:tc>
                  <a:txBody>
                    <a:bodyPr/>
                    <a:lstStyle/>
                    <a:p>
                      <a:pPr>
                        <a:defRPr sz="800">
                          <a:solidFill>
                            <a:srgbClr val="0F172A"/>
                          </a:solidFill>
                          <a:latin typeface="Arial"/>
                        </a:defRPr>
                      </a:pPr>
                      <a:r>
                        <a:t>edna s apple crumble aka apple crisp</a:t>
                      </a:r>
                    </a:p>
                  </a:txBody>
                  <a:tcPr marL="36576" marR="36576">
                    <a:solidFill>
                      <a:srgbClr val="FFFFFF"/>
                    </a:solidFill>
                  </a:tcPr>
                </a:tc>
                <a:tc>
                  <a:txBody>
                    <a:bodyPr/>
                    <a:lstStyle/>
                    <a:p>
                      <a:pPr>
                        <a:defRPr sz="800">
                          <a:solidFill>
                            <a:srgbClr val="0F172A"/>
                          </a:solidFill>
                          <a:latin typeface="Arial"/>
                        </a:defRPr>
                      </a:pPr>
                      <a:r>
                        <a:t>desserts</a:t>
                      </a:r>
                    </a:p>
                  </a:txBody>
                  <a:tcPr marL="36576" marR="36576">
                    <a:solidFill>
                      <a:srgbClr val="FFFFFF"/>
                    </a:solidFill>
                  </a:tcPr>
                </a:tc>
              </a:tr>
              <a:tr h="390698">
                <a:tc>
                  <a:txBody>
                    <a:bodyPr/>
                    <a:lstStyle/>
                    <a:p>
                      <a:pPr>
                        <a:defRPr sz="800">
                          <a:solidFill>
                            <a:srgbClr val="0F172A"/>
                          </a:solidFill>
                          <a:latin typeface="Arial"/>
                        </a:defRPr>
                      </a:pPr>
                      <a:r>
                        <a:t>5</a:t>
                      </a:r>
                    </a:p>
                  </a:txBody>
                  <a:tcPr marL="36576" marR="36576">
                    <a:solidFill>
                      <a:srgbClr val="FFFFFF"/>
                    </a:solidFill>
                  </a:tcPr>
                </a:tc>
                <a:tc>
                  <a:txBody>
                    <a:bodyPr/>
                    <a:lstStyle/>
                    <a:p>
                      <a:pPr>
                        <a:defRPr sz="800">
                          <a:solidFill>
                            <a:srgbClr val="0F172A"/>
                          </a:solidFill>
                          <a:latin typeface="Arial"/>
                        </a:defRPr>
                      </a:pPr>
                      <a:r>
                        <a:t>parmesan crusted broiled scallops</a:t>
                      </a:r>
                    </a:p>
                  </a:txBody>
                  <a:tcPr marL="36576" marR="36576">
                    <a:solidFill>
                      <a:srgbClr val="FFFFFF"/>
                    </a:solidFill>
                  </a:tcPr>
                </a:tc>
                <a:tc>
                  <a:txBody>
                    <a:bodyPr/>
                    <a:lstStyle/>
                    <a:p>
                      <a:pPr>
                        <a:defRPr sz="800">
                          <a:solidFill>
                            <a:srgbClr val="0F172A"/>
                          </a:solidFill>
                          <a:latin typeface="Arial"/>
                        </a:defRPr>
                      </a:pPr>
                      <a:r>
                        <a:t>main dish</a:t>
                      </a:r>
                    </a:p>
                  </a:txBody>
                  <a:tcPr marL="36576" marR="36576">
                    <a:solidFill>
                      <a:srgbClr val="FFFFFF"/>
                    </a:solidFill>
                  </a:tcPr>
                </a:tc>
              </a:tr>
              <a:tr h="390698">
                <a:tc>
                  <a:txBody>
                    <a:bodyPr/>
                    <a:lstStyle/>
                    <a:p>
                      <a:pPr>
                        <a:defRPr sz="800">
                          <a:solidFill>
                            <a:srgbClr val="0F172A"/>
                          </a:solidFill>
                          <a:latin typeface="Arial"/>
                        </a:defRPr>
                      </a:pPr>
                      <a:r>
                        <a:t>6</a:t>
                      </a:r>
                    </a:p>
                  </a:txBody>
                  <a:tcPr marL="36576" marR="36576">
                    <a:solidFill>
                      <a:srgbClr val="FFFFFF"/>
                    </a:solidFill>
                  </a:tcPr>
                </a:tc>
                <a:tc>
                  <a:txBody>
                    <a:bodyPr/>
                    <a:lstStyle/>
                    <a:p>
                      <a:pPr>
                        <a:defRPr sz="800">
                          <a:solidFill>
                            <a:srgbClr val="0F172A"/>
                          </a:solidFill>
                          <a:latin typeface="Arial"/>
                        </a:defRPr>
                      </a:pPr>
                      <a:r>
                        <a:t>quick and easy salsa with black beans and corn</a:t>
                      </a:r>
                    </a:p>
                  </a:txBody>
                  <a:tcPr marL="36576" marR="36576">
                    <a:solidFill>
                      <a:srgbClr val="FFFFFF"/>
                    </a:solidFill>
                  </a:tcPr>
                </a:tc>
                <a:tc>
                  <a:txBody>
                    <a:bodyPr/>
                    <a:lstStyle/>
                    <a:p>
                      <a:pPr>
                        <a:defRPr sz="800">
                          <a:solidFill>
                            <a:srgbClr val="0F172A"/>
                          </a:solidFill>
                          <a:latin typeface="Arial"/>
                        </a:defRPr>
                      </a:pPr>
                      <a:r>
                        <a:t>condiments etc</a:t>
                      </a:r>
                    </a:p>
                  </a:txBody>
                  <a:tcPr marL="36576" marR="36576">
                    <a:solidFill>
                      <a:srgbClr val="FFFFFF"/>
                    </a:solidFill>
                  </a:tcPr>
                </a:tc>
              </a:tr>
              <a:tr h="390698">
                <a:tc>
                  <a:txBody>
                    <a:bodyPr/>
                    <a:lstStyle/>
                    <a:p>
                      <a:pPr>
                        <a:defRPr sz="800">
                          <a:solidFill>
                            <a:srgbClr val="0F172A"/>
                          </a:solidFill>
                          <a:latin typeface="Arial"/>
                        </a:defRPr>
                      </a:pPr>
                      <a:r>
                        <a:t>7</a:t>
                      </a:r>
                    </a:p>
                  </a:txBody>
                  <a:tcPr marL="36576" marR="36576">
                    <a:solidFill>
                      <a:srgbClr val="FFFFFF"/>
                    </a:solidFill>
                  </a:tcPr>
                </a:tc>
                <a:tc>
                  <a:txBody>
                    <a:bodyPr/>
                    <a:lstStyle/>
                    <a:p>
                      <a:pPr>
                        <a:defRPr sz="800">
                          <a:solidFill>
                            <a:srgbClr val="0F172A"/>
                          </a:solidFill>
                          <a:latin typeface="Arial"/>
                        </a:defRPr>
                      </a:pPr>
                      <a:r>
                        <a:t>romano s macaroni grill rosemary bread</a:t>
                      </a:r>
                    </a:p>
                  </a:txBody>
                  <a:tcPr marL="36576" marR="36576">
                    <a:solidFill>
                      <a:srgbClr val="FFFFFF"/>
                    </a:solidFill>
                  </a:tcPr>
                </a:tc>
                <a:tc>
                  <a:txBody>
                    <a:bodyPr/>
                    <a:lstStyle/>
                    <a:p>
                      <a:pPr>
                        <a:defRPr sz="800">
                          <a:solidFill>
                            <a:srgbClr val="0F172A"/>
                          </a:solidFill>
                          <a:latin typeface="Arial"/>
                        </a:defRPr>
                      </a:pPr>
                      <a:r>
                        <a:t>other</a:t>
                      </a:r>
                    </a:p>
                  </a:txBody>
                  <a:tcPr marL="36576" marR="36576">
                    <a:solidFill>
                      <a:srgbClr val="FFFFFF"/>
                    </a:solidFill>
                  </a:tcPr>
                </a:tc>
              </a:tr>
              <a:tr h="390698">
                <a:tc>
                  <a:txBody>
                    <a:bodyPr/>
                    <a:lstStyle/>
                    <a:p>
                      <a:pPr>
                        <a:defRPr sz="800">
                          <a:solidFill>
                            <a:srgbClr val="0F172A"/>
                          </a:solidFill>
                          <a:latin typeface="Arial"/>
                        </a:defRPr>
                      </a:pPr>
                      <a:r>
                        <a:t>8</a:t>
                      </a:r>
                    </a:p>
                  </a:txBody>
                  <a:tcPr marL="36576" marR="36576">
                    <a:solidFill>
                      <a:srgbClr val="FFFFFF"/>
                    </a:solidFill>
                  </a:tcPr>
                </a:tc>
                <a:tc>
                  <a:txBody>
                    <a:bodyPr/>
                    <a:lstStyle/>
                    <a:p>
                      <a:pPr>
                        <a:defRPr sz="800">
                          <a:solidFill>
                            <a:srgbClr val="0F172A"/>
                          </a:solidFill>
                          <a:latin typeface="Arial"/>
                        </a:defRPr>
                      </a:pPr>
                      <a:r>
                        <a:t>salmon and asparagus in foil</a:t>
                      </a:r>
                    </a:p>
                  </a:txBody>
                  <a:tcPr marL="36576" marR="36576">
                    <a:solidFill>
                      <a:srgbClr val="FFFFFF"/>
                    </a:solidFill>
                  </a:tcPr>
                </a:tc>
                <a:tc>
                  <a:txBody>
                    <a:bodyPr/>
                    <a:lstStyle/>
                    <a:p>
                      <a:pPr>
                        <a:defRPr sz="800">
                          <a:solidFill>
                            <a:srgbClr val="0F172A"/>
                          </a:solidFill>
                          <a:latin typeface="Arial"/>
                        </a:defRPr>
                      </a:pPr>
                      <a:r>
                        <a:t>main dish</a:t>
                      </a:r>
                    </a:p>
                  </a:txBody>
                  <a:tcPr marL="36576" marR="36576">
                    <a:solidFill>
                      <a:srgbClr val="FFFFFF"/>
                    </a:solidFill>
                  </a:tcPr>
                </a:tc>
              </a:tr>
              <a:tr h="390700">
                <a:tc>
                  <a:txBody>
                    <a:bodyPr/>
                    <a:lstStyle/>
                    <a:p>
                      <a:pPr>
                        <a:defRPr sz="800">
                          <a:solidFill>
                            <a:srgbClr val="0F172A"/>
                          </a:solidFill>
                          <a:latin typeface="Arial"/>
                        </a:defRPr>
                      </a:pPr>
                      <a:r>
                        <a:t>9</a:t>
                      </a:r>
                    </a:p>
                  </a:txBody>
                  <a:tcPr marL="36576" marR="36576">
                    <a:solidFill>
                      <a:srgbClr val="FFFFFF"/>
                    </a:solidFill>
                  </a:tcPr>
                </a:tc>
                <a:tc>
                  <a:txBody>
                    <a:bodyPr/>
                    <a:lstStyle/>
                    <a:p>
                      <a:pPr>
                        <a:defRPr sz="800">
                          <a:solidFill>
                            <a:srgbClr val="0F172A"/>
                          </a:solidFill>
                          <a:latin typeface="Arial"/>
                        </a:defRPr>
                      </a:pPr>
                      <a:r>
                        <a:t>the best blueberry buttermilk pancakes</a:t>
                      </a:r>
                    </a:p>
                  </a:txBody>
                  <a:tcPr marL="36576" marR="36576">
                    <a:solidFill>
                      <a:srgbClr val="FFFFFF"/>
                    </a:solidFill>
                  </a:tcPr>
                </a:tc>
                <a:tc>
                  <a:txBody>
                    <a:bodyPr/>
                    <a:lstStyle/>
                    <a:p>
                      <a:pPr>
                        <a:defRPr sz="800">
                          <a:solidFill>
                            <a:srgbClr val="0F172A"/>
                          </a:solidFill>
                          <a:latin typeface="Arial"/>
                        </a:defRPr>
                      </a:pPr>
                      <a:r>
                        <a:t>brunch</a:t>
                      </a:r>
                    </a:p>
                  </a:txBody>
                  <a:tcPr marL="36576" marR="36576">
                    <a:solidFill>
                      <a:srgbClr val="FFFFFF"/>
                    </a:solidFill>
                  </a:tcPr>
                </a:tc>
              </a:tr>
            </a:tbl>
          </a:graphicData>
        </a:graphic>
      </p:graphicFrame>
      <p:sp>
        <p:nvSpPr>
          <p:cNvPr id="10" name="TextBox 9"/>
          <p:cNvSpPr txBox="1"/>
          <p:nvPr/>
        </p:nvSpPr>
        <p:spPr>
          <a:xfrm>
            <a:off x="731520" y="6263640"/>
            <a:ext cx="10698480" cy="457200"/>
          </a:xfrm>
          <a:prstGeom prst="rect">
            <a:avLst/>
          </a:prstGeom>
          <a:noFill/>
        </p:spPr>
        <p:txBody>
          <a:bodyPr wrap="square">
            <a:spAutoFit/>
          </a:bodyPr>
          <a:lstStyle/>
          <a:p>
            <a:pPr>
              <a:defRPr sz="1050" b="1">
                <a:solidFill>
                  <a:srgbClr val="0284C7"/>
                </a:solidFill>
                <a:latin typeface="Arial"/>
              </a:defRPr>
            </a:pPr>
            <a:r>
              <a:t>Key Finding: SVD predicts universally high rated staple recipes (popularity bias), whereas Cluster Based filtering recommends distinctive, diverse dishes matching the user specific taste cluster.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METHODOLOGY &amp; ARCHITECTURE</a:t>
            </a:r>
          </a:p>
          <a:p>
            <a:pPr>
              <a:defRPr sz="2600" b="1">
                <a:solidFill>
                  <a:srgbClr val="0F172A"/>
                </a:solidFill>
                <a:latin typeface="Arial"/>
              </a:defRPr>
            </a:pPr>
            <a:r>
              <a:t>Description of Approach: Content Based</a:t>
            </a:r>
          </a:p>
        </p:txBody>
      </p:sp>
      <p:sp>
        <p:nvSpPr>
          <p:cNvPr id="4" name="TextBox 3"/>
          <p:cNvSpPr txBox="1"/>
          <p:nvPr/>
        </p:nvSpPr>
        <p:spPr>
          <a:xfrm>
            <a:off x="731520" y="1188720"/>
            <a:ext cx="10698480" cy="2743200"/>
          </a:xfrm>
          <a:prstGeom prst="rect">
            <a:avLst/>
          </a:prstGeom>
          <a:noFill/>
        </p:spPr>
        <p:txBody>
          <a:bodyPr wrap="square">
            <a:spAutoFit/>
          </a:bodyPr>
          <a:lstStyle/>
          <a:p>
            <a:r>
              <a:rPr sz="1200" b="1">
                <a:solidFill>
                  <a:srgbClr val="0F172A"/>
                </a:solidFill>
                <a:latin typeface="Arial"/>
              </a:rPr>
              <a:t>• Created a Top N Recommendation List: </a:t>
            </a:r>
            <a:r>
              <a:rPr sz="1150">
                <a:solidFill>
                  <a:srgbClr val="334155"/>
                </a:solidFill>
                <a:latin typeface="Arial"/>
              </a:rPr>
              <a:t>Using a personalized content based recommender leveraging recipe textual descriptions and metadata.</a:t>
            </a:r>
          </a:p>
          <a:p>
            <a:pPr>
              <a:spcBef>
                <a:spcPts val="600"/>
              </a:spcBef>
            </a:pPr>
            <a:r>
              <a:rPr sz="1200" b="1">
                <a:solidFill>
                  <a:srgbClr val="0F172A"/>
                </a:solidFill>
                <a:latin typeface="Arial"/>
              </a:rPr>
              <a:t>• Built Individual User Taste Profiles: </a:t>
            </a:r>
            <a:r>
              <a:rPr sz="1150">
                <a:solidFill>
                  <a:srgbClr val="334155"/>
                </a:solidFill>
                <a:latin typeface="Arial"/>
              </a:rPr>
              <a:t>Combined recipe textual tokens with historical ratings to create weighted user profile vectors in the feature space.</a:t>
            </a:r>
          </a:p>
          <a:p>
            <a:pPr>
              <a:spcBef>
                <a:spcPts val="600"/>
              </a:spcBef>
            </a:pPr>
            <a:r>
              <a:rPr sz="1200" b="1">
                <a:solidFill>
                  <a:srgbClr val="0F172A"/>
                </a:solidFill>
                <a:latin typeface="Arial"/>
              </a:rPr>
              <a:t>• Calculated Cosine Similarity Distances: </a:t>
            </a:r>
            <a:r>
              <a:rPr sz="1150">
                <a:solidFill>
                  <a:srgbClr val="334155"/>
                </a:solidFill>
                <a:latin typeface="Arial"/>
              </a:rPr>
              <a:t>Compared individual user profiles with candidate recipe vectors to generate Top N recommendations.</a:t>
            </a:r>
          </a:p>
          <a:p>
            <a:pPr>
              <a:spcBef>
                <a:spcPts val="600"/>
              </a:spcBef>
            </a:pPr>
            <a:r>
              <a:rPr sz="1200" b="1">
                <a:solidFill>
                  <a:srgbClr val="0F172A"/>
                </a:solidFill>
                <a:latin typeface="Arial"/>
              </a:rPr>
              <a:t>• Evaluated Metrics over Cutoff Ranges: </a:t>
            </a:r>
            <a:r>
              <a:rPr sz="1150">
                <a:solidFill>
                  <a:srgbClr val="334155"/>
                </a:solidFill>
                <a:latin typeface="Arial"/>
              </a:rPr>
              <a:t>Used held out liked test interactions to compute Precision at K and Recall at K across K = 1 to 10.</a:t>
            </a:r>
          </a:p>
          <a:p>
            <a:pPr>
              <a:spcBef>
                <a:spcPts val="600"/>
              </a:spcBef>
            </a:pPr>
            <a:r>
              <a:rPr sz="1200" b="1">
                <a:solidFill>
                  <a:srgbClr val="0F172A"/>
                </a:solidFill>
                <a:latin typeface="Arial"/>
              </a:rPr>
              <a:t>• Population Level Generalization: </a:t>
            </a:r>
            <a:r>
              <a:rPr sz="1150">
                <a:solidFill>
                  <a:srgbClr val="334155"/>
                </a:solidFill>
                <a:latin typeface="Arial"/>
              </a:rPr>
              <a:t>Evaluated first on individual user case studies and subsequently averaged precision and recall over all users.</a:t>
            </a:r>
          </a:p>
        </p:txBody>
      </p:sp>
      <p:pic>
        <p:nvPicPr>
          <p:cNvPr id="5" name="Picture 4" descr="content_pipeline_diagram.png"/>
          <p:cNvPicPr>
            <a:picLocks noChangeAspect="1"/>
          </p:cNvPicPr>
          <p:nvPr/>
        </p:nvPicPr>
        <p:blipFill>
          <a:blip r:embed="rId2"/>
          <a:stretch>
            <a:fillRect/>
          </a:stretch>
        </p:blipFill>
        <p:spPr>
          <a:xfrm>
            <a:off x="731520" y="4114800"/>
            <a:ext cx="10698480" cy="225231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RECOMMENDATION PROFILE ANALYSIS</a:t>
            </a:r>
          </a:p>
          <a:p>
            <a:pPr>
              <a:defRPr sz="2600" b="1">
                <a:solidFill>
                  <a:srgbClr val="0F172A"/>
                </a:solidFill>
                <a:latin typeface="Arial"/>
              </a:defRPr>
            </a:pPr>
            <a:r>
              <a:t>Results: Content Based</a:t>
            </a:r>
          </a:p>
        </p:txBody>
      </p:sp>
      <p:sp>
        <p:nvSpPr>
          <p:cNvPr id="4" name="TextBox 3"/>
          <p:cNvSpPr txBox="1"/>
          <p:nvPr/>
        </p:nvSpPr>
        <p:spPr>
          <a:xfrm>
            <a:off x="731520" y="1188720"/>
            <a:ext cx="10698480" cy="548640"/>
          </a:xfrm>
          <a:prstGeom prst="rect">
            <a:avLst/>
          </a:prstGeom>
          <a:noFill/>
        </p:spPr>
        <p:txBody>
          <a:bodyPr wrap="square">
            <a:spAutoFit/>
          </a:bodyPr>
          <a:lstStyle/>
          <a:p>
            <a:pPr>
              <a:defRPr sz="1100">
                <a:solidFill>
                  <a:srgbClr val="0F172A"/>
                </a:solidFill>
                <a:latin typeface="Arial"/>
              </a:defRPr>
            </a:pPr>
            <a:r>
              <a:t>These are the initial results of the personalized content based model to recommend food items to a user based on their user profile. Here is the user profile of the liked items of a specific user:</a:t>
            </a:r>
          </a:p>
        </p:txBody>
      </p:sp>
      <p:graphicFrame>
        <p:nvGraphicFramePr>
          <p:cNvPr id="5" name="Table 4"/>
          <p:cNvGraphicFramePr>
            <a:graphicFrameLocks noGrp="1"/>
          </p:cNvGraphicFramePr>
          <p:nvPr/>
        </p:nvGraphicFramePr>
        <p:xfrm>
          <a:off x="731520" y="1783080"/>
          <a:ext cx="10698480" cy="1371600"/>
        </p:xfrm>
        <a:graphic>
          <a:graphicData uri="http://schemas.openxmlformats.org/drawingml/2006/table">
            <a:tbl>
              <a:tblPr firstRow="1" bandRow="1">
                <a:tableStyleId>{5C22544A-7EE6-4342-B048-85BDC9FD1C3A}</a:tableStyleId>
              </a:tblPr>
              <a:tblGrid>
                <a:gridCol w="2468880"/>
                <a:gridCol w="8229600"/>
              </a:tblGrid>
              <a:tr h="457200">
                <a:tc>
                  <a:txBody>
                    <a:bodyPr/>
                    <a:lstStyle/>
                    <a:p>
                      <a:pPr>
                        <a:defRPr sz="950" b="1">
                          <a:solidFill>
                            <a:srgbClr val="0F172A"/>
                          </a:solidFill>
                          <a:latin typeface="Arial"/>
                        </a:defRPr>
                      </a:pPr>
                      <a:r>
                        <a:t>name</a:t>
                      </a:r>
                    </a:p>
                  </a:txBody>
                  <a:tcPr marL="73152" marR="73152">
                    <a:solidFill>
                      <a:srgbClr val="F8FAFC"/>
                    </a:solidFill>
                  </a:tcPr>
                </a:tc>
                <a:tc>
                  <a:txBody>
                    <a:bodyPr/>
                    <a:lstStyle/>
                    <a:p>
                      <a:pPr>
                        <a:defRPr sz="950" b="1">
                          <a:solidFill>
                            <a:srgbClr val="0F172A"/>
                          </a:solidFill>
                          <a:latin typeface="Arial"/>
                        </a:defRPr>
                      </a:pPr>
                      <a:r>
                        <a:t>description</a:t>
                      </a:r>
                    </a:p>
                  </a:txBody>
                  <a:tcPr marL="73152" marR="73152">
                    <a:solidFill>
                      <a:srgbClr val="F8FAFC"/>
                    </a:solidFill>
                  </a:tcPr>
                </a:tc>
              </a:tr>
              <a:tr h="457200">
                <a:tc>
                  <a:txBody>
                    <a:bodyPr/>
                    <a:lstStyle/>
                    <a:p>
                      <a:pPr>
                        <a:defRPr sz="850">
                          <a:solidFill>
                            <a:srgbClr val="0F172A"/>
                          </a:solidFill>
                          <a:latin typeface="Arial"/>
                        </a:defRPr>
                      </a:pPr>
                      <a:r>
                        <a:t>land of nod cinnamon buns</a:t>
                      </a:r>
                    </a:p>
                  </a:txBody>
                  <a:tcPr marL="73152" marR="73152">
                    <a:solidFill>
                      <a:srgbClr val="FFFFFF"/>
                    </a:solidFill>
                  </a:tcPr>
                </a:tc>
                <a:tc>
                  <a:txBody>
                    <a:bodyPr/>
                    <a:lstStyle/>
                    <a:p>
                      <a:pPr>
                        <a:defRPr sz="850">
                          <a:solidFill>
                            <a:srgbClr val="0F172A"/>
                          </a:solidFill>
                          <a:latin typeface="Arial"/>
                        </a:defRPr>
                      </a:pPr>
                      <a:r>
                        <a:t>i have made this several times and it is dead easy. if you have overnight guests, what could be easier for breakfast? i have made it on special occasions, too, such as easter morning and christmas morning, etc. this recipe comes from the best of bridge series.</a:t>
                      </a:r>
                    </a:p>
                  </a:txBody>
                  <a:tcPr marL="73152" marR="73152">
                    <a:solidFill>
                      <a:srgbClr val="FFFFFF"/>
                    </a:solidFill>
                  </a:tcPr>
                </a:tc>
              </a:tr>
              <a:tr h="457200">
                <a:tc>
                  <a:txBody>
                    <a:bodyPr/>
                    <a:lstStyle/>
                    <a:p>
                      <a:pPr>
                        <a:defRPr sz="850">
                          <a:solidFill>
                            <a:srgbClr val="0F172A"/>
                          </a:solidFill>
                          <a:latin typeface="Arial"/>
                        </a:defRPr>
                      </a:pPr>
                      <a:r>
                        <a:t>put down your fork tuna and bean salad</a:t>
                      </a:r>
                    </a:p>
                  </a:txBody>
                  <a:tcPr marL="73152" marR="73152">
                    <a:solidFill>
                      <a:srgbClr val="FFFFFF"/>
                    </a:solidFill>
                  </a:tcPr>
                </a:tc>
                <a:tc>
                  <a:txBody>
                    <a:bodyPr/>
                    <a:lstStyle/>
                    <a:p>
                      <a:pPr>
                        <a:defRPr sz="850">
                          <a:solidFill>
                            <a:srgbClr val="0F172A"/>
                          </a:solidFill>
                          <a:latin typeface="Arial"/>
                        </a:defRPr>
                      </a:pPr>
                      <a:r>
                        <a:t>the story behind this comes from a simple recipe i had found, then made changes to make our own. my husband loved it so much the first time i made it i literally had to say to him</a:t>
                      </a:r>
                    </a:p>
                  </a:txBody>
                  <a:tcPr marL="73152" marR="73152">
                    <a:solidFill>
                      <a:srgbClr val="FFFFFF"/>
                    </a:solidFill>
                  </a:tcPr>
                </a:tc>
              </a:tr>
            </a:tbl>
          </a:graphicData>
        </a:graphic>
      </p:graphicFrame>
      <p:sp>
        <p:nvSpPr>
          <p:cNvPr id="6" name="TextBox 5"/>
          <p:cNvSpPr txBox="1"/>
          <p:nvPr/>
        </p:nvSpPr>
        <p:spPr>
          <a:xfrm>
            <a:off x="731520" y="3291840"/>
            <a:ext cx="10698480" cy="457200"/>
          </a:xfrm>
          <a:prstGeom prst="rect">
            <a:avLst/>
          </a:prstGeom>
          <a:noFill/>
        </p:spPr>
        <p:txBody>
          <a:bodyPr wrap="square">
            <a:spAutoFit/>
          </a:bodyPr>
          <a:lstStyle/>
          <a:p>
            <a:pPr>
              <a:defRPr sz="1100">
                <a:solidFill>
                  <a:srgbClr val="0F172A"/>
                </a:solidFill>
                <a:latin typeface="Arial"/>
              </a:defRPr>
            </a:pPr>
            <a:r>
              <a:t>Below are the Top 5 recommended items for this user, as you can see some of the recommended items are similar to the user profile items but some are not.</a:t>
            </a:r>
          </a:p>
        </p:txBody>
      </p:sp>
      <p:graphicFrame>
        <p:nvGraphicFramePr>
          <p:cNvPr id="7" name="Table 6"/>
          <p:cNvGraphicFramePr>
            <a:graphicFrameLocks noGrp="1"/>
          </p:cNvGraphicFramePr>
          <p:nvPr/>
        </p:nvGraphicFramePr>
        <p:xfrm>
          <a:off x="731520" y="3794760"/>
          <a:ext cx="10698480" cy="2651760"/>
        </p:xfrm>
        <a:graphic>
          <a:graphicData uri="http://schemas.openxmlformats.org/drawingml/2006/table">
            <a:tbl>
              <a:tblPr firstRow="1" bandRow="1">
                <a:tableStyleId>{5C22544A-7EE6-4342-B048-85BDC9FD1C3A}</a:tableStyleId>
              </a:tblPr>
              <a:tblGrid>
                <a:gridCol w="2468880"/>
                <a:gridCol w="8229600"/>
              </a:tblGrid>
              <a:tr h="441960">
                <a:tc>
                  <a:txBody>
                    <a:bodyPr/>
                    <a:lstStyle/>
                    <a:p>
                      <a:pPr>
                        <a:defRPr sz="950" b="1">
                          <a:solidFill>
                            <a:srgbClr val="0F172A"/>
                          </a:solidFill>
                          <a:latin typeface="Arial"/>
                        </a:defRPr>
                      </a:pPr>
                      <a:r>
                        <a:t>name</a:t>
                      </a:r>
                    </a:p>
                  </a:txBody>
                  <a:tcPr marL="73152" marR="73152">
                    <a:solidFill>
                      <a:srgbClr val="F8FAFC"/>
                    </a:solidFill>
                  </a:tcPr>
                </a:tc>
                <a:tc>
                  <a:txBody>
                    <a:bodyPr/>
                    <a:lstStyle/>
                    <a:p>
                      <a:pPr>
                        <a:defRPr sz="950" b="1">
                          <a:solidFill>
                            <a:srgbClr val="0F172A"/>
                          </a:solidFill>
                          <a:latin typeface="Arial"/>
                        </a:defRPr>
                      </a:pPr>
                      <a:r>
                        <a:t>description</a:t>
                      </a:r>
                    </a:p>
                  </a:txBody>
                  <a:tcPr marL="73152" marR="73152">
                    <a:solidFill>
                      <a:srgbClr val="F8FAFC"/>
                    </a:solidFill>
                  </a:tcPr>
                </a:tc>
              </a:tr>
              <a:tr h="441960">
                <a:tc>
                  <a:txBody>
                    <a:bodyPr/>
                    <a:lstStyle/>
                    <a:p>
                      <a:pPr>
                        <a:defRPr sz="850">
                          <a:solidFill>
                            <a:srgbClr val="0F172A"/>
                          </a:solidFill>
                          <a:latin typeface="Arial"/>
                        </a:defRPr>
                      </a:pPr>
                      <a:r>
                        <a:t>chile rellenos</a:t>
                      </a:r>
                    </a:p>
                  </a:txBody>
                  <a:tcPr marL="73152" marR="73152">
                    <a:solidFill>
                      <a:srgbClr val="FFFFFF"/>
                    </a:solidFill>
                  </a:tcPr>
                </a:tc>
                <a:tc>
                  <a:txBody>
                    <a:bodyPr/>
                    <a:lstStyle/>
                    <a:p>
                      <a:pPr>
                        <a:defRPr sz="850">
                          <a:solidFill>
                            <a:srgbClr val="0F172A"/>
                          </a:solidFill>
                          <a:latin typeface="Arial"/>
                        </a:defRPr>
                      </a:pPr>
                      <a:r>
                        <a:t>a favorite from a local restaurant no longer in business. not an authentic mexican chile relleno, but a crispy, flaky version.</a:t>
                      </a:r>
                    </a:p>
                  </a:txBody>
                  <a:tcPr marL="73152" marR="73152">
                    <a:solidFill>
                      <a:srgbClr val="FFFFFF"/>
                    </a:solidFill>
                  </a:tcPr>
                </a:tc>
              </a:tr>
              <a:tr h="441960">
                <a:tc>
                  <a:txBody>
                    <a:bodyPr/>
                    <a:lstStyle/>
                    <a:p>
                      <a:pPr>
                        <a:defRPr sz="850">
                          <a:solidFill>
                            <a:srgbClr val="0F172A"/>
                          </a:solidFill>
                          <a:latin typeface="Arial"/>
                        </a:defRPr>
                      </a:pPr>
                      <a:r>
                        <a:t>chinese candy</a:t>
                      </a:r>
                    </a:p>
                  </a:txBody>
                  <a:tcPr marL="73152" marR="73152">
                    <a:solidFill>
                      <a:srgbClr val="FFFFFF"/>
                    </a:solidFill>
                  </a:tcPr>
                </a:tc>
                <a:tc>
                  <a:txBody>
                    <a:bodyPr/>
                    <a:lstStyle/>
                    <a:p>
                      <a:pPr>
                        <a:defRPr sz="850">
                          <a:solidFill>
                            <a:srgbClr val="0F172A"/>
                          </a:solidFill>
                          <a:latin typeface="Arial"/>
                        </a:defRPr>
                      </a:pPr>
                      <a:r>
                        <a:t>a little different, and oh so good. i include these when making up candy trays, as gifts, at christmas time.</a:t>
                      </a:r>
                    </a:p>
                  </a:txBody>
                  <a:tcPr marL="73152" marR="73152">
                    <a:solidFill>
                      <a:srgbClr val="FFFFFF"/>
                    </a:solidFill>
                  </a:tcPr>
                </a:tc>
              </a:tr>
              <a:tr h="441960">
                <a:tc>
                  <a:txBody>
                    <a:bodyPr/>
                    <a:lstStyle/>
                    <a:p>
                      <a:pPr>
                        <a:defRPr sz="850">
                          <a:solidFill>
                            <a:srgbClr val="0F172A"/>
                          </a:solidFill>
                          <a:latin typeface="Arial"/>
                        </a:defRPr>
                      </a:pPr>
                      <a:r>
                        <a:t>ant kelly s london broil marinade</a:t>
                      </a:r>
                    </a:p>
                  </a:txBody>
                  <a:tcPr marL="73152" marR="73152">
                    <a:solidFill>
                      <a:srgbClr val="FFFFFF"/>
                    </a:solidFill>
                  </a:tcPr>
                </a:tc>
                <a:tc>
                  <a:txBody>
                    <a:bodyPr/>
                    <a:lstStyle/>
                    <a:p>
                      <a:pPr>
                        <a:defRPr sz="850">
                          <a:solidFill>
                            <a:srgbClr val="0F172A"/>
                          </a:solidFill>
                          <a:latin typeface="Arial"/>
                        </a:defRPr>
                      </a:pPr>
                      <a:r>
                        <a:t>my niece shwana loves this! she always writes my name ant kelly when we play rummy or scrabble started when she was little and stuck. i always make this when we go tubing in wisconsin. prep time includes does not include time to marinate.</a:t>
                      </a:r>
                    </a:p>
                  </a:txBody>
                  <a:tcPr marL="73152" marR="73152">
                    <a:solidFill>
                      <a:srgbClr val="FFFFFF"/>
                    </a:solidFill>
                  </a:tcPr>
                </a:tc>
              </a:tr>
              <a:tr h="441960">
                <a:tc>
                  <a:txBody>
                    <a:bodyPr/>
                    <a:lstStyle/>
                    <a:p>
                      <a:pPr>
                        <a:defRPr sz="850">
                          <a:solidFill>
                            <a:srgbClr val="0F172A"/>
                          </a:solidFill>
                          <a:latin typeface="Arial"/>
                        </a:defRPr>
                      </a:pPr>
                      <a:r>
                        <a:t>i don t feel like cooking tonight casserole</a:t>
                      </a:r>
                    </a:p>
                  </a:txBody>
                  <a:tcPr marL="73152" marR="73152">
                    <a:solidFill>
                      <a:srgbClr val="FFFFFF"/>
                    </a:solidFill>
                  </a:tcPr>
                </a:tc>
                <a:tc>
                  <a:txBody>
                    <a:bodyPr/>
                    <a:lstStyle/>
                    <a:p>
                      <a:pPr>
                        <a:defRPr sz="850">
                          <a:solidFill>
                            <a:srgbClr val="0F172A"/>
                          </a:solidFill>
                          <a:latin typeface="Arial"/>
                        </a:defRPr>
                      </a:pPr>
                      <a:r>
                        <a:t>this is a hearty and filling casserole for those nights when a long time in the kitchen is just out of the question. very tasty and easy to make, my family requests it often. enjoy!</a:t>
                      </a:r>
                    </a:p>
                  </a:txBody>
                  <a:tcPr marL="73152" marR="73152">
                    <a:solidFill>
                      <a:srgbClr val="FFFFFF"/>
                    </a:solidFill>
                  </a:tcPr>
                </a:tc>
              </a:tr>
              <a:tr h="441960">
                <a:tc>
                  <a:txBody>
                    <a:bodyPr/>
                    <a:lstStyle/>
                    <a:p>
                      <a:pPr>
                        <a:defRPr sz="850">
                          <a:solidFill>
                            <a:srgbClr val="0F172A"/>
                          </a:solidFill>
                          <a:latin typeface="Arial"/>
                        </a:defRPr>
                      </a:pPr>
                      <a:r>
                        <a:t>better then bush s baked beans</a:t>
                      </a:r>
                    </a:p>
                  </a:txBody>
                  <a:tcPr marL="73152" marR="73152">
                    <a:solidFill>
                      <a:srgbClr val="FFFFFF"/>
                    </a:solidFill>
                  </a:tcPr>
                </a:tc>
                <a:tc>
                  <a:txBody>
                    <a:bodyPr/>
                    <a:lstStyle/>
                    <a:p>
                      <a:pPr>
                        <a:defRPr sz="850">
                          <a:solidFill>
                            <a:srgbClr val="0F172A"/>
                          </a:solidFill>
                          <a:latin typeface="Arial"/>
                        </a:defRPr>
                      </a:pPr>
                      <a:r>
                        <a:t>i would have to say that this is a labor of love dish, but i give you my word that this recipe is better than bush s. enjoy! oh, and also this recipe is easily doubled. in fact, i think it turns out better when it is.</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PRECISION AND RECALL EVALUATION</a:t>
            </a:r>
          </a:p>
          <a:p>
            <a:pPr>
              <a:defRPr sz="2600" b="1">
                <a:solidFill>
                  <a:srgbClr val="0F172A"/>
                </a:solidFill>
                <a:latin typeface="Arial"/>
              </a:defRPr>
            </a:pPr>
            <a:r>
              <a:t>Results: Content Based</a:t>
            </a:r>
          </a:p>
        </p:txBody>
      </p:sp>
      <p:graphicFrame>
        <p:nvGraphicFramePr>
          <p:cNvPr id="4" name="Table 3"/>
          <p:cNvGraphicFramePr>
            <a:graphicFrameLocks noGrp="1"/>
          </p:cNvGraphicFramePr>
          <p:nvPr/>
        </p:nvGraphicFramePr>
        <p:xfrm>
          <a:off x="731520" y="1234440"/>
          <a:ext cx="4846320" cy="4572000"/>
        </p:xfrm>
        <a:graphic>
          <a:graphicData uri="http://schemas.openxmlformats.org/drawingml/2006/table">
            <a:tbl>
              <a:tblPr firstRow="1" bandRow="1">
                <a:tableStyleId>{5C22544A-7EE6-4342-B048-85BDC9FD1C3A}</a:tableStyleId>
              </a:tblPr>
              <a:tblGrid>
                <a:gridCol w="365760"/>
                <a:gridCol w="1005840"/>
                <a:gridCol w="1737360"/>
                <a:gridCol w="1737360"/>
              </a:tblGrid>
              <a:tr h="415636">
                <a:tc>
                  <a:txBody>
                    <a:bodyPr/>
                    <a:lstStyle/>
                    <a:p>
                      <a:pPr>
                        <a:defRPr sz="950" b="1">
                          <a:solidFill>
                            <a:srgbClr val="0F172A"/>
                          </a:solidFill>
                          <a:latin typeface="Arial"/>
                        </a:defRPr>
                      </a:pPr>
                    </a:p>
                  </a:txBody>
                  <a:tcPr marL="0" marR="0" marT="0" marB="0">
                    <a:solidFill>
                      <a:srgbClr val="F8FAFC"/>
                    </a:solidFill>
                  </a:tcPr>
                </a:tc>
                <a:tc>
                  <a:txBody>
                    <a:bodyPr/>
                    <a:lstStyle/>
                    <a:p>
                      <a:pPr>
                        <a:defRPr sz="950" b="1">
                          <a:solidFill>
                            <a:srgbClr val="0F172A"/>
                          </a:solidFill>
                          <a:latin typeface="Arial"/>
                        </a:defRPr>
                      </a:pPr>
                      <a:r>
                        <a:t>K value</a:t>
                      </a:r>
                    </a:p>
                  </a:txBody>
                  <a:tcPr marL="0" marR="0" marT="0" marB="0">
                    <a:solidFill>
                      <a:srgbClr val="F8FAFC"/>
                    </a:solidFill>
                  </a:tcPr>
                </a:tc>
                <a:tc>
                  <a:txBody>
                    <a:bodyPr/>
                    <a:lstStyle/>
                    <a:p>
                      <a:pPr>
                        <a:defRPr sz="950" b="1">
                          <a:solidFill>
                            <a:srgbClr val="0F172A"/>
                          </a:solidFill>
                          <a:latin typeface="Arial"/>
                        </a:defRPr>
                      </a:pPr>
                      <a:r>
                        <a:t>Precision</a:t>
                      </a:r>
                    </a:p>
                  </a:txBody>
                  <a:tcPr marL="0" marR="0" marT="0" marB="0">
                    <a:solidFill>
                      <a:srgbClr val="F8FAFC"/>
                    </a:solidFill>
                  </a:tcPr>
                </a:tc>
                <a:tc>
                  <a:txBody>
                    <a:bodyPr/>
                    <a:lstStyle/>
                    <a:p>
                      <a:pPr>
                        <a:defRPr sz="950" b="1">
                          <a:solidFill>
                            <a:srgbClr val="0F172A"/>
                          </a:solidFill>
                          <a:latin typeface="Arial"/>
                        </a:defRPr>
                      </a:pPr>
                      <a:r>
                        <a:t>Recall</a:t>
                      </a:r>
                    </a:p>
                  </a:txBody>
                  <a:tcPr marL="0" marR="0" marT="0" marB="0">
                    <a:solidFill>
                      <a:srgbClr val="F8FAFC"/>
                    </a:solidFill>
                  </a:tcPr>
                </a:tc>
              </a:tr>
              <a:tr h="415636">
                <a:tc>
                  <a:txBody>
                    <a:bodyPr/>
                    <a:lstStyle/>
                    <a:p>
                      <a:pPr>
                        <a:defRPr sz="900">
                          <a:solidFill>
                            <a:srgbClr val="0F172A"/>
                          </a:solidFill>
                          <a:latin typeface="Arial"/>
                        </a:defRPr>
                      </a:pPr>
                      <a:r>
                        <a:t>0</a:t>
                      </a:r>
                    </a:p>
                  </a:txBody>
                  <a:tcPr marL="0" marR="0" marT="0" marB="0">
                    <a:solidFill>
                      <a:srgbClr val="FFFFFF"/>
                    </a:solidFill>
                  </a:tcPr>
                </a:tc>
                <a:tc>
                  <a:txBody>
                    <a:bodyPr/>
                    <a:lstStyle/>
                    <a:p>
                      <a:pPr>
                        <a:defRPr sz="900">
                          <a:solidFill>
                            <a:srgbClr val="0F172A"/>
                          </a:solidFill>
                          <a:latin typeface="Arial"/>
                        </a:defRPr>
                      </a:pPr>
                      <a:r>
                        <a:t>1.0</a:t>
                      </a:r>
                    </a:p>
                  </a:txBody>
                  <a:tcPr marL="0" marR="0" marT="0" marB="0">
                    <a:solidFill>
                      <a:srgbClr val="FFFFFF"/>
                    </a:solidFill>
                  </a:tcPr>
                </a:tc>
                <a:tc>
                  <a:txBody>
                    <a:bodyPr/>
                    <a:lstStyle/>
                    <a:p>
                      <a:pPr>
                        <a:defRPr sz="900">
                          <a:solidFill>
                            <a:srgbClr val="0F172A"/>
                          </a:solidFill>
                          <a:latin typeface="Arial"/>
                        </a:defRPr>
                      </a:pPr>
                      <a:r>
                        <a:t>0.000000</a:t>
                      </a:r>
                    </a:p>
                  </a:txBody>
                  <a:tcPr marL="0" marR="0" marT="0" marB="0">
                    <a:solidFill>
                      <a:srgbClr val="FFFFFF"/>
                    </a:solidFill>
                  </a:tcPr>
                </a:tc>
                <a:tc>
                  <a:txBody>
                    <a:bodyPr/>
                    <a:lstStyle/>
                    <a:p>
                      <a:pPr>
                        <a:defRPr sz="900">
                          <a:solidFill>
                            <a:srgbClr val="0F172A"/>
                          </a:solidFill>
                          <a:latin typeface="Arial"/>
                        </a:defRPr>
                      </a:pPr>
                      <a:r>
                        <a:t>0.000000</a:t>
                      </a:r>
                    </a:p>
                  </a:txBody>
                  <a:tcPr marL="0" marR="0" marT="0" marB="0">
                    <a:solidFill>
                      <a:srgbClr val="FFFFFF"/>
                    </a:solidFill>
                  </a:tcPr>
                </a:tc>
              </a:tr>
              <a:tr h="415636">
                <a:tc>
                  <a:txBody>
                    <a:bodyPr/>
                    <a:lstStyle/>
                    <a:p>
                      <a:pPr>
                        <a:defRPr sz="900">
                          <a:solidFill>
                            <a:srgbClr val="0F172A"/>
                          </a:solidFill>
                          <a:latin typeface="Arial"/>
                        </a:defRPr>
                      </a:pPr>
                      <a:r>
                        <a:t>1</a:t>
                      </a:r>
                    </a:p>
                  </a:txBody>
                  <a:tcPr marL="0" marR="0" marT="0" marB="0">
                    <a:solidFill>
                      <a:srgbClr val="FFFFFF"/>
                    </a:solidFill>
                  </a:tcPr>
                </a:tc>
                <a:tc>
                  <a:txBody>
                    <a:bodyPr/>
                    <a:lstStyle/>
                    <a:p>
                      <a:pPr>
                        <a:defRPr sz="900">
                          <a:solidFill>
                            <a:srgbClr val="0F172A"/>
                          </a:solidFill>
                          <a:latin typeface="Arial"/>
                        </a:defRPr>
                      </a:pPr>
                      <a:r>
                        <a:t>2.0</a:t>
                      </a:r>
                    </a:p>
                  </a:txBody>
                  <a:tcPr marL="0" marR="0" marT="0" marB="0">
                    <a:solidFill>
                      <a:srgbClr val="FFFFFF"/>
                    </a:solidFill>
                  </a:tcPr>
                </a:tc>
                <a:tc>
                  <a:txBody>
                    <a:bodyPr/>
                    <a:lstStyle/>
                    <a:p>
                      <a:pPr>
                        <a:defRPr sz="900">
                          <a:solidFill>
                            <a:srgbClr val="0F172A"/>
                          </a:solidFill>
                          <a:latin typeface="Arial"/>
                        </a:defRPr>
                      </a:pPr>
                      <a:r>
                        <a:t>0.000708</a:t>
                      </a:r>
                    </a:p>
                  </a:txBody>
                  <a:tcPr marL="0" marR="0" marT="0" marB="0">
                    <a:solidFill>
                      <a:srgbClr val="FFFFFF"/>
                    </a:solidFill>
                  </a:tcPr>
                </a:tc>
                <a:tc>
                  <a:txBody>
                    <a:bodyPr/>
                    <a:lstStyle/>
                    <a:p>
                      <a:pPr>
                        <a:defRPr sz="900">
                          <a:solidFill>
                            <a:srgbClr val="0F172A"/>
                          </a:solidFill>
                          <a:latin typeface="Arial"/>
                        </a:defRPr>
                      </a:pPr>
                      <a:r>
                        <a:t>0.001416</a:t>
                      </a:r>
                    </a:p>
                  </a:txBody>
                  <a:tcPr marL="0" marR="0" marT="0" marB="0">
                    <a:solidFill>
                      <a:srgbClr val="FFFFFF"/>
                    </a:solidFill>
                  </a:tcPr>
                </a:tc>
              </a:tr>
              <a:tr h="415636">
                <a:tc>
                  <a:txBody>
                    <a:bodyPr/>
                    <a:lstStyle/>
                    <a:p>
                      <a:pPr>
                        <a:defRPr sz="900">
                          <a:solidFill>
                            <a:srgbClr val="0F172A"/>
                          </a:solidFill>
                          <a:latin typeface="Arial"/>
                        </a:defRPr>
                      </a:pPr>
                      <a:r>
                        <a:t>2</a:t>
                      </a:r>
                    </a:p>
                  </a:txBody>
                  <a:tcPr marL="0" marR="0" marT="0" marB="0">
                    <a:solidFill>
                      <a:srgbClr val="FFFFFF"/>
                    </a:solidFill>
                  </a:tcPr>
                </a:tc>
                <a:tc>
                  <a:txBody>
                    <a:bodyPr/>
                    <a:lstStyle/>
                    <a:p>
                      <a:pPr>
                        <a:defRPr sz="900">
                          <a:solidFill>
                            <a:srgbClr val="0F172A"/>
                          </a:solidFill>
                          <a:latin typeface="Arial"/>
                        </a:defRPr>
                      </a:pPr>
                      <a:r>
                        <a:t>3.0</a:t>
                      </a:r>
                    </a:p>
                  </a:txBody>
                  <a:tcPr marL="0" marR="0" marT="0" marB="0">
                    <a:solidFill>
                      <a:srgbClr val="FFFFFF"/>
                    </a:solidFill>
                  </a:tcPr>
                </a:tc>
                <a:tc>
                  <a:txBody>
                    <a:bodyPr/>
                    <a:lstStyle/>
                    <a:p>
                      <a:pPr>
                        <a:defRPr sz="900">
                          <a:solidFill>
                            <a:srgbClr val="0F172A"/>
                          </a:solidFill>
                          <a:latin typeface="Arial"/>
                        </a:defRPr>
                      </a:pPr>
                      <a:r>
                        <a:t>0.000472</a:t>
                      </a:r>
                    </a:p>
                  </a:txBody>
                  <a:tcPr marL="0" marR="0" marT="0" marB="0">
                    <a:solidFill>
                      <a:srgbClr val="FFFFFF"/>
                    </a:solidFill>
                  </a:tcPr>
                </a:tc>
                <a:tc>
                  <a:txBody>
                    <a:bodyPr/>
                    <a:lstStyle/>
                    <a:p>
                      <a:pPr>
                        <a:defRPr sz="900">
                          <a:solidFill>
                            <a:srgbClr val="0F172A"/>
                          </a:solidFill>
                          <a:latin typeface="Arial"/>
                        </a:defRPr>
                      </a:pPr>
                      <a:r>
                        <a:t>0.001416</a:t>
                      </a:r>
                    </a:p>
                  </a:txBody>
                  <a:tcPr marL="0" marR="0" marT="0" marB="0">
                    <a:solidFill>
                      <a:srgbClr val="FFFFFF"/>
                    </a:solidFill>
                  </a:tcPr>
                </a:tc>
              </a:tr>
              <a:tr h="415636">
                <a:tc>
                  <a:txBody>
                    <a:bodyPr/>
                    <a:lstStyle/>
                    <a:p>
                      <a:pPr>
                        <a:defRPr sz="900">
                          <a:solidFill>
                            <a:srgbClr val="0F172A"/>
                          </a:solidFill>
                          <a:latin typeface="Arial"/>
                        </a:defRPr>
                      </a:pPr>
                      <a:r>
                        <a:t>3</a:t>
                      </a:r>
                    </a:p>
                  </a:txBody>
                  <a:tcPr marL="0" marR="0" marT="0" marB="0">
                    <a:solidFill>
                      <a:srgbClr val="FFFFFF"/>
                    </a:solidFill>
                  </a:tcPr>
                </a:tc>
                <a:tc>
                  <a:txBody>
                    <a:bodyPr/>
                    <a:lstStyle/>
                    <a:p>
                      <a:pPr>
                        <a:defRPr sz="900">
                          <a:solidFill>
                            <a:srgbClr val="0F172A"/>
                          </a:solidFill>
                          <a:latin typeface="Arial"/>
                        </a:defRPr>
                      </a:pPr>
                      <a:r>
                        <a:t>4.0</a:t>
                      </a:r>
                    </a:p>
                  </a:txBody>
                  <a:tcPr marL="0" marR="0" marT="0" marB="0">
                    <a:solidFill>
                      <a:srgbClr val="FFFFFF"/>
                    </a:solidFill>
                  </a:tcPr>
                </a:tc>
                <a:tc>
                  <a:txBody>
                    <a:bodyPr/>
                    <a:lstStyle/>
                    <a:p>
                      <a:pPr>
                        <a:defRPr sz="900">
                          <a:solidFill>
                            <a:srgbClr val="0F172A"/>
                          </a:solidFill>
                          <a:latin typeface="Arial"/>
                        </a:defRPr>
                      </a:pPr>
                      <a:r>
                        <a:t>0.000354</a:t>
                      </a:r>
                    </a:p>
                  </a:txBody>
                  <a:tcPr marL="0" marR="0" marT="0" marB="0">
                    <a:solidFill>
                      <a:srgbClr val="FFFFFF"/>
                    </a:solidFill>
                  </a:tcPr>
                </a:tc>
                <a:tc>
                  <a:txBody>
                    <a:bodyPr/>
                    <a:lstStyle/>
                    <a:p>
                      <a:pPr>
                        <a:defRPr sz="900">
                          <a:solidFill>
                            <a:srgbClr val="0F172A"/>
                          </a:solidFill>
                          <a:latin typeface="Arial"/>
                        </a:defRPr>
                      </a:pPr>
                      <a:r>
                        <a:t>0.001416</a:t>
                      </a:r>
                    </a:p>
                  </a:txBody>
                  <a:tcPr marL="0" marR="0" marT="0" marB="0">
                    <a:solidFill>
                      <a:srgbClr val="FFFFFF"/>
                    </a:solidFill>
                  </a:tcPr>
                </a:tc>
              </a:tr>
              <a:tr h="415636">
                <a:tc>
                  <a:txBody>
                    <a:bodyPr/>
                    <a:lstStyle/>
                    <a:p>
                      <a:pPr>
                        <a:defRPr sz="900">
                          <a:solidFill>
                            <a:srgbClr val="0F172A"/>
                          </a:solidFill>
                          <a:latin typeface="Arial"/>
                        </a:defRPr>
                      </a:pPr>
                      <a:r>
                        <a:t>4</a:t>
                      </a:r>
                    </a:p>
                  </a:txBody>
                  <a:tcPr marL="0" marR="0" marT="0" marB="0">
                    <a:solidFill>
                      <a:srgbClr val="FFFFFF"/>
                    </a:solidFill>
                  </a:tcPr>
                </a:tc>
                <a:tc>
                  <a:txBody>
                    <a:bodyPr/>
                    <a:lstStyle/>
                    <a:p>
                      <a:pPr>
                        <a:defRPr sz="900">
                          <a:solidFill>
                            <a:srgbClr val="0F172A"/>
                          </a:solidFill>
                          <a:latin typeface="Arial"/>
                        </a:defRPr>
                      </a:pPr>
                      <a:r>
                        <a:t>5.0</a:t>
                      </a:r>
                    </a:p>
                  </a:txBody>
                  <a:tcPr marL="0" marR="0" marT="0" marB="0">
                    <a:solidFill>
                      <a:srgbClr val="FFFFFF"/>
                    </a:solidFill>
                  </a:tcPr>
                </a:tc>
                <a:tc>
                  <a:txBody>
                    <a:bodyPr/>
                    <a:lstStyle/>
                    <a:p>
                      <a:pPr>
                        <a:defRPr sz="900">
                          <a:solidFill>
                            <a:srgbClr val="0F172A"/>
                          </a:solidFill>
                          <a:latin typeface="Arial"/>
                        </a:defRPr>
                      </a:pPr>
                      <a:r>
                        <a:t>0.000567</a:t>
                      </a:r>
                    </a:p>
                  </a:txBody>
                  <a:tcPr marL="0" marR="0" marT="0" marB="0">
                    <a:solidFill>
                      <a:srgbClr val="FFFFFF"/>
                    </a:solidFill>
                  </a:tcPr>
                </a:tc>
                <a:tc>
                  <a:txBody>
                    <a:bodyPr/>
                    <a:lstStyle/>
                    <a:p>
                      <a:pPr>
                        <a:defRPr sz="900">
                          <a:solidFill>
                            <a:srgbClr val="0F172A"/>
                          </a:solidFill>
                          <a:latin typeface="Arial"/>
                        </a:defRPr>
                      </a:pPr>
                      <a:r>
                        <a:t>0.002833</a:t>
                      </a:r>
                    </a:p>
                  </a:txBody>
                  <a:tcPr marL="0" marR="0" marT="0" marB="0">
                    <a:solidFill>
                      <a:srgbClr val="FFFFFF"/>
                    </a:solidFill>
                  </a:tcPr>
                </a:tc>
              </a:tr>
              <a:tr h="415636">
                <a:tc>
                  <a:txBody>
                    <a:bodyPr/>
                    <a:lstStyle/>
                    <a:p>
                      <a:pPr>
                        <a:defRPr sz="900">
                          <a:solidFill>
                            <a:srgbClr val="0F172A"/>
                          </a:solidFill>
                          <a:latin typeface="Arial"/>
                        </a:defRPr>
                      </a:pPr>
                      <a:r>
                        <a:t>5</a:t>
                      </a:r>
                    </a:p>
                  </a:txBody>
                  <a:tcPr marL="0" marR="0" marT="0" marB="0">
                    <a:solidFill>
                      <a:srgbClr val="FFFFFF"/>
                    </a:solidFill>
                  </a:tcPr>
                </a:tc>
                <a:tc>
                  <a:txBody>
                    <a:bodyPr/>
                    <a:lstStyle/>
                    <a:p>
                      <a:pPr>
                        <a:defRPr sz="900">
                          <a:solidFill>
                            <a:srgbClr val="0F172A"/>
                          </a:solidFill>
                          <a:latin typeface="Arial"/>
                        </a:defRPr>
                      </a:pPr>
                      <a:r>
                        <a:t>6.0</a:t>
                      </a:r>
                    </a:p>
                  </a:txBody>
                  <a:tcPr marL="0" marR="0" marT="0" marB="0">
                    <a:solidFill>
                      <a:srgbClr val="FFFFFF"/>
                    </a:solidFill>
                  </a:tcPr>
                </a:tc>
                <a:tc>
                  <a:txBody>
                    <a:bodyPr/>
                    <a:lstStyle/>
                    <a:p>
                      <a:pPr>
                        <a:defRPr sz="900">
                          <a:solidFill>
                            <a:srgbClr val="0F172A"/>
                          </a:solidFill>
                          <a:latin typeface="Arial"/>
                        </a:defRPr>
                      </a:pPr>
                      <a:r>
                        <a:t>0.000472</a:t>
                      </a:r>
                    </a:p>
                  </a:txBody>
                  <a:tcPr marL="0" marR="0" marT="0" marB="0">
                    <a:solidFill>
                      <a:srgbClr val="FFFFFF"/>
                    </a:solidFill>
                  </a:tcPr>
                </a:tc>
                <a:tc>
                  <a:txBody>
                    <a:bodyPr/>
                    <a:lstStyle/>
                    <a:p>
                      <a:pPr>
                        <a:defRPr sz="900">
                          <a:solidFill>
                            <a:srgbClr val="0F172A"/>
                          </a:solidFill>
                          <a:latin typeface="Arial"/>
                        </a:defRPr>
                      </a:pPr>
                      <a:r>
                        <a:t>0.002833</a:t>
                      </a:r>
                    </a:p>
                  </a:txBody>
                  <a:tcPr marL="0" marR="0" marT="0" marB="0">
                    <a:solidFill>
                      <a:srgbClr val="FFFFFF"/>
                    </a:solidFill>
                  </a:tcPr>
                </a:tc>
              </a:tr>
              <a:tr h="415636">
                <a:tc>
                  <a:txBody>
                    <a:bodyPr/>
                    <a:lstStyle/>
                    <a:p>
                      <a:pPr>
                        <a:defRPr sz="900">
                          <a:solidFill>
                            <a:srgbClr val="0F172A"/>
                          </a:solidFill>
                          <a:latin typeface="Arial"/>
                        </a:defRPr>
                      </a:pPr>
                      <a:r>
                        <a:t>6</a:t>
                      </a:r>
                    </a:p>
                  </a:txBody>
                  <a:tcPr marL="0" marR="0" marT="0" marB="0">
                    <a:solidFill>
                      <a:srgbClr val="FFFFFF"/>
                    </a:solidFill>
                  </a:tcPr>
                </a:tc>
                <a:tc>
                  <a:txBody>
                    <a:bodyPr/>
                    <a:lstStyle/>
                    <a:p>
                      <a:pPr>
                        <a:defRPr sz="900">
                          <a:solidFill>
                            <a:srgbClr val="0F172A"/>
                          </a:solidFill>
                          <a:latin typeface="Arial"/>
                        </a:defRPr>
                      </a:pPr>
                      <a:r>
                        <a:t>7.0</a:t>
                      </a:r>
                    </a:p>
                  </a:txBody>
                  <a:tcPr marL="0" marR="0" marT="0" marB="0">
                    <a:solidFill>
                      <a:srgbClr val="FFFFFF"/>
                    </a:solidFill>
                  </a:tcPr>
                </a:tc>
                <a:tc>
                  <a:txBody>
                    <a:bodyPr/>
                    <a:lstStyle/>
                    <a:p>
                      <a:pPr>
                        <a:defRPr sz="900">
                          <a:solidFill>
                            <a:srgbClr val="0F172A"/>
                          </a:solidFill>
                          <a:latin typeface="Arial"/>
                        </a:defRPr>
                      </a:pPr>
                      <a:r>
                        <a:t>0.000607</a:t>
                      </a:r>
                    </a:p>
                  </a:txBody>
                  <a:tcPr marL="0" marR="0" marT="0" marB="0">
                    <a:solidFill>
                      <a:srgbClr val="FFFFFF"/>
                    </a:solidFill>
                  </a:tcPr>
                </a:tc>
                <a:tc>
                  <a:txBody>
                    <a:bodyPr/>
                    <a:lstStyle/>
                    <a:p>
                      <a:pPr>
                        <a:defRPr sz="900">
                          <a:solidFill>
                            <a:srgbClr val="0F172A"/>
                          </a:solidFill>
                          <a:latin typeface="Arial"/>
                        </a:defRPr>
                      </a:pPr>
                      <a:r>
                        <a:t>0.004249</a:t>
                      </a:r>
                    </a:p>
                  </a:txBody>
                  <a:tcPr marL="0" marR="0" marT="0" marB="0">
                    <a:solidFill>
                      <a:srgbClr val="FFFFFF"/>
                    </a:solidFill>
                  </a:tcPr>
                </a:tc>
              </a:tr>
              <a:tr h="415636">
                <a:tc>
                  <a:txBody>
                    <a:bodyPr/>
                    <a:lstStyle/>
                    <a:p>
                      <a:pPr>
                        <a:defRPr sz="900">
                          <a:solidFill>
                            <a:srgbClr val="0F172A"/>
                          </a:solidFill>
                          <a:latin typeface="Arial"/>
                        </a:defRPr>
                      </a:pPr>
                      <a:r>
                        <a:t>7</a:t>
                      </a:r>
                    </a:p>
                  </a:txBody>
                  <a:tcPr marL="0" marR="0" marT="0" marB="0">
                    <a:solidFill>
                      <a:srgbClr val="FFFFFF"/>
                    </a:solidFill>
                  </a:tcPr>
                </a:tc>
                <a:tc>
                  <a:txBody>
                    <a:bodyPr/>
                    <a:lstStyle/>
                    <a:p>
                      <a:pPr>
                        <a:defRPr sz="900">
                          <a:solidFill>
                            <a:srgbClr val="0F172A"/>
                          </a:solidFill>
                          <a:latin typeface="Arial"/>
                        </a:defRPr>
                      </a:pPr>
                      <a:r>
                        <a:t>8.0</a:t>
                      </a:r>
                    </a:p>
                  </a:txBody>
                  <a:tcPr marL="0" marR="0" marT="0" marB="0">
                    <a:solidFill>
                      <a:srgbClr val="FFFFFF"/>
                    </a:solidFill>
                  </a:tcPr>
                </a:tc>
                <a:tc>
                  <a:txBody>
                    <a:bodyPr/>
                    <a:lstStyle/>
                    <a:p>
                      <a:pPr>
                        <a:defRPr sz="900">
                          <a:solidFill>
                            <a:srgbClr val="0F172A"/>
                          </a:solidFill>
                          <a:latin typeface="Arial"/>
                        </a:defRPr>
                      </a:pPr>
                      <a:r>
                        <a:t>0.000531</a:t>
                      </a:r>
                    </a:p>
                  </a:txBody>
                  <a:tcPr marL="0" marR="0" marT="0" marB="0">
                    <a:solidFill>
                      <a:srgbClr val="FFFFFF"/>
                    </a:solidFill>
                  </a:tcPr>
                </a:tc>
                <a:tc>
                  <a:txBody>
                    <a:bodyPr/>
                    <a:lstStyle/>
                    <a:p>
                      <a:pPr>
                        <a:defRPr sz="900">
                          <a:solidFill>
                            <a:srgbClr val="0F172A"/>
                          </a:solidFill>
                          <a:latin typeface="Arial"/>
                        </a:defRPr>
                      </a:pPr>
                      <a:r>
                        <a:t>0.004249</a:t>
                      </a:r>
                    </a:p>
                  </a:txBody>
                  <a:tcPr marL="0" marR="0" marT="0" marB="0">
                    <a:solidFill>
                      <a:srgbClr val="FFFFFF"/>
                    </a:solidFill>
                  </a:tcPr>
                </a:tc>
              </a:tr>
              <a:tr h="415636">
                <a:tc>
                  <a:txBody>
                    <a:bodyPr/>
                    <a:lstStyle/>
                    <a:p>
                      <a:pPr>
                        <a:defRPr sz="900">
                          <a:solidFill>
                            <a:srgbClr val="0F172A"/>
                          </a:solidFill>
                          <a:latin typeface="Arial"/>
                        </a:defRPr>
                      </a:pPr>
                      <a:r>
                        <a:t>8</a:t>
                      </a:r>
                    </a:p>
                  </a:txBody>
                  <a:tcPr marL="0" marR="0" marT="0" marB="0">
                    <a:solidFill>
                      <a:srgbClr val="FFFFFF"/>
                    </a:solidFill>
                  </a:tcPr>
                </a:tc>
                <a:tc>
                  <a:txBody>
                    <a:bodyPr/>
                    <a:lstStyle/>
                    <a:p>
                      <a:pPr>
                        <a:defRPr sz="900">
                          <a:solidFill>
                            <a:srgbClr val="0F172A"/>
                          </a:solidFill>
                          <a:latin typeface="Arial"/>
                        </a:defRPr>
                      </a:pPr>
                      <a:r>
                        <a:t>9.0</a:t>
                      </a:r>
                    </a:p>
                  </a:txBody>
                  <a:tcPr marL="0" marR="0" marT="0" marB="0">
                    <a:solidFill>
                      <a:srgbClr val="FFFFFF"/>
                    </a:solidFill>
                  </a:tcPr>
                </a:tc>
                <a:tc>
                  <a:txBody>
                    <a:bodyPr/>
                    <a:lstStyle/>
                    <a:p>
                      <a:pPr>
                        <a:defRPr sz="900">
                          <a:solidFill>
                            <a:srgbClr val="0F172A"/>
                          </a:solidFill>
                          <a:latin typeface="Arial"/>
                        </a:defRPr>
                      </a:pPr>
                      <a:r>
                        <a:t>0.000472</a:t>
                      </a:r>
                    </a:p>
                  </a:txBody>
                  <a:tcPr marL="0" marR="0" marT="0" marB="0">
                    <a:solidFill>
                      <a:srgbClr val="FFFFFF"/>
                    </a:solidFill>
                  </a:tcPr>
                </a:tc>
                <a:tc>
                  <a:txBody>
                    <a:bodyPr/>
                    <a:lstStyle/>
                    <a:p>
                      <a:pPr>
                        <a:defRPr sz="900">
                          <a:solidFill>
                            <a:srgbClr val="0F172A"/>
                          </a:solidFill>
                          <a:latin typeface="Arial"/>
                        </a:defRPr>
                      </a:pPr>
                      <a:r>
                        <a:t>0.004249</a:t>
                      </a:r>
                    </a:p>
                  </a:txBody>
                  <a:tcPr marL="0" marR="0" marT="0" marB="0">
                    <a:solidFill>
                      <a:srgbClr val="FFFFFF"/>
                    </a:solidFill>
                  </a:tcPr>
                </a:tc>
              </a:tr>
              <a:tr h="415640">
                <a:tc>
                  <a:txBody>
                    <a:bodyPr/>
                    <a:lstStyle/>
                    <a:p>
                      <a:pPr>
                        <a:defRPr sz="900">
                          <a:solidFill>
                            <a:srgbClr val="0F172A"/>
                          </a:solidFill>
                          <a:latin typeface="Arial"/>
                        </a:defRPr>
                      </a:pPr>
                      <a:r>
                        <a:t>9</a:t>
                      </a:r>
                    </a:p>
                  </a:txBody>
                  <a:tcPr marL="0" marR="0" marT="0" marB="0">
                    <a:solidFill>
                      <a:srgbClr val="FFFFFF"/>
                    </a:solidFill>
                  </a:tcPr>
                </a:tc>
                <a:tc>
                  <a:txBody>
                    <a:bodyPr/>
                    <a:lstStyle/>
                    <a:p>
                      <a:pPr>
                        <a:defRPr sz="900">
                          <a:solidFill>
                            <a:srgbClr val="0F172A"/>
                          </a:solidFill>
                          <a:latin typeface="Arial"/>
                        </a:defRPr>
                      </a:pPr>
                      <a:r>
                        <a:t>10.0</a:t>
                      </a:r>
                    </a:p>
                  </a:txBody>
                  <a:tcPr marL="0" marR="0" marT="0" marB="0">
                    <a:solidFill>
                      <a:srgbClr val="FFFFFF"/>
                    </a:solidFill>
                  </a:tcPr>
                </a:tc>
                <a:tc>
                  <a:txBody>
                    <a:bodyPr/>
                    <a:lstStyle/>
                    <a:p>
                      <a:pPr>
                        <a:defRPr sz="900">
                          <a:solidFill>
                            <a:srgbClr val="0F172A"/>
                          </a:solidFill>
                          <a:latin typeface="Arial"/>
                        </a:defRPr>
                      </a:pPr>
                      <a:r>
                        <a:t>0.000425</a:t>
                      </a:r>
                    </a:p>
                  </a:txBody>
                  <a:tcPr marL="0" marR="0" marT="0" marB="0">
                    <a:solidFill>
                      <a:srgbClr val="FFFFFF"/>
                    </a:solidFill>
                  </a:tcPr>
                </a:tc>
                <a:tc>
                  <a:txBody>
                    <a:bodyPr/>
                    <a:lstStyle/>
                    <a:p>
                      <a:pPr>
                        <a:defRPr sz="900">
                          <a:solidFill>
                            <a:srgbClr val="0F172A"/>
                          </a:solidFill>
                          <a:latin typeface="Arial"/>
                        </a:defRPr>
                      </a:pPr>
                      <a:r>
                        <a:t>0.004249</a:t>
                      </a:r>
                    </a:p>
                  </a:txBody>
                  <a:tcPr marL="0" marR="0" marT="0" marB="0">
                    <a:solidFill>
                      <a:srgbClr val="FFFFFF"/>
                    </a:solidFill>
                  </a:tcPr>
                </a:tc>
              </a:tr>
            </a:tbl>
          </a:graphicData>
        </a:graphic>
      </p:graphicFrame>
      <p:pic>
        <p:nvPicPr>
          <p:cNvPr id="5" name="Picture 4" descr="content_prec_recall.png"/>
          <p:cNvPicPr>
            <a:picLocks noChangeAspect="1"/>
          </p:cNvPicPr>
          <p:nvPr/>
        </p:nvPicPr>
        <p:blipFill>
          <a:blip r:embed="rId2"/>
          <a:stretch>
            <a:fillRect/>
          </a:stretch>
        </p:blipFill>
        <p:spPr>
          <a:xfrm>
            <a:off x="5943600" y="1234440"/>
            <a:ext cx="5486400" cy="3852153"/>
          </a:xfrm>
          <a:prstGeom prst="rect">
            <a:avLst/>
          </a:prstGeom>
        </p:spPr>
      </p:pic>
      <p:sp>
        <p:nvSpPr>
          <p:cNvPr id="6" name="Rectangle 5"/>
          <p:cNvSpPr/>
          <p:nvPr/>
        </p:nvSpPr>
        <p:spPr>
          <a:xfrm>
            <a:off x="731520" y="5897880"/>
            <a:ext cx="10698480" cy="73152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a:solidFill>
                  <a:srgbClr val="334155"/>
                </a:solidFill>
                <a:latin typeface="Arial"/>
              </a:defRPr>
            </a:pPr>
            <a:r>
              <a:t>Evaluation Analysis: Low numerical precision and recall reflect extreme catalog sparsity across 178K recipes. While exact historical overlap is small, textual similarity successfully captures thematic culinary preferences.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822960"/>
          </a:xfrm>
          <a:prstGeom prst="rect">
            <a:avLst/>
          </a:prstGeom>
          <a:noFill/>
        </p:spPr>
        <p:txBody>
          <a:bodyPr wrap="square" lIns="0" tIns="0" rIns="0" bIns="0">
            <a:spAutoFit/>
          </a:bodyPr>
          <a:lstStyle/>
          <a:p>
            <a:pPr>
              <a:spcAft>
                <a:spcPts val="200"/>
              </a:spcAft>
              <a:defRPr sz="1000" b="1">
                <a:solidFill>
                  <a:srgbClr val="0284C7"/>
                </a:solidFill>
                <a:latin typeface="Arial"/>
              </a:defRPr>
            </a:pPr>
            <a:r>
              <a:t>SUMMARY AND FUTURE DIRECTIONS</a:t>
            </a:r>
          </a:p>
          <a:p>
            <a:pPr>
              <a:defRPr sz="2600" b="1">
                <a:solidFill>
                  <a:srgbClr val="0F172A"/>
                </a:solidFill>
                <a:latin typeface="Arial"/>
              </a:defRPr>
            </a:pPr>
            <a:r>
              <a:t>Conclusions</a:t>
            </a:r>
          </a:p>
        </p:txBody>
      </p:sp>
      <p:sp>
        <p:nvSpPr>
          <p:cNvPr id="4" name="Rectangle 3"/>
          <p:cNvSpPr/>
          <p:nvPr/>
        </p:nvSpPr>
        <p:spPr>
          <a:xfrm>
            <a:off x="731520" y="1371600"/>
            <a:ext cx="5120640" cy="219456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Content Based Recommender Limitations</a:t>
            </a:r>
          </a:p>
          <a:p>
            <a:pPr>
              <a:spcBef>
                <a:spcPts val="800"/>
              </a:spcBef>
              <a:defRPr sz="1050">
                <a:solidFill>
                  <a:srgbClr val="334155"/>
                </a:solidFill>
                <a:latin typeface="Arial"/>
              </a:defRPr>
            </a:pPr>
            <a:r>
              <a:t>The textual descriptions in recipe datasets often emphasize personal storytelling and culinary anecdotes rather than standardized ingredient and preparation features. This feature dilution limits TF IDF precision, indicating that explicit ingredient tokens and cooking techniques provide stronger recommendation signals.</a:t>
            </a:r>
          </a:p>
        </p:txBody>
      </p:sp>
      <p:sp>
        <p:nvSpPr>
          <p:cNvPr id="5" name="Rectangle 4"/>
          <p:cNvSpPr/>
          <p:nvPr/>
        </p:nvSpPr>
        <p:spPr>
          <a:xfrm>
            <a:off x="731520" y="1371600"/>
            <a:ext cx="5120640" cy="73152"/>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371600"/>
            <a:ext cx="5212080" cy="219456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Cluster Based Personalization Gains</a:t>
            </a:r>
          </a:p>
          <a:p>
            <a:pPr>
              <a:spcBef>
                <a:spcPts val="800"/>
              </a:spcBef>
              <a:defRPr sz="1050">
                <a:solidFill>
                  <a:srgbClr val="334155"/>
                </a:solidFill>
                <a:latin typeface="Arial"/>
              </a:defRPr>
            </a:pPr>
            <a:r>
              <a:t>Cluster Based collaborative filtering generated substantially more personalized and diverse recommendations compared to global models. By restricting neighborhood search to cohesive user taste clusters, the model effectively balances accuracy and culinary variety (KNNWithZScore MAE 0.3451).</a:t>
            </a:r>
          </a:p>
        </p:txBody>
      </p:sp>
      <p:sp>
        <p:nvSpPr>
          <p:cNvPr id="7" name="Rectangle 6"/>
          <p:cNvSpPr/>
          <p:nvPr/>
        </p:nvSpPr>
        <p:spPr>
          <a:xfrm>
            <a:off x="6217920" y="1371600"/>
            <a:ext cx="5212080" cy="73152"/>
          </a:xfrm>
          <a:prstGeom prst="rect">
            <a:avLst/>
          </a:prstGeom>
          <a:solidFill>
            <a:srgbClr val="166534"/>
          </a:solidFill>
          <a:ln>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840480"/>
            <a:ext cx="5120640" cy="237744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Collaborative Filtering &amp; Popularity Bias</a:t>
            </a:r>
          </a:p>
          <a:p>
            <a:pPr>
              <a:spcBef>
                <a:spcPts val="800"/>
              </a:spcBef>
              <a:defRPr sz="1050">
                <a:solidFill>
                  <a:srgbClr val="334155"/>
                </a:solidFill>
                <a:latin typeface="Arial"/>
              </a:defRPr>
            </a:pPr>
            <a:r>
              <a:t>Standard matrix factorization (SVD) achieved low numerical error (MAE 0.3491) but suffered from severe popularity bias, repeatedly recommending universally high rated recipes. The 72% concentration of five star ratings causes global models to converge on popular favorites rather than niche user tastes.</a:t>
            </a:r>
          </a:p>
        </p:txBody>
      </p:sp>
      <p:sp>
        <p:nvSpPr>
          <p:cNvPr id="9" name="Rectangle 8"/>
          <p:cNvSpPr/>
          <p:nvPr/>
        </p:nvSpPr>
        <p:spPr>
          <a:xfrm>
            <a:off x="731520" y="3840480"/>
            <a:ext cx="5120640" cy="73152"/>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3840480"/>
            <a:ext cx="5212080" cy="2377440"/>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rIns="228600"/>
          <a:lstStyle/>
          <a:p>
            <a:pPr algn="ctr">
              <a:defRPr sz="1200" b="1">
                <a:solidFill>
                  <a:srgbClr val="0F172A"/>
                </a:solidFill>
                <a:latin typeface="Arial"/>
              </a:defRPr>
            </a:pPr>
            <a:r>
              <a:t>Future Research &amp; Hybrid Architecture</a:t>
            </a:r>
          </a:p>
          <a:p>
            <a:pPr>
              <a:spcBef>
                <a:spcPts val="800"/>
              </a:spcBef>
              <a:defRPr sz="1050">
                <a:solidFill>
                  <a:srgbClr val="334155"/>
                </a:solidFill>
                <a:latin typeface="Arial"/>
              </a:defRPr>
            </a:pPr>
            <a:r>
              <a:t>Future work should implement a hybrid recommendation engine combining Cluster Based candidate retrieval with deep semantic re ranking. Incorporating nutritional metadata, preparation time constraints, and explicit user allergen filters will yield production ready recipe personalization.</a:t>
            </a:r>
          </a:p>
        </p:txBody>
      </p:sp>
      <p:sp>
        <p:nvSpPr>
          <p:cNvPr id="11" name="Rectangle 10"/>
          <p:cNvSpPr/>
          <p:nvPr/>
        </p:nvSpPr>
        <p:spPr>
          <a:xfrm>
            <a:off x="6217920" y="3840480"/>
            <a:ext cx="5212080" cy="73152"/>
          </a:xfrm>
          <a:prstGeom prst="rect">
            <a:avLst/>
          </a:prstGeom>
          <a:solidFill>
            <a:srgbClr val="6D28D9"/>
          </a:solidFill>
          <a:ln>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