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45920"/>
            <a:ext cx="9966960" cy="3474720"/>
          </a:xfrm>
          <a:prstGeom prst="rect">
            <a:avLst/>
          </a:prstGeom>
          <a:noFill/>
        </p:spPr>
        <p:txBody>
          <a:bodyPr wrap="square" lIns="0" tIns="0" rIns="0" bIns="0">
            <a:spAutoFit/>
          </a:bodyPr>
          <a:lstStyle/>
          <a:p>
            <a:pPr algn="ctr">
              <a:defRPr sz="1300" b="1">
                <a:solidFill>
                  <a:srgbClr val="0284C7"/>
                </a:solidFill>
                <a:latin typeface="Arial"/>
              </a:defRPr>
            </a:pPr>
            <a:r>
              <a:t>FOOD.COM RECIPE RECOMMENDATION SYSTEM</a:t>
            </a:r>
          </a:p>
          <a:p>
            <a:pPr algn="ctr">
              <a:spcBef>
                <a:spcPts val="1000"/>
              </a:spcBef>
              <a:defRPr sz="4400" b="1">
                <a:solidFill>
                  <a:srgbClr val="0F172A"/>
                </a:solidFill>
                <a:latin typeface="Arial"/>
              </a:defRPr>
            </a:pPr>
            <a:r>
              <a:t>Recipe Recommendations</a:t>
            </a:r>
          </a:p>
          <a:p>
            <a:pPr algn="ctr">
              <a:spcBef>
                <a:spcPts val="1200"/>
              </a:spcBef>
              <a:defRPr sz="2000">
                <a:solidFill>
                  <a:srgbClr val="1E3A8A"/>
                </a:solidFill>
                <a:latin typeface="Arial"/>
              </a:defRPr>
            </a:pPr>
            <a:r>
              <a:t>Collaborative Filtering, Clustering, and Content Based Methods on Food.com</a:t>
            </a:r>
          </a:p>
        </p:txBody>
      </p:sp>
      <p:sp>
        <p:nvSpPr>
          <p:cNvPr id="5" name="Rectangle 4"/>
          <p:cNvSpPr/>
          <p:nvPr/>
        </p:nvSpPr>
        <p:spPr>
          <a:xfrm>
            <a:off x="4206240" y="4023360"/>
            <a:ext cx="3749039" cy="3657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297680"/>
            <a:ext cx="9966960" cy="1645920"/>
          </a:xfrm>
          <a:prstGeom prst="rect">
            <a:avLst/>
          </a:prstGeom>
          <a:noFill/>
        </p:spPr>
        <p:txBody>
          <a:bodyPr wrap="square" lIns="0" tIns="0" rIns="0" bIns="0">
            <a:spAutoFit/>
          </a:bodyPr>
          <a:lstStyle/>
          <a:p>
            <a:pPr algn="ctr">
              <a:defRPr sz="2200" b="1">
                <a:solidFill>
                  <a:srgbClr val="0F172A"/>
                </a:solidFill>
                <a:latin typeface="Arial"/>
              </a:defRPr>
            </a:pPr>
            <a:r>
              <a:t>Vidhya Walke</a:t>
            </a:r>
          </a:p>
          <a:p>
            <a:pPr algn="ctr">
              <a:spcBef>
                <a:spcPts val="600"/>
              </a:spcBef>
              <a:defRPr sz="1600">
                <a:solidFill>
                  <a:srgbClr val="475569"/>
                </a:solidFill>
                <a:latin typeface="Arial"/>
              </a:defRPr>
            </a:pPr>
            <a:r>
              <a:t>MSc Data Science</a:t>
            </a:r>
          </a:p>
          <a:p>
            <a:pPr algn="ctr">
              <a:spcBef>
                <a:spcPts val="800"/>
              </a:spcBef>
              <a:defRPr sz="1200">
                <a:solidFill>
                  <a:srgbClr val="64748B"/>
                </a:solidFill>
                <a:latin typeface="Arial"/>
              </a:defRPr>
            </a:pPr>
            <a:r>
              <a:t>Food.com Benchmark Dataset: 180K Recipes and 1.13M User Interactions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RESEARCH MOTIVATION &amp; SCOPE</a:t>
            </a:r>
          </a:p>
          <a:p>
            <a:pPr>
              <a:defRPr sz="2600" b="1">
                <a:solidFill>
                  <a:srgbClr val="0F172A"/>
                </a:solidFill>
                <a:latin typeface="Arial"/>
              </a:defRPr>
            </a:pPr>
            <a:r>
              <a:t>Introduction &amp; Research Objectives</a:t>
            </a:r>
          </a:p>
        </p:txBody>
      </p:sp>
      <p:sp>
        <p:nvSpPr>
          <p:cNvPr id="4" name="Rectangle 3"/>
          <p:cNvSpPr/>
          <p:nvPr/>
        </p:nvSpPr>
        <p:spPr>
          <a:xfrm>
            <a:off x="731520" y="1371600"/>
            <a:ext cx="5120640" cy="228600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Research Motivation &amp; The Recipe Problem</a:t>
            </a:r>
          </a:p>
          <a:p>
            <a:pPr>
              <a:spcBef>
                <a:spcPts val="800"/>
              </a:spcBef>
              <a:defRPr sz="1050">
                <a:solidFill>
                  <a:srgbClr val="334155"/>
                </a:solidFill>
                <a:latin typeface="Arial"/>
              </a:defRPr>
            </a:pPr>
            <a:r>
              <a:t>Online culinary websites feature hundreds of thousands of candidate recipes. Navigating this vast space creates substantial choice paralysis for everyday cooks seeking relevant meals. Building accurate, personalized recommenders is essential to surface dishes matching individual dietary habits and taste preferences.</a:t>
            </a:r>
          </a:p>
        </p:txBody>
      </p:sp>
      <p:sp>
        <p:nvSpPr>
          <p:cNvPr id="5" name="Rectangle 4"/>
          <p:cNvSpPr/>
          <p:nvPr/>
        </p:nvSpPr>
        <p:spPr>
          <a:xfrm>
            <a:off x="731520" y="1371600"/>
            <a:ext cx="5120640" cy="73152"/>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371600"/>
            <a:ext cx="5212080" cy="228600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Research Objectives &amp; Tasks</a:t>
            </a:r>
          </a:p>
          <a:p>
            <a:pPr>
              <a:spcBef>
                <a:spcPts val="800"/>
              </a:spcBef>
              <a:defRPr sz="1050">
                <a:solidFill>
                  <a:srgbClr val="334155"/>
                </a:solidFill>
                <a:latin typeface="Arial"/>
              </a:defRPr>
            </a:pPr>
            <a:r>
              <a:t>As an MSc Data Science student researcher, I designed a multi model recommendation pipeline on the Food.com dataset. My primary goal was to predict user recipe ratings accurately while generating personalized, non trivial meal suggestions across memory based, latent factor, and content based methods.</a:t>
            </a:r>
          </a:p>
        </p:txBody>
      </p:sp>
      <p:sp>
        <p:nvSpPr>
          <p:cNvPr id="7" name="Rectangle 6"/>
          <p:cNvSpPr/>
          <p:nvPr/>
        </p:nvSpPr>
        <p:spPr>
          <a:xfrm>
            <a:off x="6217920" y="1371600"/>
            <a:ext cx="5212080" cy="73152"/>
          </a:xfrm>
          <a:prstGeom prst="rect">
            <a:avLst/>
          </a:prstGeom>
          <a:solidFill>
            <a:srgbClr val="166534"/>
          </a:solidFill>
          <a:ln>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931920"/>
            <a:ext cx="5120640" cy="228600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Algorithmic Approaches Investigated</a:t>
            </a:r>
          </a:p>
          <a:p>
            <a:pPr>
              <a:spcBef>
                <a:spcPts val="800"/>
              </a:spcBef>
              <a:defRPr sz="1050">
                <a:solidFill>
                  <a:srgbClr val="334155"/>
                </a:solidFill>
                <a:latin typeface="Arial"/>
              </a:defRPr>
            </a:pPr>
            <a:r>
              <a:t>I evaluated collaborative filtering neighborhood models (KNNBasic, KNNWithMeans, KNNWithZScore, KNNBaseline) and matrix factorization (SVD, SVDpp, NMF) using Scikit Surprise. In addition, I formulated a personalized Content Based model using TF IDF token representations from recipe descriptions.</a:t>
            </a:r>
          </a:p>
        </p:txBody>
      </p:sp>
      <p:sp>
        <p:nvSpPr>
          <p:cNvPr id="9" name="Rectangle 8"/>
          <p:cNvSpPr/>
          <p:nvPr/>
        </p:nvSpPr>
        <p:spPr>
          <a:xfrm>
            <a:off x="731520" y="3931920"/>
            <a:ext cx="5120640" cy="73152"/>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931920"/>
            <a:ext cx="5212080" cy="228600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Unsupervised Clustering Strategy</a:t>
            </a:r>
          </a:p>
          <a:p>
            <a:pPr>
              <a:spcBef>
                <a:spcPts val="800"/>
              </a:spcBef>
              <a:defRPr sz="1050">
                <a:solidFill>
                  <a:srgbClr val="334155"/>
                </a:solidFill>
                <a:latin typeface="Arial"/>
              </a:defRPr>
            </a:pPr>
            <a:r>
              <a:t>To resolve extreme catalog sparsity and rating imbalance (where 72% of reviews are 5 stars), I implemented clustering via Surprise CoClustering and NLTK Cosine KMeans. This allowed me to isolate homogeneous taste sub communities and dramatically boost recommendation diversity.</a:t>
            </a:r>
          </a:p>
        </p:txBody>
      </p:sp>
      <p:sp>
        <p:nvSpPr>
          <p:cNvPr id="11" name="Rectangle 10"/>
          <p:cNvSpPr/>
          <p:nvPr/>
        </p:nvSpPr>
        <p:spPr>
          <a:xfrm>
            <a:off x="6217920" y="3931920"/>
            <a:ext cx="5212080" cy="73152"/>
          </a:xfrm>
          <a:prstGeom prst="rect">
            <a:avLst/>
          </a:prstGeom>
          <a:solidFill>
            <a:srgbClr val="6D28D9"/>
          </a:solidFill>
          <a:ln>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DATASET ARCHITECTURE</a:t>
            </a:r>
          </a:p>
          <a:p>
            <a:pPr>
              <a:defRPr sz="2600" b="1">
                <a:solidFill>
                  <a:srgbClr val="0F172A"/>
                </a:solidFill>
                <a:latin typeface="Arial"/>
              </a:defRPr>
            </a:pPr>
            <a:r>
              <a:t>Data Description</a:t>
            </a:r>
          </a:p>
        </p:txBody>
      </p:sp>
      <p:graphicFrame>
        <p:nvGraphicFramePr>
          <p:cNvPr id="4" name="Table 3"/>
          <p:cNvGraphicFramePr>
            <a:graphicFrameLocks noGrp="1"/>
          </p:cNvGraphicFramePr>
          <p:nvPr/>
        </p:nvGraphicFramePr>
        <p:xfrm>
          <a:off x="731520" y="1280160"/>
          <a:ext cx="10728655" cy="4937760"/>
        </p:xfrm>
        <a:graphic>
          <a:graphicData uri="http://schemas.openxmlformats.org/drawingml/2006/table">
            <a:tbl>
              <a:tblPr firstRow="1" bandRow="1">
                <a:tableStyleId>{5C22544A-7EE6-4342-B048-85BDC9FD1C3A}</a:tableStyleId>
              </a:tblPr>
              <a:tblGrid>
                <a:gridCol w="2286000"/>
                <a:gridCol w="1463040"/>
                <a:gridCol w="6979615"/>
              </a:tblGrid>
              <a:tr h="822960">
                <a:tc>
                  <a:txBody>
                    <a:bodyPr/>
                    <a:lstStyle/>
                    <a:p>
                      <a:pPr>
                        <a:defRPr sz="1200" b="1">
                          <a:solidFill>
                            <a:srgbClr val="0F172A"/>
                          </a:solidFill>
                          <a:latin typeface="Arial"/>
                        </a:defRPr>
                      </a:pPr>
                      <a:r>
                        <a:t>File Name</a:t>
                      </a:r>
                    </a:p>
                  </a:txBody>
                  <a:tcPr marL="73152" marR="73152" marT="45720" marB="45720">
                    <a:solidFill>
                      <a:srgbClr val="F8FAFC"/>
                    </a:solidFill>
                  </a:tcPr>
                </a:tc>
                <a:tc>
                  <a:txBody>
                    <a:bodyPr/>
                    <a:lstStyle/>
                    <a:p>
                      <a:pPr algn="ctr">
                        <a:defRPr sz="1200" b="1">
                          <a:solidFill>
                            <a:srgbClr val="0F172A"/>
                          </a:solidFill>
                          <a:latin typeface="Arial"/>
                        </a:defRPr>
                      </a:pPr>
                      <a:r>
                        <a:t>Rows</a:t>
                      </a:r>
                    </a:p>
                  </a:txBody>
                  <a:tcPr marL="73152" marR="73152" marT="45720" marB="45720">
                    <a:solidFill>
                      <a:srgbClr val="F8FAFC"/>
                    </a:solidFill>
                  </a:tcPr>
                </a:tc>
                <a:tc>
                  <a:txBody>
                    <a:bodyPr/>
                    <a:lstStyle/>
                    <a:p>
                      <a:pPr>
                        <a:defRPr sz="1200" b="1">
                          <a:solidFill>
                            <a:srgbClr val="0F172A"/>
                          </a:solidFill>
                          <a:latin typeface="Arial"/>
                        </a:defRPr>
                      </a:pPr>
                      <a:r>
                        <a:t>Description</a:t>
                      </a:r>
                    </a:p>
                  </a:txBody>
                  <a:tcPr marL="73152" marR="73152" marT="45720" marB="45720">
                    <a:solidFill>
                      <a:srgbClr val="F8FAFC"/>
                    </a:solidFill>
                  </a:tcPr>
                </a:tc>
              </a:tr>
              <a:tr h="822960">
                <a:tc>
                  <a:txBody>
                    <a:bodyPr/>
                    <a:lstStyle/>
                    <a:p>
                      <a:pPr>
                        <a:defRPr sz="1100" b="1">
                          <a:solidFill>
                            <a:srgbClr val="0F172A"/>
                          </a:solidFill>
                          <a:latin typeface="Arial"/>
                        </a:defRPr>
                      </a:pPr>
                      <a:r>
                        <a:t>PP_users.csv</a:t>
                      </a:r>
                    </a:p>
                  </a:txBody>
                  <a:tcPr marL="73152" marR="73152" marT="45720" marB="45720">
                    <a:solidFill>
                      <a:srgbClr val="FFFFFF"/>
                    </a:solidFill>
                  </a:tcPr>
                </a:tc>
                <a:tc>
                  <a:txBody>
                    <a:bodyPr/>
                    <a:lstStyle/>
                    <a:p>
                      <a:pPr algn="ctr">
                        <a:defRPr sz="1100" b="1">
                          <a:solidFill>
                            <a:srgbClr val="0284C7"/>
                          </a:solidFill>
                          <a:latin typeface="Arial"/>
                        </a:defRPr>
                      </a:pPr>
                      <a:r>
                        <a:t>25,076 users</a:t>
                      </a:r>
                    </a:p>
                  </a:txBody>
                  <a:tcPr marL="73152" marR="73152" marT="45720" marB="45720">
                    <a:solidFill>
                      <a:srgbClr val="FFFFFF"/>
                    </a:solidFill>
                  </a:tcPr>
                </a:tc>
                <a:tc>
                  <a:txBody>
                    <a:bodyPr/>
                    <a:lstStyle/>
                    <a:p>
                      <a:pPr>
                        <a:defRPr sz="1050">
                          <a:solidFill>
                            <a:srgbClr val="334155"/>
                          </a:solidFill>
                          <a:latin typeface="Arial"/>
                        </a:defRPr>
                      </a:pPr>
                      <a:r>
                        <a:t>Techniques and ingredients tried by the user, ratings left by the user, and count of recipes rated</a:t>
                      </a:r>
                    </a:p>
                  </a:txBody>
                  <a:tcPr marL="73152" marR="73152" marT="45720" marB="45720">
                    <a:solidFill>
                      <a:srgbClr val="FFFFFF"/>
                    </a:solidFill>
                  </a:tcPr>
                </a:tc>
              </a:tr>
              <a:tr h="822960">
                <a:tc>
                  <a:txBody>
                    <a:bodyPr/>
                    <a:lstStyle/>
                    <a:p>
                      <a:pPr>
                        <a:defRPr sz="1100" b="1">
                          <a:solidFill>
                            <a:srgbClr val="0F172A"/>
                          </a:solidFill>
                          <a:latin typeface="Arial"/>
                        </a:defRPr>
                      </a:pPr>
                      <a:r>
                        <a:t>PP_recipes.csv</a:t>
                      </a:r>
                    </a:p>
                  </a:txBody>
                  <a:tcPr marL="73152" marR="73152" marT="45720" marB="45720">
                    <a:solidFill>
                      <a:srgbClr val="FFFFFF"/>
                    </a:solidFill>
                  </a:tcPr>
                </a:tc>
                <a:tc>
                  <a:txBody>
                    <a:bodyPr/>
                    <a:lstStyle/>
                    <a:p>
                      <a:pPr algn="ctr">
                        <a:defRPr sz="1100" b="1">
                          <a:solidFill>
                            <a:srgbClr val="0284C7"/>
                          </a:solidFill>
                          <a:latin typeface="Arial"/>
                        </a:defRPr>
                      </a:pPr>
                      <a:r>
                        <a:t>178,265 recipes</a:t>
                      </a:r>
                    </a:p>
                  </a:txBody>
                  <a:tcPr marL="73152" marR="73152" marT="45720" marB="45720">
                    <a:solidFill>
                      <a:srgbClr val="FFFFFF"/>
                    </a:solidFill>
                  </a:tcPr>
                </a:tc>
                <a:tc>
                  <a:txBody>
                    <a:bodyPr/>
                    <a:lstStyle/>
                    <a:p>
                      <a:pPr>
                        <a:defRPr sz="1050">
                          <a:solidFill>
                            <a:srgbClr val="334155"/>
                          </a:solidFill>
                          <a:latin typeface="Arial"/>
                        </a:defRPr>
                      </a:pPr>
                      <a:r>
                        <a:t>Processed data for each recipe, including tokenized lists for recipe name, ingredients, steps, as well as techniques and calorie level</a:t>
                      </a:r>
                    </a:p>
                  </a:txBody>
                  <a:tcPr marL="73152" marR="73152" marT="45720" marB="45720">
                    <a:solidFill>
                      <a:srgbClr val="FFFFFF"/>
                    </a:solidFill>
                  </a:tcPr>
                </a:tc>
              </a:tr>
              <a:tr h="822960">
                <a:tc>
                  <a:txBody>
                    <a:bodyPr/>
                    <a:lstStyle/>
                    <a:p>
                      <a:pPr>
                        <a:defRPr sz="1100" b="1">
                          <a:solidFill>
                            <a:srgbClr val="0F172A"/>
                          </a:solidFill>
                          <a:latin typeface="Arial"/>
                        </a:defRPr>
                      </a:pPr>
                      <a:r>
                        <a:t>RAW_recipes.csv</a:t>
                      </a:r>
                    </a:p>
                  </a:txBody>
                  <a:tcPr marL="73152" marR="73152" marT="45720" marB="45720">
                    <a:solidFill>
                      <a:srgbClr val="FFFFFF"/>
                    </a:solidFill>
                  </a:tcPr>
                </a:tc>
                <a:tc>
                  <a:txBody>
                    <a:bodyPr/>
                    <a:lstStyle/>
                    <a:p>
                      <a:pPr algn="ctr">
                        <a:defRPr sz="1100" b="1">
                          <a:solidFill>
                            <a:srgbClr val="0284C7"/>
                          </a:solidFill>
                          <a:latin typeface="Arial"/>
                        </a:defRPr>
                      </a:pPr>
                      <a:r>
                        <a:t>231,637 recipes</a:t>
                      </a:r>
                    </a:p>
                  </a:txBody>
                  <a:tcPr marL="73152" marR="73152" marT="45720" marB="45720">
                    <a:solidFill>
                      <a:srgbClr val="FFFFFF"/>
                    </a:solidFill>
                  </a:tcPr>
                </a:tc>
                <a:tc>
                  <a:txBody>
                    <a:bodyPr/>
                    <a:lstStyle/>
                    <a:p>
                      <a:pPr>
                        <a:defRPr sz="1050">
                          <a:solidFill>
                            <a:srgbClr val="334155"/>
                          </a:solidFill>
                          <a:latin typeface="Arial"/>
                        </a:defRPr>
                      </a:pPr>
                      <a:r>
                        <a:t>Raw data for recipes, including the text name, minutes to complete, tags via Food.com, nutrition data, number of steps, text for each step, user provided description, ingredients</a:t>
                      </a:r>
                    </a:p>
                  </a:txBody>
                  <a:tcPr marL="73152" marR="73152" marT="45720" marB="45720">
                    <a:solidFill>
                      <a:srgbClr val="FFFFFF"/>
                    </a:solidFill>
                  </a:tcPr>
                </a:tc>
              </a:tr>
              <a:tr h="822960">
                <a:tc>
                  <a:txBody>
                    <a:bodyPr/>
                    <a:lstStyle/>
                    <a:p>
                      <a:pPr>
                        <a:defRPr sz="1100" b="1">
                          <a:solidFill>
                            <a:srgbClr val="0F172A"/>
                          </a:solidFill>
                          <a:latin typeface="Arial"/>
                        </a:defRPr>
                      </a:pPr>
                      <a:r>
                        <a:t>RAW_interactions.csv</a:t>
                      </a:r>
                    </a:p>
                  </a:txBody>
                  <a:tcPr marL="73152" marR="73152" marT="45720" marB="45720">
                    <a:solidFill>
                      <a:srgbClr val="FFFFFF"/>
                    </a:solidFill>
                  </a:tcPr>
                </a:tc>
                <a:tc>
                  <a:txBody>
                    <a:bodyPr/>
                    <a:lstStyle/>
                    <a:p>
                      <a:pPr algn="ctr">
                        <a:defRPr sz="1100" b="1">
                          <a:solidFill>
                            <a:srgbClr val="0284C7"/>
                          </a:solidFill>
                          <a:latin typeface="Arial"/>
                        </a:defRPr>
                      </a:pPr>
                      <a:r>
                        <a:t>1,132,367 ratings</a:t>
                      </a:r>
                    </a:p>
                  </a:txBody>
                  <a:tcPr marL="73152" marR="73152" marT="45720" marB="45720">
                    <a:solidFill>
                      <a:srgbClr val="FFFFFF"/>
                    </a:solidFill>
                  </a:tcPr>
                </a:tc>
                <a:tc>
                  <a:txBody>
                    <a:bodyPr/>
                    <a:lstStyle/>
                    <a:p>
                      <a:pPr>
                        <a:defRPr sz="1050">
                          <a:solidFill>
                            <a:srgbClr val="334155"/>
                          </a:solidFill>
                          <a:latin typeface="Arial"/>
                        </a:defRPr>
                      </a:pPr>
                      <a:r>
                        <a:t>Interactions with the recipes by the users, including User ID, Recipe ID, Date submitted, rating on a scale of 0 to 5, and text of the user review</a:t>
                      </a:r>
                    </a:p>
                  </a:txBody>
                  <a:tcPr marL="73152" marR="73152" marT="45720" marB="45720">
                    <a:solidFill>
                      <a:srgbClr val="FFFFFF"/>
                    </a:solidFill>
                  </a:tcPr>
                </a:tc>
              </a:tr>
              <a:tr h="822960">
                <a:tc>
                  <a:txBody>
                    <a:bodyPr/>
                    <a:lstStyle/>
                    <a:p>
                      <a:pPr>
                        <a:defRPr sz="1100" b="1">
                          <a:solidFill>
                            <a:srgbClr val="0F172A"/>
                          </a:solidFill>
                          <a:latin typeface="Arial"/>
                        </a:defRPr>
                      </a:pPr>
                      <a:r>
                        <a:t>Ingr_map.pkl</a:t>
                      </a:r>
                    </a:p>
                  </a:txBody>
                  <a:tcPr marL="73152" marR="73152" marT="45720" marB="45720">
                    <a:solidFill>
                      <a:srgbClr val="FFFFFF"/>
                    </a:solidFill>
                  </a:tcPr>
                </a:tc>
                <a:tc>
                  <a:txBody>
                    <a:bodyPr/>
                    <a:lstStyle/>
                    <a:p>
                      <a:pPr algn="ctr">
                        <a:defRPr sz="1100" b="1">
                          <a:solidFill>
                            <a:srgbClr val="0284C7"/>
                          </a:solidFill>
                          <a:latin typeface="Arial"/>
                        </a:defRPr>
                      </a:pPr>
                      <a:r>
                        <a:t>11,659 ingredients</a:t>
                      </a:r>
                    </a:p>
                  </a:txBody>
                  <a:tcPr marL="73152" marR="73152" marT="45720" marB="45720">
                    <a:solidFill>
                      <a:srgbClr val="FFFFFF"/>
                    </a:solidFill>
                  </a:tcPr>
                </a:tc>
                <a:tc>
                  <a:txBody>
                    <a:bodyPr/>
                    <a:lstStyle/>
                    <a:p>
                      <a:pPr>
                        <a:defRPr sz="1050">
                          <a:solidFill>
                            <a:srgbClr val="334155"/>
                          </a:solidFill>
                          <a:latin typeface="Arial"/>
                        </a:defRPr>
                      </a:pPr>
                      <a:r>
                        <a:t>A map of ingredient IDs to ingredient names, with the text description of the ingredient, count of words in the text description, length of description, and a simplified word or category or phrase used in place of the original description</a:t>
                      </a:r>
                    </a:p>
                  </a:txBody>
                  <a:tcPr marL="73152" marR="73152" marT="45720" marB="45720">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EXPLORATORY DATA ANALYSIS</a:t>
            </a:r>
          </a:p>
          <a:p>
            <a:pPr>
              <a:defRPr sz="2600" b="1">
                <a:solidFill>
                  <a:srgbClr val="0F172A"/>
                </a:solidFill>
                <a:latin typeface="Arial"/>
              </a:defRPr>
            </a:pPr>
            <a:r>
              <a:t>EDA</a:t>
            </a:r>
          </a:p>
        </p:txBody>
      </p:sp>
      <p:pic>
        <p:nvPicPr>
          <p:cNvPr id="4" name="Picture 3" descr="cell_11_out_1.png"/>
          <p:cNvPicPr>
            <a:picLocks noChangeAspect="1"/>
          </p:cNvPicPr>
          <p:nvPr/>
        </p:nvPicPr>
        <p:blipFill>
          <a:blip r:embed="rId2"/>
          <a:stretch>
            <a:fillRect/>
          </a:stretch>
        </p:blipFill>
        <p:spPr>
          <a:xfrm>
            <a:off x="731520" y="1234440"/>
            <a:ext cx="3383280" cy="2592850"/>
          </a:xfrm>
          <a:prstGeom prst="rect">
            <a:avLst/>
          </a:prstGeom>
        </p:spPr>
      </p:pic>
      <p:pic>
        <p:nvPicPr>
          <p:cNvPr id="5" name="Picture 4" descr="cell_13_out_1.png"/>
          <p:cNvPicPr>
            <a:picLocks noChangeAspect="1"/>
          </p:cNvPicPr>
          <p:nvPr/>
        </p:nvPicPr>
        <p:blipFill>
          <a:blip r:embed="rId3"/>
          <a:stretch>
            <a:fillRect/>
          </a:stretch>
        </p:blipFill>
        <p:spPr>
          <a:xfrm>
            <a:off x="4389120" y="1234440"/>
            <a:ext cx="3474720" cy="2279627"/>
          </a:xfrm>
          <a:prstGeom prst="rect">
            <a:avLst/>
          </a:prstGeom>
        </p:spPr>
      </p:pic>
      <p:pic>
        <p:nvPicPr>
          <p:cNvPr id="6" name="Picture 5" descr="cell_19_out_1.png"/>
          <p:cNvPicPr>
            <a:picLocks noChangeAspect="1"/>
          </p:cNvPicPr>
          <p:nvPr/>
        </p:nvPicPr>
        <p:blipFill>
          <a:blip r:embed="rId4"/>
          <a:stretch>
            <a:fillRect/>
          </a:stretch>
        </p:blipFill>
        <p:spPr>
          <a:xfrm>
            <a:off x="8046720" y="1234440"/>
            <a:ext cx="3383280" cy="1657656"/>
          </a:xfrm>
          <a:prstGeom prst="rect">
            <a:avLst/>
          </a:prstGeom>
        </p:spPr>
      </p:pic>
      <p:sp>
        <p:nvSpPr>
          <p:cNvPr id="7" name="Rectangle 6"/>
          <p:cNvSpPr/>
          <p:nvPr/>
        </p:nvSpPr>
        <p:spPr>
          <a:xfrm>
            <a:off x="731520" y="4754880"/>
            <a:ext cx="3383280" cy="1554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172A"/>
                </a:solidFill>
                <a:latin typeface="Arial"/>
              </a:defRPr>
            </a:pPr>
            <a:r>
              <a:t>User Engagement Distribution</a:t>
            </a:r>
          </a:p>
          <a:p>
            <a:pPr>
              <a:spcBef>
                <a:spcPts val="800"/>
              </a:spcBef>
              <a:defRPr sz="1300" b="1">
                <a:solidFill>
                  <a:srgbClr val="0284C7"/>
                </a:solidFill>
                <a:latin typeface="Arial"/>
              </a:defRPr>
            </a:pPr>
            <a:r>
              <a:t>Median number of ratings per user = 6</a:t>
            </a:r>
          </a:p>
          <a:p>
            <a:pPr>
              <a:spcBef>
                <a:spcPts val="400"/>
              </a:spcBef>
              <a:defRPr sz="1000">
                <a:solidFill>
                  <a:srgbClr val="475569"/>
                </a:solidFill>
                <a:latin typeface="Arial"/>
              </a:defRPr>
            </a:pPr>
            <a:r>
              <a:t>Highly skewed activity with long tail interaction sparsity</a:t>
            </a:r>
          </a:p>
        </p:txBody>
      </p:sp>
      <p:sp>
        <p:nvSpPr>
          <p:cNvPr id="8" name="Rectangle 7"/>
          <p:cNvSpPr/>
          <p:nvPr/>
        </p:nvSpPr>
        <p:spPr>
          <a:xfrm>
            <a:off x="4389120" y="4754880"/>
            <a:ext cx="3474720" cy="1554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172A"/>
                </a:solidFill>
                <a:latin typeface="Arial"/>
              </a:defRPr>
            </a:pPr>
            <a:r>
              <a:t>Rating Polarity</a:t>
            </a:r>
          </a:p>
          <a:p>
            <a:pPr>
              <a:spcBef>
                <a:spcPts val="800"/>
              </a:spcBef>
              <a:defRPr sz="1300" b="1">
                <a:solidFill>
                  <a:srgbClr val="0284C7"/>
                </a:solidFill>
                <a:latin typeface="Arial"/>
              </a:defRPr>
            </a:pPr>
            <a:r>
              <a:t>Reviews with a 5 = 72%</a:t>
            </a:r>
          </a:p>
          <a:p>
            <a:pPr>
              <a:spcBef>
                <a:spcPts val="400"/>
              </a:spcBef>
              <a:defRPr sz="1000">
                <a:solidFill>
                  <a:srgbClr val="475569"/>
                </a:solidFill>
                <a:latin typeface="Arial"/>
              </a:defRPr>
            </a:pPr>
            <a:r>
              <a:t>Severe positive class imbalance across rating records</a:t>
            </a:r>
          </a:p>
        </p:txBody>
      </p:sp>
      <p:sp>
        <p:nvSpPr>
          <p:cNvPr id="9" name="Rectangle 8"/>
          <p:cNvSpPr/>
          <p:nvPr/>
        </p:nvSpPr>
        <p:spPr>
          <a:xfrm>
            <a:off x="8046720" y="4754880"/>
            <a:ext cx="3383280" cy="1554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172A"/>
                </a:solidFill>
                <a:latin typeface="Arial"/>
              </a:defRPr>
            </a:pPr>
            <a:r>
              <a:t>Meal Type Breakdown</a:t>
            </a:r>
          </a:p>
          <a:p>
            <a:pPr>
              <a:spcBef>
                <a:spcPts val="300"/>
              </a:spcBef>
              <a:defRPr sz="1100" b="1">
                <a:solidFill>
                  <a:srgbClr val="0F172A"/>
                </a:solidFill>
                <a:latin typeface="Arial"/>
              </a:defRPr>
            </a:pPr>
            <a:r>
              <a:t>•  32% main dish</a:t>
            </a:r>
          </a:p>
          <a:p>
            <a:pPr>
              <a:spcBef>
                <a:spcPts val="300"/>
              </a:spcBef>
              <a:defRPr sz="1100" b="1">
                <a:solidFill>
                  <a:srgbClr val="0F172A"/>
                </a:solidFill>
                <a:latin typeface="Arial"/>
              </a:defRPr>
            </a:pPr>
            <a:r>
              <a:t>•  20% desserts</a:t>
            </a:r>
          </a:p>
          <a:p>
            <a:pPr>
              <a:spcBef>
                <a:spcPts val="300"/>
              </a:spcBef>
              <a:defRPr sz="1100" b="1">
                <a:solidFill>
                  <a:srgbClr val="0F172A"/>
                </a:solidFill>
                <a:latin typeface="Arial"/>
              </a:defRPr>
            </a:pPr>
            <a:r>
              <a:t>•  11% side dishes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BASELINE MODELING</a:t>
            </a:r>
          </a:p>
          <a:p>
            <a:pPr>
              <a:defRPr sz="2600" b="1">
                <a:solidFill>
                  <a:srgbClr val="0F172A"/>
                </a:solidFill>
                <a:latin typeface="Arial"/>
              </a:defRPr>
            </a:pPr>
            <a:r>
              <a:t>Approach: User and Item Based Collaborative Filtering</a:t>
            </a:r>
          </a:p>
        </p:txBody>
      </p:sp>
      <p:pic>
        <p:nvPicPr>
          <p:cNvPr id="4" name="Picture 3" descr="cf_models_tables.png"/>
          <p:cNvPicPr>
            <a:picLocks noChangeAspect="1"/>
          </p:cNvPicPr>
          <p:nvPr/>
        </p:nvPicPr>
        <p:blipFill>
          <a:blip r:embed="rId2"/>
          <a:stretch>
            <a:fillRect/>
          </a:stretch>
        </p:blipFill>
        <p:spPr>
          <a:xfrm>
            <a:off x="731520" y="1234440"/>
            <a:ext cx="5669280" cy="4554012"/>
          </a:xfrm>
          <a:prstGeom prst="rect">
            <a:avLst/>
          </a:prstGeom>
        </p:spPr>
      </p:pic>
      <p:sp>
        <p:nvSpPr>
          <p:cNvPr id="5" name="TextBox 4"/>
          <p:cNvSpPr txBox="1"/>
          <p:nvPr/>
        </p:nvSpPr>
        <p:spPr>
          <a:xfrm>
            <a:off x="6583680" y="1234440"/>
            <a:ext cx="4846320" cy="5029200"/>
          </a:xfrm>
          <a:prstGeom prst="rect">
            <a:avLst/>
          </a:prstGeom>
          <a:noFill/>
        </p:spPr>
        <p:txBody>
          <a:bodyPr wrap="square">
            <a:spAutoFit/>
          </a:bodyPr>
          <a:lstStyle/>
          <a:p>
            <a:r>
              <a:rPr sz="1250" b="1">
                <a:solidFill>
                  <a:srgbClr val="0F172A"/>
                </a:solidFill>
                <a:latin typeface="Arial"/>
              </a:rPr>
              <a:t>•  Surprise Benchmark Evaluation: </a:t>
            </a:r>
            <a:r>
              <a:rPr sz="1200">
                <a:solidFill>
                  <a:srgbClr val="334155"/>
                </a:solidFill>
                <a:latin typeface="Arial"/>
              </a:rPr>
              <a:t>In my baseline experiments, multiple algorithms from the Surprise package were systematically compared across 5 fold cross validation.</a:t>
            </a:r>
          </a:p>
          <a:p>
            <a:pPr>
              <a:spcBef>
                <a:spcPts val="1400"/>
              </a:spcBef>
            </a:pPr>
            <a:r>
              <a:rPr sz="1250" b="1">
                <a:solidFill>
                  <a:srgbClr val="0F172A"/>
                </a:solidFill>
                <a:latin typeface="Arial"/>
              </a:rPr>
              <a:t>•  Neighborhood Model Performance: </a:t>
            </a:r>
            <a:r>
              <a:rPr sz="1200">
                <a:solidFill>
                  <a:srgbClr val="334155"/>
                </a:solidFill>
                <a:latin typeface="Arial"/>
              </a:rPr>
              <a:t>The item based KNNBasic model achieved the lowest MAE (mean absolute error) among neighborhood approaches.</a:t>
            </a:r>
          </a:p>
          <a:p>
            <a:pPr>
              <a:spcBef>
                <a:spcPts val="1400"/>
              </a:spcBef>
            </a:pPr>
            <a:r>
              <a:rPr sz="1250" b="1">
                <a:solidFill>
                  <a:srgbClr val="0F172A"/>
                </a:solidFill>
                <a:latin typeface="Arial"/>
              </a:rPr>
              <a:t>•  GridSearch Optimization for KNN: </a:t>
            </a:r>
            <a:r>
              <a:rPr sz="1200">
                <a:solidFill>
                  <a:srgbClr val="334155"/>
                </a:solidFill>
                <a:latin typeface="Arial"/>
              </a:rPr>
              <a:t>Through GridSearch, the optimal item based KNNBasic model used MSD (Mean Squared Difference) with 13 neighbors, achieving an MAE of 0.3548.</a:t>
            </a:r>
          </a:p>
          <a:p>
            <a:pPr>
              <a:spcBef>
                <a:spcPts val="1400"/>
              </a:spcBef>
            </a:pPr>
            <a:r>
              <a:rPr sz="1250" b="1">
                <a:solidFill>
                  <a:srgbClr val="0F172A"/>
                </a:solidFill>
                <a:latin typeface="Arial"/>
              </a:rPr>
              <a:t>•  Matrix Factorization Comparison: </a:t>
            </a:r>
            <a:r>
              <a:rPr sz="1200">
                <a:solidFill>
                  <a:srgbClr val="334155"/>
                </a:solidFill>
                <a:latin typeface="Arial"/>
              </a:rPr>
              <a:t>SVDpp attained the lowest overall MAE but required 218 seconds runtime, whereas biased SVD achieved competitive MAE (0.3526) in under 9 seconds.</a:t>
            </a:r>
          </a:p>
          <a:p>
            <a:pPr>
              <a:spcBef>
                <a:spcPts val="1400"/>
              </a:spcBef>
            </a:pPr>
            <a:r>
              <a:rPr sz="1250" b="1">
                <a:solidFill>
                  <a:srgbClr val="0F172A"/>
                </a:solidFill>
                <a:latin typeface="Arial"/>
              </a:rPr>
              <a:t>•  GridSearch Optimization for SVD: </a:t>
            </a:r>
            <a:r>
              <a:rPr sz="1200">
                <a:solidFill>
                  <a:srgbClr val="334155"/>
                </a:solidFill>
                <a:latin typeface="Arial"/>
              </a:rPr>
              <a:t>Through GridSearch, the best performing SVD model used 50 factors, 20 epochs, biased=True, learning rate 0.005, regularization 0.02, and reached an MAE of 0.3491.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METHODOLOGY &amp; FORMULATION</a:t>
            </a:r>
          </a:p>
          <a:p>
            <a:pPr>
              <a:defRPr sz="2600" b="1">
                <a:solidFill>
                  <a:srgbClr val="0F172A"/>
                </a:solidFill>
                <a:latin typeface="Arial"/>
              </a:defRPr>
            </a:pPr>
            <a:r>
              <a:t>Description of Approach: Cluster Based Collaborative Filtering</a:t>
            </a:r>
          </a:p>
        </p:txBody>
      </p:sp>
      <p:sp>
        <p:nvSpPr>
          <p:cNvPr id="4" name="Rectangle 3"/>
          <p:cNvSpPr/>
          <p:nvPr/>
        </p:nvSpPr>
        <p:spPr>
          <a:xfrm>
            <a:off x="731520" y="1280160"/>
            <a:ext cx="5120640" cy="228600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1. Scikit Surprise CoClustering Algorithm</a:t>
            </a:r>
          </a:p>
          <a:p>
            <a:pPr>
              <a:spcBef>
                <a:spcPts val="800"/>
              </a:spcBef>
              <a:defRPr sz="1050">
                <a:solidFill>
                  <a:srgbClr val="334155"/>
                </a:solidFill>
                <a:latin typeface="Arial"/>
              </a:defRPr>
            </a:pPr>
            <a:r>
              <a:t>I evaluated the CoClustering algorithm, which simultaneously assigns users and recipes to co clusters and incorporates both latent cluster memberships to estimate ratings. I explored systematic ranges for user and item clusters while holding the other constant, optimizing configurations via GridSearch and 5 fold cross validation.</a:t>
            </a:r>
          </a:p>
        </p:txBody>
      </p:sp>
      <p:sp>
        <p:nvSpPr>
          <p:cNvPr id="5" name="Rectangle 4"/>
          <p:cNvSpPr/>
          <p:nvPr/>
        </p:nvSpPr>
        <p:spPr>
          <a:xfrm>
            <a:off x="731520" y="1280160"/>
            <a:ext cx="5120640" cy="73152"/>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280160"/>
            <a:ext cx="5212080" cy="228600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2. Subspace Neighborhood Isolation</a:t>
            </a:r>
          </a:p>
          <a:p>
            <a:pPr>
              <a:spcBef>
                <a:spcPts val="800"/>
              </a:spcBef>
              <a:defRPr sz="1050">
                <a:solidFill>
                  <a:srgbClr val="334155"/>
                </a:solidFill>
                <a:latin typeface="Arial"/>
              </a:defRPr>
            </a:pPr>
            <a:r>
              <a:t>To overcome catalog sparsity, I grouped users into distinct culinary taste clusters. Rather than scanning the entire sparse interaction space, the neighborhood model is constrained strictly to the target user cluster, effectively removing global noise and isolating closely related cooking styles.</a:t>
            </a:r>
          </a:p>
        </p:txBody>
      </p:sp>
      <p:sp>
        <p:nvSpPr>
          <p:cNvPr id="7" name="Rectangle 6"/>
          <p:cNvSpPr/>
          <p:nvPr/>
        </p:nvSpPr>
        <p:spPr>
          <a:xfrm>
            <a:off x="6217920" y="1280160"/>
            <a:ext cx="5212080" cy="73152"/>
          </a:xfrm>
          <a:prstGeom prst="rect">
            <a:avLst/>
          </a:prstGeom>
          <a:solidFill>
            <a:srgbClr val="166534"/>
          </a:solidFill>
          <a:ln>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840480"/>
            <a:ext cx="5120640" cy="237744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3. Cluster Focused Recommendations</a:t>
            </a:r>
          </a:p>
          <a:p>
            <a:pPr>
              <a:spcBef>
                <a:spcPts val="800"/>
              </a:spcBef>
              <a:defRPr sz="1050">
                <a:solidFill>
                  <a:srgbClr val="334155"/>
                </a:solidFill>
                <a:latin typeface="Arial"/>
              </a:defRPr>
            </a:pPr>
            <a:r>
              <a:t>For any target user, the pipeline first predicts their cluster assignment, filters the rating matrix to include only that community, applies KNN to find the nearest cluster peers, and computes weighted average peer ratings to rank Top N personalized recommendations.</a:t>
            </a:r>
          </a:p>
        </p:txBody>
      </p:sp>
      <p:sp>
        <p:nvSpPr>
          <p:cNvPr id="9" name="Rectangle 8"/>
          <p:cNvSpPr/>
          <p:nvPr/>
        </p:nvSpPr>
        <p:spPr>
          <a:xfrm>
            <a:off x="731520" y="3840480"/>
            <a:ext cx="5120640" cy="73152"/>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840480"/>
            <a:ext cx="5212080" cy="237744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4. Rigorous 5 Fold Cross Validation</a:t>
            </a:r>
          </a:p>
          <a:p>
            <a:pPr>
              <a:spcBef>
                <a:spcPts val="800"/>
              </a:spcBef>
              <a:defRPr sz="1050">
                <a:solidFill>
                  <a:srgbClr val="334155"/>
                </a:solidFill>
                <a:latin typeface="Arial"/>
              </a:defRPr>
            </a:pPr>
            <a:r>
              <a:t>Every cluster based model was systematically evaluated across identical 5 fold cross validation splits. Performance was benchmarked using RMSE, MAE, MSE, and fit/test runtime to assess the precision efficiency frontier.</a:t>
            </a:r>
          </a:p>
        </p:txBody>
      </p:sp>
      <p:sp>
        <p:nvSpPr>
          <p:cNvPr id="11" name="Rectangle 10"/>
          <p:cNvSpPr/>
          <p:nvPr/>
        </p:nvSpPr>
        <p:spPr>
          <a:xfrm>
            <a:off x="6217920" y="3840480"/>
            <a:ext cx="5212080" cy="73152"/>
          </a:xfrm>
          <a:prstGeom prst="rect">
            <a:avLst/>
          </a:prstGeom>
          <a:solidFill>
            <a:srgbClr val="6D28D9"/>
          </a:solidFill>
          <a:ln>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CLUSTERING PERFORMANCE</a:t>
            </a:r>
          </a:p>
          <a:p>
            <a:pPr>
              <a:defRPr sz="2600" b="1">
                <a:solidFill>
                  <a:srgbClr val="0F172A"/>
                </a:solidFill>
                <a:latin typeface="Arial"/>
              </a:defRPr>
            </a:pPr>
            <a:r>
              <a:t>Results: CoClustering</a:t>
            </a:r>
          </a:p>
        </p:txBody>
      </p:sp>
      <p:sp>
        <p:nvSpPr>
          <p:cNvPr id="4" name="TextBox 3"/>
          <p:cNvSpPr txBox="1"/>
          <p:nvPr/>
        </p:nvSpPr>
        <p:spPr>
          <a:xfrm>
            <a:off x="731520" y="1188720"/>
            <a:ext cx="10698480" cy="731520"/>
          </a:xfrm>
          <a:prstGeom prst="rect">
            <a:avLst/>
          </a:prstGeom>
          <a:noFill/>
        </p:spPr>
        <p:txBody>
          <a:bodyPr wrap="square">
            <a:spAutoFit/>
          </a:bodyPr>
          <a:lstStyle/>
          <a:p>
            <a:pPr>
              <a:defRPr sz="1100" b="1">
                <a:solidFill>
                  <a:srgbClr val="0F172A"/>
                </a:solidFill>
                <a:latin typeface="Arial"/>
              </a:defRPr>
            </a:pPr>
            <a:r>
              <a:t>• In general, the item and user based collaborative filtering models are very comparable to CoClustering results, but require a fraction of the runtime to compute.</a:t>
            </a:r>
          </a:p>
          <a:p>
            <a:pPr>
              <a:spcBef>
                <a:spcPts val="300"/>
              </a:spcBef>
              <a:defRPr sz="1100">
                <a:solidFill>
                  <a:srgbClr val="475569"/>
                </a:solidFill>
                <a:latin typeface="Arial"/>
              </a:defRPr>
            </a:pPr>
            <a:r>
              <a:t>• As expected, MAE values improve with targeted clusters, but computational cost of iterative joint clustering is significantly higher.</a:t>
            </a:r>
          </a:p>
        </p:txBody>
      </p:sp>
      <p:pic>
        <p:nvPicPr>
          <p:cNvPr id="5" name="Picture 4" descr="cell_31_out_0.png"/>
          <p:cNvPicPr>
            <a:picLocks noChangeAspect="1"/>
          </p:cNvPicPr>
          <p:nvPr/>
        </p:nvPicPr>
        <p:blipFill>
          <a:blip r:embed="rId2"/>
          <a:stretch>
            <a:fillRect/>
          </a:stretch>
        </p:blipFill>
        <p:spPr>
          <a:xfrm>
            <a:off x="731520" y="2011680"/>
            <a:ext cx="6217920" cy="2153392"/>
          </a:xfrm>
          <a:prstGeom prst="rect">
            <a:avLst/>
          </a:prstGeom>
        </p:spPr>
      </p:pic>
      <p:sp>
        <p:nvSpPr>
          <p:cNvPr id="6" name="TextBox 5"/>
          <p:cNvSpPr txBox="1"/>
          <p:nvPr/>
        </p:nvSpPr>
        <p:spPr>
          <a:xfrm>
            <a:off x="7223760" y="1965960"/>
            <a:ext cx="4114800" cy="320040"/>
          </a:xfrm>
          <a:prstGeom prst="rect">
            <a:avLst/>
          </a:prstGeom>
          <a:noFill/>
        </p:spPr>
        <p:txBody>
          <a:bodyPr wrap="none">
            <a:spAutoFit/>
          </a:bodyPr>
          <a:lstStyle/>
          <a:p>
            <a:pPr>
              <a:defRPr sz="1100" b="1">
                <a:solidFill>
                  <a:srgbClr val="0F172A"/>
                </a:solidFill>
                <a:latin typeface="Arial"/>
              </a:defRPr>
            </a:pPr>
            <a:r>
              <a:t>CoClustering using Best Cluster Sizes</a:t>
            </a:r>
          </a:p>
        </p:txBody>
      </p:sp>
      <p:graphicFrame>
        <p:nvGraphicFramePr>
          <p:cNvPr id="7" name="Table 6"/>
          <p:cNvGraphicFramePr>
            <a:graphicFrameLocks noGrp="1"/>
          </p:cNvGraphicFramePr>
          <p:nvPr/>
        </p:nvGraphicFramePr>
        <p:xfrm>
          <a:off x="7223760" y="2286000"/>
          <a:ext cx="4370832" cy="685800"/>
        </p:xfrm>
        <a:graphic>
          <a:graphicData uri="http://schemas.openxmlformats.org/drawingml/2006/table">
            <a:tbl>
              <a:tblPr firstRow="1" bandRow="1">
                <a:tableStyleId>{5C22544A-7EE6-4342-B048-85BDC9FD1C3A}</a:tableStyleId>
              </a:tblPr>
              <a:tblGrid>
                <a:gridCol w="777240"/>
                <a:gridCol w="777240"/>
                <a:gridCol w="548640"/>
                <a:gridCol w="475488"/>
                <a:gridCol w="548640"/>
                <a:gridCol w="621792"/>
                <a:gridCol w="621792"/>
              </a:tblGrid>
              <a:tr h="342900">
                <a:tc>
                  <a:txBody>
                    <a:bodyPr/>
                    <a:lstStyle/>
                    <a:p>
                      <a:pPr>
                        <a:defRPr sz="650" b="1">
                          <a:solidFill>
                            <a:srgbClr val="0F172A"/>
                          </a:solidFill>
                          <a:latin typeface="Arial"/>
                        </a:defRPr>
                      </a:pPr>
                      <a:r>
                        <a:t>User Clusters</a:t>
                      </a:r>
                    </a:p>
                  </a:txBody>
                  <a:tcPr marL="0" marR="0" marT="0" marB="0">
                    <a:solidFill>
                      <a:srgbClr val="F8FAFC"/>
                    </a:solidFill>
                  </a:tcPr>
                </a:tc>
                <a:tc>
                  <a:txBody>
                    <a:bodyPr/>
                    <a:lstStyle/>
                    <a:p>
                      <a:pPr>
                        <a:defRPr sz="650" b="1">
                          <a:solidFill>
                            <a:srgbClr val="0F172A"/>
                          </a:solidFill>
                          <a:latin typeface="Arial"/>
                        </a:defRPr>
                      </a:pPr>
                      <a:r>
                        <a:t>Item Clusters</a:t>
                      </a:r>
                    </a:p>
                  </a:txBody>
                  <a:tcPr marL="0" marR="0" marT="0" marB="0">
                    <a:solidFill>
                      <a:srgbClr val="F8FAFC"/>
                    </a:solidFill>
                  </a:tcPr>
                </a:tc>
                <a:tc>
                  <a:txBody>
                    <a:bodyPr/>
                    <a:lstStyle/>
                    <a:p>
                      <a:pPr>
                        <a:defRPr sz="650" b="1">
                          <a:solidFill>
                            <a:srgbClr val="0F172A"/>
                          </a:solidFill>
                          <a:latin typeface="Arial"/>
                        </a:defRPr>
                      </a:pPr>
                      <a:r>
                        <a:t>RMSE</a:t>
                      </a:r>
                    </a:p>
                  </a:txBody>
                  <a:tcPr marL="0" marR="0" marT="0" marB="0">
                    <a:solidFill>
                      <a:srgbClr val="F8FAFC"/>
                    </a:solidFill>
                  </a:tcPr>
                </a:tc>
                <a:tc>
                  <a:txBody>
                    <a:bodyPr/>
                    <a:lstStyle/>
                    <a:p>
                      <a:pPr>
                        <a:defRPr sz="650" b="1">
                          <a:solidFill>
                            <a:srgbClr val="0F172A"/>
                          </a:solidFill>
                          <a:latin typeface="Arial"/>
                        </a:defRPr>
                      </a:pPr>
                      <a:r>
                        <a:t>MSE</a:t>
                      </a:r>
                    </a:p>
                  </a:txBody>
                  <a:tcPr marL="0" marR="0" marT="0" marB="0">
                    <a:solidFill>
                      <a:srgbClr val="F8FAFC"/>
                    </a:solidFill>
                  </a:tcPr>
                </a:tc>
                <a:tc>
                  <a:txBody>
                    <a:bodyPr/>
                    <a:lstStyle/>
                    <a:p>
                      <a:pPr>
                        <a:defRPr sz="650" b="1">
                          <a:solidFill>
                            <a:srgbClr val="0F172A"/>
                          </a:solidFill>
                          <a:latin typeface="Arial"/>
                        </a:defRPr>
                      </a:pPr>
                      <a:r>
                        <a:t>MAE</a:t>
                      </a:r>
                    </a:p>
                  </a:txBody>
                  <a:tcPr marL="0" marR="0" marT="0" marB="0">
                    <a:solidFill>
                      <a:srgbClr val="F8FAFC"/>
                    </a:solidFill>
                  </a:tcPr>
                </a:tc>
                <a:tc>
                  <a:txBody>
                    <a:bodyPr/>
                    <a:lstStyle/>
                    <a:p>
                      <a:pPr>
                        <a:defRPr sz="650" b="1">
                          <a:solidFill>
                            <a:srgbClr val="0F172A"/>
                          </a:solidFill>
                          <a:latin typeface="Arial"/>
                        </a:defRPr>
                      </a:pPr>
                      <a:r>
                        <a:t>Fit Time</a:t>
                      </a:r>
                    </a:p>
                  </a:txBody>
                  <a:tcPr marL="0" marR="0" marT="0" marB="0">
                    <a:solidFill>
                      <a:srgbClr val="F8FAFC"/>
                    </a:solidFill>
                  </a:tcPr>
                </a:tc>
                <a:tc>
                  <a:txBody>
                    <a:bodyPr/>
                    <a:lstStyle/>
                    <a:p>
                      <a:pPr>
                        <a:defRPr sz="650" b="1">
                          <a:solidFill>
                            <a:srgbClr val="0F172A"/>
                          </a:solidFill>
                          <a:latin typeface="Arial"/>
                        </a:defRPr>
                      </a:pPr>
                      <a:r>
                        <a:t>Test Time</a:t>
                      </a:r>
                    </a:p>
                  </a:txBody>
                  <a:tcPr marL="0" marR="0" marT="0" marB="0">
                    <a:solidFill>
                      <a:srgbClr val="F8FAFC"/>
                    </a:solidFill>
                  </a:tcPr>
                </a:tc>
              </a:tr>
              <a:tr h="342900">
                <a:tc>
                  <a:txBody>
                    <a:bodyPr/>
                    <a:lstStyle/>
                    <a:p>
                      <a:pPr>
                        <a:defRPr sz="700">
                          <a:solidFill>
                            <a:srgbClr val="0F172A"/>
                          </a:solidFill>
                          <a:latin typeface="Arial"/>
                        </a:defRPr>
                      </a:pPr>
                      <a:r>
                        <a:t>9</a:t>
                      </a:r>
                    </a:p>
                  </a:txBody>
                  <a:tcPr marL="0" marR="0" marT="0" marB="0">
                    <a:solidFill>
                      <a:srgbClr val="FFFFFF"/>
                    </a:solidFill>
                  </a:tcPr>
                </a:tc>
                <a:tc>
                  <a:txBody>
                    <a:bodyPr/>
                    <a:lstStyle/>
                    <a:p>
                      <a:pPr>
                        <a:defRPr sz="700">
                          <a:solidFill>
                            <a:srgbClr val="0F172A"/>
                          </a:solidFill>
                          <a:latin typeface="Arial"/>
                        </a:defRPr>
                      </a:pPr>
                      <a:r>
                        <a:t>5</a:t>
                      </a:r>
                    </a:p>
                  </a:txBody>
                  <a:tcPr marL="0" marR="0" marT="0" marB="0">
                    <a:solidFill>
                      <a:srgbClr val="FFFFFF"/>
                    </a:solidFill>
                  </a:tcPr>
                </a:tc>
                <a:tc>
                  <a:txBody>
                    <a:bodyPr/>
                    <a:lstStyle/>
                    <a:p>
                      <a:pPr>
                        <a:defRPr sz="700">
                          <a:solidFill>
                            <a:srgbClr val="0F172A"/>
                          </a:solidFill>
                          <a:latin typeface="Arial"/>
                        </a:defRPr>
                      </a:pPr>
                      <a:r>
                        <a:t>0.5882</a:t>
                      </a:r>
                    </a:p>
                  </a:txBody>
                  <a:tcPr marL="0" marR="0" marT="0" marB="0">
                    <a:solidFill>
                      <a:srgbClr val="FFFFFF"/>
                    </a:solidFill>
                  </a:tcPr>
                </a:tc>
                <a:tc>
                  <a:txBody>
                    <a:bodyPr/>
                    <a:lstStyle/>
                    <a:p>
                      <a:pPr>
                        <a:defRPr sz="700">
                          <a:solidFill>
                            <a:srgbClr val="0F172A"/>
                          </a:solidFill>
                          <a:latin typeface="Arial"/>
                        </a:defRPr>
                      </a:pPr>
                      <a:r>
                        <a:t>0.346</a:t>
                      </a:r>
                    </a:p>
                  </a:txBody>
                  <a:tcPr marL="0" marR="0" marT="0" marB="0">
                    <a:solidFill>
                      <a:srgbClr val="FFFFFF"/>
                    </a:solidFill>
                  </a:tcPr>
                </a:tc>
                <a:tc>
                  <a:txBody>
                    <a:bodyPr/>
                    <a:lstStyle/>
                    <a:p>
                      <a:pPr>
                        <a:defRPr sz="700">
                          <a:solidFill>
                            <a:srgbClr val="0F172A"/>
                          </a:solidFill>
                          <a:latin typeface="Arial"/>
                        </a:defRPr>
                      </a:pPr>
                      <a:r>
                        <a:t>0.3655</a:t>
                      </a:r>
                    </a:p>
                  </a:txBody>
                  <a:tcPr marL="0" marR="0" marT="0" marB="0">
                    <a:solidFill>
                      <a:srgbClr val="FFFFFF"/>
                    </a:solidFill>
                  </a:tcPr>
                </a:tc>
                <a:tc>
                  <a:txBody>
                    <a:bodyPr/>
                    <a:lstStyle/>
                    <a:p>
                      <a:pPr>
                        <a:defRPr sz="700">
                          <a:solidFill>
                            <a:srgbClr val="0F172A"/>
                          </a:solidFill>
                          <a:latin typeface="Arial"/>
                        </a:defRPr>
                      </a:pPr>
                      <a:r>
                        <a:t>0.7976</a:t>
                      </a:r>
                    </a:p>
                  </a:txBody>
                  <a:tcPr marL="0" marR="0" marT="0" marB="0">
                    <a:solidFill>
                      <a:srgbClr val="FFFFFF"/>
                    </a:solidFill>
                  </a:tcPr>
                </a:tc>
                <a:tc>
                  <a:txBody>
                    <a:bodyPr/>
                    <a:lstStyle/>
                    <a:p>
                      <a:pPr>
                        <a:defRPr sz="700">
                          <a:solidFill>
                            <a:srgbClr val="0F172A"/>
                          </a:solidFill>
                          <a:latin typeface="Arial"/>
                        </a:defRPr>
                      </a:pPr>
                      <a:r>
                        <a:t>0.0469</a:t>
                      </a:r>
                    </a:p>
                  </a:txBody>
                  <a:tcPr marL="0" marR="0" marT="0" marB="0">
                    <a:solidFill>
                      <a:srgbClr val="FFFFFF"/>
                    </a:solidFill>
                  </a:tcPr>
                </a:tc>
              </a:tr>
            </a:tbl>
          </a:graphicData>
        </a:graphic>
      </p:graphicFrame>
      <p:sp>
        <p:nvSpPr>
          <p:cNvPr id="8" name="TextBox 7"/>
          <p:cNvSpPr txBox="1"/>
          <p:nvPr/>
        </p:nvSpPr>
        <p:spPr>
          <a:xfrm>
            <a:off x="7223760" y="3337560"/>
            <a:ext cx="4114800" cy="320040"/>
          </a:xfrm>
          <a:prstGeom prst="rect">
            <a:avLst/>
          </a:prstGeom>
          <a:noFill/>
        </p:spPr>
        <p:txBody>
          <a:bodyPr wrap="none">
            <a:spAutoFit/>
          </a:bodyPr>
          <a:lstStyle/>
          <a:p>
            <a:pPr>
              <a:defRPr sz="1100" b="1">
                <a:solidFill>
                  <a:srgbClr val="0F172A"/>
                </a:solidFill>
                <a:latin typeface="Arial"/>
              </a:defRPr>
            </a:pPr>
            <a:r>
              <a:t>CoClustering GridSearch Best Params</a:t>
            </a:r>
          </a:p>
        </p:txBody>
      </p:sp>
      <p:graphicFrame>
        <p:nvGraphicFramePr>
          <p:cNvPr id="9" name="Table 8"/>
          <p:cNvGraphicFramePr>
            <a:graphicFrameLocks noGrp="1"/>
          </p:cNvGraphicFramePr>
          <p:nvPr/>
        </p:nvGraphicFramePr>
        <p:xfrm>
          <a:off x="7223760" y="3657600"/>
          <a:ext cx="4370832" cy="685800"/>
        </p:xfrm>
        <a:graphic>
          <a:graphicData uri="http://schemas.openxmlformats.org/drawingml/2006/table">
            <a:tbl>
              <a:tblPr firstRow="1" bandRow="1">
                <a:tableStyleId>{5C22544A-7EE6-4342-B048-85BDC9FD1C3A}</a:tableStyleId>
              </a:tblPr>
              <a:tblGrid>
                <a:gridCol w="777240"/>
                <a:gridCol w="777240"/>
                <a:gridCol w="548640"/>
                <a:gridCol w="475488"/>
                <a:gridCol w="548640"/>
                <a:gridCol w="621792"/>
                <a:gridCol w="621792"/>
              </a:tblGrid>
              <a:tr h="342900">
                <a:tc>
                  <a:txBody>
                    <a:bodyPr/>
                    <a:lstStyle/>
                    <a:p>
                      <a:pPr>
                        <a:defRPr sz="650" b="1">
                          <a:solidFill>
                            <a:srgbClr val="0F172A"/>
                          </a:solidFill>
                          <a:latin typeface="Arial"/>
                        </a:defRPr>
                      </a:pPr>
                      <a:r>
                        <a:t>User Clusters</a:t>
                      </a:r>
                    </a:p>
                  </a:txBody>
                  <a:tcPr marL="0" marR="0" marT="0" marB="0">
                    <a:solidFill>
                      <a:srgbClr val="F8FAFC"/>
                    </a:solidFill>
                  </a:tcPr>
                </a:tc>
                <a:tc>
                  <a:txBody>
                    <a:bodyPr/>
                    <a:lstStyle/>
                    <a:p>
                      <a:pPr>
                        <a:defRPr sz="650" b="1">
                          <a:solidFill>
                            <a:srgbClr val="0F172A"/>
                          </a:solidFill>
                          <a:latin typeface="Arial"/>
                        </a:defRPr>
                      </a:pPr>
                      <a:r>
                        <a:t>Item Clusters</a:t>
                      </a:r>
                    </a:p>
                  </a:txBody>
                  <a:tcPr marL="0" marR="0" marT="0" marB="0">
                    <a:solidFill>
                      <a:srgbClr val="F8FAFC"/>
                    </a:solidFill>
                  </a:tcPr>
                </a:tc>
                <a:tc>
                  <a:txBody>
                    <a:bodyPr/>
                    <a:lstStyle/>
                    <a:p>
                      <a:pPr>
                        <a:defRPr sz="650" b="1">
                          <a:solidFill>
                            <a:srgbClr val="0F172A"/>
                          </a:solidFill>
                          <a:latin typeface="Arial"/>
                        </a:defRPr>
                      </a:pPr>
                      <a:r>
                        <a:t>RMSE</a:t>
                      </a:r>
                    </a:p>
                  </a:txBody>
                  <a:tcPr marL="0" marR="0" marT="0" marB="0">
                    <a:solidFill>
                      <a:srgbClr val="F8FAFC"/>
                    </a:solidFill>
                  </a:tcPr>
                </a:tc>
                <a:tc>
                  <a:txBody>
                    <a:bodyPr/>
                    <a:lstStyle/>
                    <a:p>
                      <a:pPr>
                        <a:defRPr sz="650" b="1">
                          <a:solidFill>
                            <a:srgbClr val="0F172A"/>
                          </a:solidFill>
                          <a:latin typeface="Arial"/>
                        </a:defRPr>
                      </a:pPr>
                      <a:r>
                        <a:t>MSE</a:t>
                      </a:r>
                    </a:p>
                  </a:txBody>
                  <a:tcPr marL="0" marR="0" marT="0" marB="0">
                    <a:solidFill>
                      <a:srgbClr val="F8FAFC"/>
                    </a:solidFill>
                  </a:tcPr>
                </a:tc>
                <a:tc>
                  <a:txBody>
                    <a:bodyPr/>
                    <a:lstStyle/>
                    <a:p>
                      <a:pPr>
                        <a:defRPr sz="650" b="1">
                          <a:solidFill>
                            <a:srgbClr val="0F172A"/>
                          </a:solidFill>
                          <a:latin typeface="Arial"/>
                        </a:defRPr>
                      </a:pPr>
                      <a:r>
                        <a:t>MAE</a:t>
                      </a:r>
                    </a:p>
                  </a:txBody>
                  <a:tcPr marL="0" marR="0" marT="0" marB="0">
                    <a:solidFill>
                      <a:srgbClr val="F8FAFC"/>
                    </a:solidFill>
                  </a:tcPr>
                </a:tc>
                <a:tc>
                  <a:txBody>
                    <a:bodyPr/>
                    <a:lstStyle/>
                    <a:p>
                      <a:pPr>
                        <a:defRPr sz="650" b="1">
                          <a:solidFill>
                            <a:srgbClr val="0F172A"/>
                          </a:solidFill>
                          <a:latin typeface="Arial"/>
                        </a:defRPr>
                      </a:pPr>
                      <a:r>
                        <a:t>Fit Time</a:t>
                      </a:r>
                    </a:p>
                  </a:txBody>
                  <a:tcPr marL="0" marR="0" marT="0" marB="0">
                    <a:solidFill>
                      <a:srgbClr val="F8FAFC"/>
                    </a:solidFill>
                  </a:tcPr>
                </a:tc>
                <a:tc>
                  <a:txBody>
                    <a:bodyPr/>
                    <a:lstStyle/>
                    <a:p>
                      <a:pPr>
                        <a:defRPr sz="650" b="1">
                          <a:solidFill>
                            <a:srgbClr val="0F172A"/>
                          </a:solidFill>
                          <a:latin typeface="Arial"/>
                        </a:defRPr>
                      </a:pPr>
                      <a:r>
                        <a:t>Test Time</a:t>
                      </a:r>
                    </a:p>
                  </a:txBody>
                  <a:tcPr marL="0" marR="0" marT="0" marB="0">
                    <a:solidFill>
                      <a:srgbClr val="F8FAFC"/>
                    </a:solidFill>
                  </a:tcPr>
                </a:tc>
              </a:tr>
              <a:tr h="342900">
                <a:tc>
                  <a:txBody>
                    <a:bodyPr/>
                    <a:lstStyle/>
                    <a:p>
                      <a:pPr>
                        <a:defRPr sz="700" b="1">
                          <a:solidFill>
                            <a:srgbClr val="1E3A8A"/>
                          </a:solidFill>
                          <a:latin typeface="Arial"/>
                        </a:defRPr>
                      </a:pPr>
                      <a:r>
                        <a:t>2</a:t>
                      </a:r>
                    </a:p>
                  </a:txBody>
                  <a:tcPr marL="0" marR="0" marT="0" marB="0">
                    <a:solidFill>
                      <a:srgbClr val="E0F2FE"/>
                    </a:solidFill>
                  </a:tcPr>
                </a:tc>
                <a:tc>
                  <a:txBody>
                    <a:bodyPr/>
                    <a:lstStyle/>
                    <a:p>
                      <a:pPr>
                        <a:defRPr sz="700" b="1">
                          <a:solidFill>
                            <a:srgbClr val="1E3A8A"/>
                          </a:solidFill>
                          <a:latin typeface="Arial"/>
                        </a:defRPr>
                      </a:pPr>
                      <a:r>
                        <a:t>2</a:t>
                      </a:r>
                    </a:p>
                  </a:txBody>
                  <a:tcPr marL="0" marR="0" marT="0" marB="0">
                    <a:solidFill>
                      <a:srgbClr val="E0F2FE"/>
                    </a:solidFill>
                  </a:tcPr>
                </a:tc>
                <a:tc>
                  <a:txBody>
                    <a:bodyPr/>
                    <a:lstStyle/>
                    <a:p>
                      <a:pPr>
                        <a:defRPr sz="700" b="1">
                          <a:solidFill>
                            <a:srgbClr val="1E3A8A"/>
                          </a:solidFill>
                          <a:latin typeface="Arial"/>
                        </a:defRPr>
                      </a:pPr>
                      <a:r>
                        <a:t>0.5489</a:t>
                      </a:r>
                    </a:p>
                  </a:txBody>
                  <a:tcPr marL="0" marR="0" marT="0" marB="0">
                    <a:solidFill>
                      <a:srgbClr val="E0F2FE"/>
                    </a:solidFill>
                  </a:tcPr>
                </a:tc>
                <a:tc>
                  <a:txBody>
                    <a:bodyPr/>
                    <a:lstStyle/>
                    <a:p>
                      <a:pPr>
                        <a:defRPr sz="700" b="1">
                          <a:solidFill>
                            <a:srgbClr val="1E3A8A"/>
                          </a:solidFill>
                          <a:latin typeface="Arial"/>
                        </a:defRPr>
                      </a:pPr>
                      <a:r>
                        <a:t>0.3014</a:t>
                      </a:r>
                    </a:p>
                  </a:txBody>
                  <a:tcPr marL="0" marR="0" marT="0" marB="0">
                    <a:solidFill>
                      <a:srgbClr val="E0F2FE"/>
                    </a:solidFill>
                  </a:tcPr>
                </a:tc>
                <a:tc>
                  <a:txBody>
                    <a:bodyPr/>
                    <a:lstStyle/>
                    <a:p>
                      <a:pPr>
                        <a:defRPr sz="700" b="1">
                          <a:solidFill>
                            <a:srgbClr val="1E3A8A"/>
                          </a:solidFill>
                          <a:latin typeface="Arial"/>
                        </a:defRPr>
                      </a:pPr>
                      <a:r>
                        <a:t>0.3513</a:t>
                      </a:r>
                    </a:p>
                  </a:txBody>
                  <a:tcPr marL="0" marR="0" marT="0" marB="0">
                    <a:solidFill>
                      <a:srgbClr val="E0F2FE"/>
                    </a:solidFill>
                  </a:tcPr>
                </a:tc>
                <a:tc>
                  <a:txBody>
                    <a:bodyPr/>
                    <a:lstStyle/>
                    <a:p>
                      <a:pPr>
                        <a:defRPr sz="700" b="1">
                          <a:solidFill>
                            <a:srgbClr val="1E3A8A"/>
                          </a:solidFill>
                          <a:latin typeface="Arial"/>
                        </a:defRPr>
                      </a:pPr>
                      <a:r>
                        <a:t>0.8157</a:t>
                      </a:r>
                    </a:p>
                  </a:txBody>
                  <a:tcPr marL="0" marR="0" marT="0" marB="0">
                    <a:solidFill>
                      <a:srgbClr val="E0F2FE"/>
                    </a:solidFill>
                  </a:tcPr>
                </a:tc>
                <a:tc>
                  <a:txBody>
                    <a:bodyPr/>
                    <a:lstStyle/>
                    <a:p>
                      <a:pPr>
                        <a:defRPr sz="700" b="1">
                          <a:solidFill>
                            <a:srgbClr val="1E3A8A"/>
                          </a:solidFill>
                          <a:latin typeface="Arial"/>
                        </a:defRPr>
                      </a:pPr>
                      <a:r>
                        <a:t>0.0433</a:t>
                      </a:r>
                    </a:p>
                  </a:txBody>
                  <a:tcPr marL="0" marR="0" marT="0" marB="0">
                    <a:solidFill>
                      <a:srgbClr val="E0F2FE"/>
                    </a:solidFill>
                  </a:tcPr>
                </a:tc>
              </a:tr>
            </a:tbl>
          </a:graphicData>
        </a:graphic>
      </p:graphicFrame>
      <p:sp>
        <p:nvSpPr>
          <p:cNvPr id="10" name="Rectangle 9"/>
          <p:cNvSpPr/>
          <p:nvPr/>
        </p:nvSpPr>
        <p:spPr>
          <a:xfrm>
            <a:off x="731520" y="4663440"/>
            <a:ext cx="6217920" cy="164592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172A"/>
                </a:solidFill>
                <a:latin typeface="Arial"/>
              </a:defRPr>
            </a:pPr>
            <a:r>
              <a:t>CoClustering Convergence Analysis</a:t>
            </a:r>
          </a:p>
          <a:p>
            <a:pPr>
              <a:spcBef>
                <a:spcPts val="600"/>
              </a:spcBef>
              <a:defRPr sz="1000">
                <a:solidFill>
                  <a:srgbClr val="334155"/>
                </a:solidFill>
                <a:latin typeface="Arial"/>
              </a:defRPr>
            </a:pPr>
            <a:r>
              <a:t>In my analysis, testing cluster counts from 1 to 9 for users and 2 to 15 for recipes revealed that while error stabilized near 0.35, the computational overhead of simultaneous optimization grew rapidly. Simpler neighborhood models achieved equal or lower MAE with significantly lower training latency.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DISTANCE METRIC COMPARISON</a:t>
            </a:r>
          </a:p>
          <a:p>
            <a:pPr>
              <a:defRPr sz="2600" b="1">
                <a:solidFill>
                  <a:srgbClr val="0F172A"/>
                </a:solidFill>
                <a:latin typeface="Arial"/>
              </a:defRPr>
            </a:pPr>
            <a:r>
              <a:t>Determining User and Item Clusters</a:t>
            </a:r>
          </a:p>
        </p:txBody>
      </p:sp>
      <p:sp>
        <p:nvSpPr>
          <p:cNvPr id="4" name="TextBox 3"/>
          <p:cNvSpPr txBox="1"/>
          <p:nvPr/>
        </p:nvSpPr>
        <p:spPr>
          <a:xfrm>
            <a:off x="731520" y="1188720"/>
            <a:ext cx="10698480" cy="685800"/>
          </a:xfrm>
          <a:prstGeom prst="rect">
            <a:avLst/>
          </a:prstGeom>
          <a:noFill/>
        </p:spPr>
        <p:txBody>
          <a:bodyPr wrap="square">
            <a:spAutoFit/>
          </a:bodyPr>
          <a:lstStyle/>
          <a:p>
            <a:pPr>
              <a:defRPr sz="1200" b="1">
                <a:solidFill>
                  <a:srgbClr val="0F172A"/>
                </a:solidFill>
                <a:latin typeface="Arial"/>
              </a:defRPr>
            </a:pPr>
            <a:r>
              <a:t>• Scikit Learn KMeans did not provide good clustering results; only uses Euclidean distance which degrades in sparse spaces.</a:t>
            </a:r>
          </a:p>
          <a:p>
            <a:pPr>
              <a:spcBef>
                <a:spcPts val="300"/>
              </a:spcBef>
              <a:defRPr sz="1200">
                <a:solidFill>
                  <a:srgbClr val="1E3A8A"/>
                </a:solidFill>
                <a:latin typeface="Arial"/>
              </a:defRPr>
            </a:pPr>
            <a:r>
              <a:t>• NLTK KMeansClusterer was used to cluster with cosine similarity; provided much clearer elbow plot and cluster distribution.</a:t>
            </a:r>
          </a:p>
        </p:txBody>
      </p:sp>
      <p:sp>
        <p:nvSpPr>
          <p:cNvPr id="5" name="Rectangle 4"/>
          <p:cNvSpPr/>
          <p:nvPr/>
        </p:nvSpPr>
        <p:spPr>
          <a:xfrm>
            <a:off x="731520" y="1965960"/>
            <a:ext cx="3474720" cy="292608"/>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F172A"/>
                </a:solidFill>
                <a:latin typeface="Arial"/>
              </a:defRPr>
            </a:pPr>
            <a:r>
              <a:t>Euclidean Distance</a:t>
            </a:r>
          </a:p>
        </p:txBody>
      </p:sp>
      <p:sp>
        <p:nvSpPr>
          <p:cNvPr id="6" name="Rectangle 5"/>
          <p:cNvSpPr/>
          <p:nvPr/>
        </p:nvSpPr>
        <p:spPr>
          <a:xfrm>
            <a:off x="4389120" y="1965960"/>
            <a:ext cx="7040880" cy="292608"/>
          </a:xfrm>
          <a:prstGeom prst="rect">
            <a:avLst/>
          </a:prstGeom>
          <a:solidFill>
            <a:srgbClr val="DCFCE7"/>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66534"/>
                </a:solidFill>
                <a:latin typeface="Arial"/>
              </a:defRPr>
            </a:pPr>
            <a:r>
              <a:t>Cosine Similarity</a:t>
            </a:r>
          </a:p>
        </p:txBody>
      </p:sp>
      <p:pic>
        <p:nvPicPr>
          <p:cNvPr id="7" name="Picture 6" descr="cell_35_out_0.png"/>
          <p:cNvPicPr>
            <a:picLocks noChangeAspect="1"/>
          </p:cNvPicPr>
          <p:nvPr/>
        </p:nvPicPr>
        <p:blipFill>
          <a:blip r:embed="rId2"/>
          <a:stretch>
            <a:fillRect/>
          </a:stretch>
        </p:blipFill>
        <p:spPr>
          <a:xfrm>
            <a:off x="731520" y="2331720"/>
            <a:ext cx="10698480" cy="478545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NEIGHBORHOOD MODELING</a:t>
            </a:r>
          </a:p>
          <a:p>
            <a:pPr>
              <a:defRPr sz="2600" b="1">
                <a:solidFill>
                  <a:srgbClr val="0F172A"/>
                </a:solidFill>
                <a:latin typeface="Arial"/>
              </a:defRPr>
            </a:pPr>
            <a:r>
              <a:t>Results: Cluster Based Neighborhood methods</a:t>
            </a:r>
          </a:p>
        </p:txBody>
      </p:sp>
      <p:sp>
        <p:nvSpPr>
          <p:cNvPr id="4" name="TextBox 3"/>
          <p:cNvSpPr txBox="1"/>
          <p:nvPr/>
        </p:nvSpPr>
        <p:spPr>
          <a:xfrm>
            <a:off x="731520" y="1371600"/>
            <a:ext cx="3749039" cy="4572000"/>
          </a:xfrm>
          <a:prstGeom prst="rect">
            <a:avLst/>
          </a:prstGeom>
          <a:noFill/>
        </p:spPr>
        <p:txBody>
          <a:bodyPr wrap="square">
            <a:spAutoFit/>
          </a:bodyPr>
          <a:lstStyle/>
          <a:p>
            <a:pPr>
              <a:defRPr sz="1350" b="1">
                <a:solidFill>
                  <a:srgbClr val="0F172A"/>
                </a:solidFill>
                <a:latin typeface="Arial"/>
              </a:defRPr>
            </a:pPr>
            <a:r>
              <a:t>• KNN models were tested by using clusters for recipes only or users only.</a:t>
            </a:r>
          </a:p>
          <a:p>
            <a:pPr>
              <a:spcBef>
                <a:spcPts val="1800"/>
              </a:spcBef>
              <a:defRPr sz="1350" b="1">
                <a:solidFill>
                  <a:srgbClr val="0284C7"/>
                </a:solidFill>
                <a:latin typeface="Arial"/>
              </a:defRPr>
            </a:pPr>
            <a:r>
              <a:t>• User based KNNWithZScore had the lowest MAEs when filtering data with only clusters.</a:t>
            </a:r>
          </a:p>
          <a:p>
            <a:pPr>
              <a:spcBef>
                <a:spcPts val="1400"/>
              </a:spcBef>
              <a:defRPr sz="1150">
                <a:solidFill>
                  <a:srgbClr val="475569"/>
                </a:solidFill>
                <a:latin typeface="Arial"/>
              </a:defRPr>
            </a:pPr>
            <a:r>
              <a:t>Normalizing by user mean and standard deviation rating bias (Z score) within homogeneous user taste clusters effectively balances variance.</a:t>
            </a:r>
          </a:p>
        </p:txBody>
      </p:sp>
      <p:graphicFrame>
        <p:nvGraphicFramePr>
          <p:cNvPr id="5" name="Table 4"/>
          <p:cNvGraphicFramePr>
            <a:graphicFrameLocks noGrp="1"/>
          </p:cNvGraphicFramePr>
          <p:nvPr/>
        </p:nvGraphicFramePr>
        <p:xfrm>
          <a:off x="4617720" y="1188720"/>
          <a:ext cx="6949440" cy="5212080"/>
        </p:xfrm>
        <a:graphic>
          <a:graphicData uri="http://schemas.openxmlformats.org/drawingml/2006/table">
            <a:tbl>
              <a:tblPr firstRow="1" bandRow="1">
                <a:tableStyleId>{5C22544A-7EE6-4342-B048-85BDC9FD1C3A}</a:tableStyleId>
              </a:tblPr>
              <a:tblGrid>
                <a:gridCol w="1234440"/>
                <a:gridCol w="960120"/>
                <a:gridCol w="868680"/>
                <a:gridCol w="658368"/>
                <a:gridCol w="640080"/>
                <a:gridCol w="658368"/>
                <a:gridCol w="960120"/>
                <a:gridCol w="969264"/>
              </a:tblGrid>
              <a:tr h="306592">
                <a:tc>
                  <a:txBody>
                    <a:bodyPr/>
                    <a:lstStyle/>
                    <a:p>
                      <a:pPr>
                        <a:defRPr sz="680" b="1">
                          <a:solidFill>
                            <a:srgbClr val="0F172A"/>
                          </a:solidFill>
                          <a:latin typeface="Arial"/>
                        </a:defRPr>
                      </a:pPr>
                      <a:r>
                        <a:t>Model</a:t>
                      </a:r>
                    </a:p>
                  </a:txBody>
                  <a:tcPr marL="0" marR="0" marT="0" marB="0">
                    <a:solidFill>
                      <a:srgbClr val="F8FAFC"/>
                    </a:solidFill>
                  </a:tcPr>
                </a:tc>
                <a:tc>
                  <a:txBody>
                    <a:bodyPr/>
                    <a:lstStyle/>
                    <a:p>
                      <a:pPr>
                        <a:defRPr sz="680" b="1">
                          <a:solidFill>
                            <a:srgbClr val="0F172A"/>
                          </a:solidFill>
                          <a:latin typeface="Arial"/>
                        </a:defRPr>
                      </a:pPr>
                      <a:r>
                        <a:t>Clustering Type</a:t>
                      </a:r>
                    </a:p>
                  </a:txBody>
                  <a:tcPr marL="0" marR="0" marT="0" marB="0">
                    <a:solidFill>
                      <a:srgbClr val="F8FAFC"/>
                    </a:solidFill>
                  </a:tcPr>
                </a:tc>
                <a:tc>
                  <a:txBody>
                    <a:bodyPr/>
                    <a:lstStyle/>
                    <a:p>
                      <a:pPr>
                        <a:defRPr sz="680" b="1">
                          <a:solidFill>
                            <a:srgbClr val="0F172A"/>
                          </a:solidFill>
                          <a:latin typeface="Arial"/>
                        </a:defRPr>
                      </a:pPr>
                      <a:r>
                        <a:t>User Based</a:t>
                      </a:r>
                    </a:p>
                  </a:txBody>
                  <a:tcPr marL="0" marR="0" marT="0" marB="0">
                    <a:solidFill>
                      <a:srgbClr val="F8FAFC"/>
                    </a:solidFill>
                  </a:tcPr>
                </a:tc>
                <a:tc>
                  <a:txBody>
                    <a:bodyPr/>
                    <a:lstStyle/>
                    <a:p>
                      <a:pPr>
                        <a:defRPr sz="680" b="1">
                          <a:solidFill>
                            <a:srgbClr val="0F172A"/>
                          </a:solidFill>
                          <a:latin typeface="Arial"/>
                        </a:defRPr>
                      </a:pPr>
                      <a:r>
                        <a:t>RMSE</a:t>
                      </a:r>
                    </a:p>
                  </a:txBody>
                  <a:tcPr marL="0" marR="0" marT="0" marB="0">
                    <a:solidFill>
                      <a:srgbClr val="F8FAFC"/>
                    </a:solidFill>
                  </a:tcPr>
                </a:tc>
                <a:tc>
                  <a:txBody>
                    <a:bodyPr/>
                    <a:lstStyle/>
                    <a:p>
                      <a:pPr>
                        <a:defRPr sz="680" b="1">
                          <a:solidFill>
                            <a:srgbClr val="0F172A"/>
                          </a:solidFill>
                          <a:latin typeface="Arial"/>
                        </a:defRPr>
                      </a:pPr>
                      <a:r>
                        <a:t>MSE</a:t>
                      </a:r>
                    </a:p>
                  </a:txBody>
                  <a:tcPr marL="0" marR="0" marT="0" marB="0">
                    <a:solidFill>
                      <a:srgbClr val="F8FAFC"/>
                    </a:solidFill>
                  </a:tcPr>
                </a:tc>
                <a:tc>
                  <a:txBody>
                    <a:bodyPr/>
                    <a:lstStyle/>
                    <a:p>
                      <a:pPr>
                        <a:defRPr sz="680" b="1">
                          <a:solidFill>
                            <a:srgbClr val="0F172A"/>
                          </a:solidFill>
                          <a:latin typeface="Arial"/>
                        </a:defRPr>
                      </a:pPr>
                      <a:r>
                        <a:t>MAE</a:t>
                      </a:r>
                    </a:p>
                  </a:txBody>
                  <a:tcPr marL="0" marR="0" marT="0" marB="0">
                    <a:solidFill>
                      <a:srgbClr val="F8FAFC"/>
                    </a:solidFill>
                  </a:tcPr>
                </a:tc>
                <a:tc>
                  <a:txBody>
                    <a:bodyPr/>
                    <a:lstStyle/>
                    <a:p>
                      <a:pPr>
                        <a:defRPr sz="680" b="1">
                          <a:solidFill>
                            <a:srgbClr val="0F172A"/>
                          </a:solidFill>
                          <a:latin typeface="Arial"/>
                        </a:defRPr>
                      </a:pPr>
                      <a:r>
                        <a:t>Fit Time</a:t>
                      </a:r>
                    </a:p>
                  </a:txBody>
                  <a:tcPr marL="0" marR="0" marT="0" marB="0">
                    <a:solidFill>
                      <a:srgbClr val="F8FAFC"/>
                    </a:solidFill>
                  </a:tcPr>
                </a:tc>
                <a:tc>
                  <a:txBody>
                    <a:bodyPr/>
                    <a:lstStyle/>
                    <a:p>
                      <a:pPr>
                        <a:defRPr sz="680" b="1">
                          <a:solidFill>
                            <a:srgbClr val="0F172A"/>
                          </a:solidFill>
                          <a:latin typeface="Arial"/>
                        </a:defRPr>
                      </a:pPr>
                      <a:r>
                        <a:t>Test Time</a:t>
                      </a:r>
                    </a:p>
                  </a:txBody>
                  <a:tcPr marL="0" marR="0" marT="0" marB="0">
                    <a:solidFill>
                      <a:srgbClr val="F8FAFC"/>
                    </a:solidFill>
                  </a:tcPr>
                </a:tc>
              </a:tr>
              <a:tr h="306592">
                <a:tc>
                  <a:txBody>
                    <a:bodyPr/>
                    <a:lstStyle/>
                    <a:p>
                      <a:pPr>
                        <a:defRPr sz="700">
                          <a:solidFill>
                            <a:srgbClr val="0F172A"/>
                          </a:solidFill>
                          <a:latin typeface="Arial"/>
                        </a:defRPr>
                      </a:pPr>
                      <a:r>
                        <a:t>KNNBaseline</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0.5529</a:t>
                      </a:r>
                    </a:p>
                  </a:txBody>
                  <a:tcPr marL="0" marR="0" marT="0" marB="0">
                    <a:solidFill>
                      <a:srgbClr val="FFFFFF"/>
                    </a:solidFill>
                  </a:tcPr>
                </a:tc>
                <a:tc>
                  <a:txBody>
                    <a:bodyPr/>
                    <a:lstStyle/>
                    <a:p>
                      <a:pPr>
                        <a:defRPr sz="700">
                          <a:solidFill>
                            <a:srgbClr val="0F172A"/>
                          </a:solidFill>
                          <a:latin typeface="Arial"/>
                        </a:defRPr>
                      </a:pPr>
                      <a:r>
                        <a:t>0.3072</a:t>
                      </a:r>
                    </a:p>
                  </a:txBody>
                  <a:tcPr marL="0" marR="0" marT="0" marB="0">
                    <a:solidFill>
                      <a:srgbClr val="FFFFFF"/>
                    </a:solidFill>
                  </a:tcPr>
                </a:tc>
                <a:tc>
                  <a:txBody>
                    <a:bodyPr/>
                    <a:lstStyle/>
                    <a:p>
                      <a:pPr>
                        <a:defRPr sz="700">
                          <a:solidFill>
                            <a:srgbClr val="0F172A"/>
                          </a:solidFill>
                          <a:latin typeface="Arial"/>
                        </a:defRPr>
                      </a:pPr>
                      <a:r>
                        <a:t>0.3592</a:t>
                      </a:r>
                    </a:p>
                  </a:txBody>
                  <a:tcPr marL="0" marR="0" marT="0" marB="0">
                    <a:solidFill>
                      <a:srgbClr val="FFFFFF"/>
                    </a:solidFill>
                  </a:tcPr>
                </a:tc>
                <a:tc>
                  <a:txBody>
                    <a:bodyPr/>
                    <a:lstStyle/>
                    <a:p>
                      <a:pPr>
                        <a:defRPr sz="700">
                          <a:solidFill>
                            <a:srgbClr val="0F172A"/>
                          </a:solidFill>
                          <a:latin typeface="Arial"/>
                        </a:defRPr>
                      </a:pPr>
                      <a:r>
                        <a:t>0.1336</a:t>
                      </a:r>
                    </a:p>
                  </a:txBody>
                  <a:tcPr marL="0" marR="0" marT="0" marB="0">
                    <a:solidFill>
                      <a:srgbClr val="FFFFFF"/>
                    </a:solidFill>
                  </a:tcPr>
                </a:tc>
                <a:tc>
                  <a:txBody>
                    <a:bodyPr/>
                    <a:lstStyle/>
                    <a:p>
                      <a:pPr>
                        <a:defRPr sz="700">
                          <a:solidFill>
                            <a:srgbClr val="0F172A"/>
                          </a:solidFill>
                          <a:latin typeface="Arial"/>
                        </a:defRPr>
                      </a:pPr>
                      <a:r>
                        <a:t>0.1342</a:t>
                      </a:r>
                    </a:p>
                  </a:txBody>
                  <a:tcPr marL="0" marR="0" marT="0" marB="0">
                    <a:solidFill>
                      <a:srgbClr val="FFFFFF"/>
                    </a:solidFill>
                  </a:tcPr>
                </a:tc>
              </a:tr>
              <a:tr h="306592">
                <a:tc>
                  <a:txBody>
                    <a:bodyPr/>
                    <a:lstStyle/>
                    <a:p>
                      <a:pPr>
                        <a:defRPr sz="700">
                          <a:solidFill>
                            <a:srgbClr val="0F172A"/>
                          </a:solidFill>
                          <a:latin typeface="Arial"/>
                        </a:defRPr>
                      </a:pPr>
                      <a:r>
                        <a:t>KNNBaseline</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0.5592</a:t>
                      </a:r>
                    </a:p>
                  </a:txBody>
                  <a:tcPr marL="0" marR="0" marT="0" marB="0">
                    <a:solidFill>
                      <a:srgbClr val="FFFFFF"/>
                    </a:solidFill>
                  </a:tcPr>
                </a:tc>
                <a:tc>
                  <a:txBody>
                    <a:bodyPr/>
                    <a:lstStyle/>
                    <a:p>
                      <a:pPr>
                        <a:defRPr sz="700">
                          <a:solidFill>
                            <a:srgbClr val="0F172A"/>
                          </a:solidFill>
                          <a:latin typeface="Arial"/>
                        </a:defRPr>
                      </a:pPr>
                      <a:r>
                        <a:t>0.3143</a:t>
                      </a:r>
                    </a:p>
                  </a:txBody>
                  <a:tcPr marL="0" marR="0" marT="0" marB="0">
                    <a:solidFill>
                      <a:srgbClr val="FFFFFF"/>
                    </a:solidFill>
                  </a:tcPr>
                </a:tc>
                <a:tc>
                  <a:txBody>
                    <a:bodyPr/>
                    <a:lstStyle/>
                    <a:p>
                      <a:pPr>
                        <a:defRPr sz="700">
                          <a:solidFill>
                            <a:srgbClr val="0F172A"/>
                          </a:solidFill>
                          <a:latin typeface="Arial"/>
                        </a:defRPr>
                      </a:pPr>
                      <a:r>
                        <a:t>0.3708</a:t>
                      </a:r>
                    </a:p>
                  </a:txBody>
                  <a:tcPr marL="0" marR="0" marT="0" marB="0">
                    <a:solidFill>
                      <a:srgbClr val="FFFFFF"/>
                    </a:solidFill>
                  </a:tcPr>
                </a:tc>
                <a:tc>
                  <a:txBody>
                    <a:bodyPr/>
                    <a:lstStyle/>
                    <a:p>
                      <a:pPr>
                        <a:defRPr sz="700">
                          <a:solidFill>
                            <a:srgbClr val="0F172A"/>
                          </a:solidFill>
                          <a:latin typeface="Arial"/>
                        </a:defRPr>
                      </a:pPr>
                      <a:r>
                        <a:t>0.2470</a:t>
                      </a:r>
                    </a:p>
                  </a:txBody>
                  <a:tcPr marL="0" marR="0" marT="0" marB="0">
                    <a:solidFill>
                      <a:srgbClr val="FFFFFF"/>
                    </a:solidFill>
                  </a:tcPr>
                </a:tc>
                <a:tc>
                  <a:txBody>
                    <a:bodyPr/>
                    <a:lstStyle/>
                    <a:p>
                      <a:pPr>
                        <a:defRPr sz="700">
                          <a:solidFill>
                            <a:srgbClr val="0F172A"/>
                          </a:solidFill>
                          <a:latin typeface="Arial"/>
                        </a:defRPr>
                      </a:pPr>
                      <a:r>
                        <a:t>0.1866</a:t>
                      </a:r>
                    </a:p>
                  </a:txBody>
                  <a:tcPr marL="0" marR="0" marT="0" marB="0">
                    <a:solidFill>
                      <a:srgbClr val="FFFFFF"/>
                    </a:solidFill>
                  </a:tcPr>
                </a:tc>
              </a:tr>
              <a:tr h="306592">
                <a:tc>
                  <a:txBody>
                    <a:bodyPr/>
                    <a:lstStyle/>
                    <a:p>
                      <a:pPr>
                        <a:defRPr sz="700">
                          <a:solidFill>
                            <a:srgbClr val="0F172A"/>
                          </a:solidFill>
                          <a:latin typeface="Arial"/>
                        </a:defRPr>
                      </a:pPr>
                      <a:r>
                        <a:t>KNNBasic</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0.5668</a:t>
                      </a:r>
                    </a:p>
                  </a:txBody>
                  <a:tcPr marL="0" marR="0" marT="0" marB="0">
                    <a:solidFill>
                      <a:srgbClr val="FFFFFF"/>
                    </a:solidFill>
                  </a:tcPr>
                </a:tc>
                <a:tc>
                  <a:txBody>
                    <a:bodyPr/>
                    <a:lstStyle/>
                    <a:p>
                      <a:pPr>
                        <a:defRPr sz="700">
                          <a:solidFill>
                            <a:srgbClr val="0F172A"/>
                          </a:solidFill>
                          <a:latin typeface="Arial"/>
                        </a:defRPr>
                      </a:pPr>
                      <a:r>
                        <a:t>0.3227</a:t>
                      </a:r>
                    </a:p>
                  </a:txBody>
                  <a:tcPr marL="0" marR="0" marT="0" marB="0">
                    <a:solidFill>
                      <a:srgbClr val="FFFFFF"/>
                    </a:solidFill>
                  </a:tcPr>
                </a:tc>
                <a:tc>
                  <a:txBody>
                    <a:bodyPr/>
                    <a:lstStyle/>
                    <a:p>
                      <a:pPr>
                        <a:defRPr sz="700">
                          <a:solidFill>
                            <a:srgbClr val="0F172A"/>
                          </a:solidFill>
                          <a:latin typeface="Arial"/>
                        </a:defRPr>
                      </a:pPr>
                      <a:r>
                        <a:t>0.3649</a:t>
                      </a:r>
                    </a:p>
                  </a:txBody>
                  <a:tcPr marL="0" marR="0" marT="0" marB="0">
                    <a:solidFill>
                      <a:srgbClr val="FFFFFF"/>
                    </a:solidFill>
                  </a:tcPr>
                </a:tc>
                <a:tc>
                  <a:txBody>
                    <a:bodyPr/>
                    <a:lstStyle/>
                    <a:p>
                      <a:pPr>
                        <a:defRPr sz="700">
                          <a:solidFill>
                            <a:srgbClr val="0F172A"/>
                          </a:solidFill>
                          <a:latin typeface="Arial"/>
                        </a:defRPr>
                      </a:pPr>
                      <a:r>
                        <a:t>0.1097</a:t>
                      </a:r>
                    </a:p>
                  </a:txBody>
                  <a:tcPr marL="0" marR="0" marT="0" marB="0">
                    <a:solidFill>
                      <a:srgbClr val="FFFFFF"/>
                    </a:solidFill>
                  </a:tcPr>
                </a:tc>
                <a:tc>
                  <a:txBody>
                    <a:bodyPr/>
                    <a:lstStyle/>
                    <a:p>
                      <a:pPr>
                        <a:defRPr sz="700">
                          <a:solidFill>
                            <a:srgbClr val="0F172A"/>
                          </a:solidFill>
                          <a:latin typeface="Arial"/>
                        </a:defRPr>
                      </a:pPr>
                      <a:r>
                        <a:t>0.1107</a:t>
                      </a:r>
                    </a:p>
                  </a:txBody>
                  <a:tcPr marL="0" marR="0" marT="0" marB="0">
                    <a:solidFill>
                      <a:srgbClr val="FFFFFF"/>
                    </a:solidFill>
                  </a:tcPr>
                </a:tc>
              </a:tr>
              <a:tr h="306592">
                <a:tc>
                  <a:txBody>
                    <a:bodyPr/>
                    <a:lstStyle/>
                    <a:p>
                      <a:pPr>
                        <a:defRPr sz="700">
                          <a:solidFill>
                            <a:srgbClr val="0F172A"/>
                          </a:solidFill>
                          <a:latin typeface="Arial"/>
                        </a:defRPr>
                      </a:pPr>
                      <a:r>
                        <a:t>KNNBasic</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0.5930</a:t>
                      </a:r>
                    </a:p>
                  </a:txBody>
                  <a:tcPr marL="0" marR="0" marT="0" marB="0">
                    <a:solidFill>
                      <a:srgbClr val="FFFFFF"/>
                    </a:solidFill>
                  </a:tcPr>
                </a:tc>
                <a:tc>
                  <a:txBody>
                    <a:bodyPr/>
                    <a:lstStyle/>
                    <a:p>
                      <a:pPr>
                        <a:defRPr sz="700">
                          <a:solidFill>
                            <a:srgbClr val="0F172A"/>
                          </a:solidFill>
                          <a:latin typeface="Arial"/>
                        </a:defRPr>
                      </a:pPr>
                      <a:r>
                        <a:t>0.3537</a:t>
                      </a:r>
                    </a:p>
                  </a:txBody>
                  <a:tcPr marL="0" marR="0" marT="0" marB="0">
                    <a:solidFill>
                      <a:srgbClr val="FFFFFF"/>
                    </a:solidFill>
                  </a:tcPr>
                </a:tc>
                <a:tc>
                  <a:txBody>
                    <a:bodyPr/>
                    <a:lstStyle/>
                    <a:p>
                      <a:pPr>
                        <a:defRPr sz="700">
                          <a:solidFill>
                            <a:srgbClr val="0F172A"/>
                          </a:solidFill>
                          <a:latin typeface="Arial"/>
                        </a:defRPr>
                      </a:pPr>
                      <a:r>
                        <a:t>0.3954</a:t>
                      </a:r>
                    </a:p>
                  </a:txBody>
                  <a:tcPr marL="0" marR="0" marT="0" marB="0">
                    <a:solidFill>
                      <a:srgbClr val="FFFFFF"/>
                    </a:solidFill>
                  </a:tcPr>
                </a:tc>
                <a:tc>
                  <a:txBody>
                    <a:bodyPr/>
                    <a:lstStyle/>
                    <a:p>
                      <a:pPr>
                        <a:defRPr sz="700">
                          <a:solidFill>
                            <a:srgbClr val="0F172A"/>
                          </a:solidFill>
                          <a:latin typeface="Arial"/>
                        </a:defRPr>
                      </a:pPr>
                      <a:r>
                        <a:t>0.2189</a:t>
                      </a:r>
                    </a:p>
                  </a:txBody>
                  <a:tcPr marL="0" marR="0" marT="0" marB="0">
                    <a:solidFill>
                      <a:srgbClr val="FFFFFF"/>
                    </a:solidFill>
                  </a:tcPr>
                </a:tc>
                <a:tc>
                  <a:txBody>
                    <a:bodyPr/>
                    <a:lstStyle/>
                    <a:p>
                      <a:pPr>
                        <a:defRPr sz="700">
                          <a:solidFill>
                            <a:srgbClr val="0F172A"/>
                          </a:solidFill>
                          <a:latin typeface="Arial"/>
                        </a:defRPr>
                      </a:pPr>
                      <a:r>
                        <a:t>0.1562</a:t>
                      </a:r>
                    </a:p>
                  </a:txBody>
                  <a:tcPr marL="0" marR="0" marT="0" marB="0">
                    <a:solidFill>
                      <a:srgbClr val="FFFFFF"/>
                    </a:solidFill>
                  </a:tcPr>
                </a:tc>
              </a:tr>
              <a:tr h="306592">
                <a:tc>
                  <a:txBody>
                    <a:bodyPr/>
                    <a:lstStyle/>
                    <a:p>
                      <a:pPr>
                        <a:defRPr sz="700">
                          <a:solidFill>
                            <a:srgbClr val="0F172A"/>
                          </a:solidFill>
                          <a:latin typeface="Arial"/>
                        </a:defRPr>
                      </a:pPr>
                      <a:r>
                        <a:t>KNNWithMeans</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0.5644</a:t>
                      </a:r>
                    </a:p>
                  </a:txBody>
                  <a:tcPr marL="0" marR="0" marT="0" marB="0">
                    <a:solidFill>
                      <a:srgbClr val="FFFFFF"/>
                    </a:solidFill>
                  </a:tcPr>
                </a:tc>
                <a:tc>
                  <a:txBody>
                    <a:bodyPr/>
                    <a:lstStyle/>
                    <a:p>
                      <a:pPr>
                        <a:defRPr sz="700">
                          <a:solidFill>
                            <a:srgbClr val="0F172A"/>
                          </a:solidFill>
                          <a:latin typeface="Arial"/>
                        </a:defRPr>
                      </a:pPr>
                      <a:r>
                        <a:t>0.3199</a:t>
                      </a:r>
                    </a:p>
                  </a:txBody>
                  <a:tcPr marL="0" marR="0" marT="0" marB="0">
                    <a:solidFill>
                      <a:srgbClr val="FFFFFF"/>
                    </a:solidFill>
                  </a:tcPr>
                </a:tc>
                <a:tc>
                  <a:txBody>
                    <a:bodyPr/>
                    <a:lstStyle/>
                    <a:p>
                      <a:pPr>
                        <a:defRPr sz="700">
                          <a:solidFill>
                            <a:srgbClr val="0F172A"/>
                          </a:solidFill>
                          <a:latin typeface="Arial"/>
                        </a:defRPr>
                      </a:pPr>
                      <a:r>
                        <a:t>0.3651</a:t>
                      </a:r>
                    </a:p>
                  </a:txBody>
                  <a:tcPr marL="0" marR="0" marT="0" marB="0">
                    <a:solidFill>
                      <a:srgbClr val="FFFFFF"/>
                    </a:solidFill>
                  </a:tcPr>
                </a:tc>
                <a:tc>
                  <a:txBody>
                    <a:bodyPr/>
                    <a:lstStyle/>
                    <a:p>
                      <a:pPr>
                        <a:defRPr sz="700">
                          <a:solidFill>
                            <a:srgbClr val="0F172A"/>
                          </a:solidFill>
                          <a:latin typeface="Arial"/>
                        </a:defRPr>
                      </a:pPr>
                      <a:r>
                        <a:t>0.1185</a:t>
                      </a:r>
                    </a:p>
                  </a:txBody>
                  <a:tcPr marL="0" marR="0" marT="0" marB="0">
                    <a:solidFill>
                      <a:srgbClr val="FFFFFF"/>
                    </a:solidFill>
                  </a:tcPr>
                </a:tc>
                <a:tc>
                  <a:txBody>
                    <a:bodyPr/>
                    <a:lstStyle/>
                    <a:p>
                      <a:pPr>
                        <a:defRPr sz="700">
                          <a:solidFill>
                            <a:srgbClr val="0F172A"/>
                          </a:solidFill>
                          <a:latin typeface="Arial"/>
                        </a:defRPr>
                      </a:pPr>
                      <a:r>
                        <a:t>0.1253</a:t>
                      </a:r>
                    </a:p>
                  </a:txBody>
                  <a:tcPr marL="0" marR="0" marT="0" marB="0">
                    <a:solidFill>
                      <a:srgbClr val="FFFFFF"/>
                    </a:solidFill>
                  </a:tcPr>
                </a:tc>
              </a:tr>
              <a:tr h="306592">
                <a:tc>
                  <a:txBody>
                    <a:bodyPr/>
                    <a:lstStyle/>
                    <a:p>
                      <a:pPr>
                        <a:defRPr sz="700">
                          <a:solidFill>
                            <a:srgbClr val="0F172A"/>
                          </a:solidFill>
                          <a:latin typeface="Arial"/>
                        </a:defRPr>
                      </a:pPr>
                      <a:r>
                        <a:t>KNNWithMeans</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0.5765</a:t>
                      </a:r>
                    </a:p>
                  </a:txBody>
                  <a:tcPr marL="0" marR="0" marT="0" marB="0">
                    <a:solidFill>
                      <a:srgbClr val="FFFFFF"/>
                    </a:solidFill>
                  </a:tcPr>
                </a:tc>
                <a:tc>
                  <a:txBody>
                    <a:bodyPr/>
                    <a:lstStyle/>
                    <a:p>
                      <a:pPr>
                        <a:defRPr sz="700">
                          <a:solidFill>
                            <a:srgbClr val="0F172A"/>
                          </a:solidFill>
                          <a:latin typeface="Arial"/>
                        </a:defRPr>
                      </a:pPr>
                      <a:r>
                        <a:t>0.3335</a:t>
                      </a:r>
                    </a:p>
                  </a:txBody>
                  <a:tcPr marL="0" marR="0" marT="0" marB="0">
                    <a:solidFill>
                      <a:srgbClr val="FFFFFF"/>
                    </a:solidFill>
                  </a:tcPr>
                </a:tc>
                <a:tc>
                  <a:txBody>
                    <a:bodyPr/>
                    <a:lstStyle/>
                    <a:p>
                      <a:pPr>
                        <a:defRPr sz="700">
                          <a:solidFill>
                            <a:srgbClr val="0F172A"/>
                          </a:solidFill>
                          <a:latin typeface="Arial"/>
                        </a:defRPr>
                      </a:pPr>
                      <a:r>
                        <a:t>0.3555</a:t>
                      </a:r>
                    </a:p>
                  </a:txBody>
                  <a:tcPr marL="0" marR="0" marT="0" marB="0">
                    <a:solidFill>
                      <a:srgbClr val="FFFFFF"/>
                    </a:solidFill>
                  </a:tcPr>
                </a:tc>
                <a:tc>
                  <a:txBody>
                    <a:bodyPr/>
                    <a:lstStyle/>
                    <a:p>
                      <a:pPr>
                        <a:defRPr sz="700">
                          <a:solidFill>
                            <a:srgbClr val="0F172A"/>
                          </a:solidFill>
                          <a:latin typeface="Arial"/>
                        </a:defRPr>
                      </a:pPr>
                      <a:r>
                        <a:t>0.2371</a:t>
                      </a:r>
                    </a:p>
                  </a:txBody>
                  <a:tcPr marL="0" marR="0" marT="0" marB="0">
                    <a:solidFill>
                      <a:srgbClr val="FFFFFF"/>
                    </a:solidFill>
                  </a:tcPr>
                </a:tc>
                <a:tc>
                  <a:txBody>
                    <a:bodyPr/>
                    <a:lstStyle/>
                    <a:p>
                      <a:pPr>
                        <a:defRPr sz="700">
                          <a:solidFill>
                            <a:srgbClr val="0F172A"/>
                          </a:solidFill>
                          <a:latin typeface="Arial"/>
                        </a:defRPr>
                      </a:pPr>
                      <a:r>
                        <a:t>0.1523</a:t>
                      </a:r>
                    </a:p>
                  </a:txBody>
                  <a:tcPr marL="0" marR="0" marT="0" marB="0">
                    <a:solidFill>
                      <a:srgbClr val="FFFFFF"/>
                    </a:solidFill>
                  </a:tcPr>
                </a:tc>
              </a:tr>
              <a:tr h="306592">
                <a:tc>
                  <a:txBody>
                    <a:bodyPr/>
                    <a:lstStyle/>
                    <a:p>
                      <a:pPr>
                        <a:defRPr sz="700">
                          <a:solidFill>
                            <a:srgbClr val="0F172A"/>
                          </a:solidFill>
                          <a:latin typeface="Arial"/>
                        </a:defRPr>
                      </a:pPr>
                      <a:r>
                        <a:t>KNNWithZScore</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0.5675</a:t>
                      </a:r>
                    </a:p>
                  </a:txBody>
                  <a:tcPr marL="0" marR="0" marT="0" marB="0">
                    <a:solidFill>
                      <a:srgbClr val="FFFFFF"/>
                    </a:solidFill>
                  </a:tcPr>
                </a:tc>
                <a:tc>
                  <a:txBody>
                    <a:bodyPr/>
                    <a:lstStyle/>
                    <a:p>
                      <a:pPr>
                        <a:defRPr sz="700">
                          <a:solidFill>
                            <a:srgbClr val="0F172A"/>
                          </a:solidFill>
                          <a:latin typeface="Arial"/>
                        </a:defRPr>
                      </a:pPr>
                      <a:r>
                        <a:t>0.3235</a:t>
                      </a:r>
                    </a:p>
                  </a:txBody>
                  <a:tcPr marL="0" marR="0" marT="0" marB="0">
                    <a:solidFill>
                      <a:srgbClr val="FFFFFF"/>
                    </a:solidFill>
                  </a:tcPr>
                </a:tc>
                <a:tc>
                  <a:txBody>
                    <a:bodyPr/>
                    <a:lstStyle/>
                    <a:p>
                      <a:pPr>
                        <a:defRPr sz="700">
                          <a:solidFill>
                            <a:srgbClr val="0F172A"/>
                          </a:solidFill>
                          <a:latin typeface="Arial"/>
                        </a:defRPr>
                      </a:pPr>
                      <a:r>
                        <a:t>0.3626</a:t>
                      </a:r>
                    </a:p>
                  </a:txBody>
                  <a:tcPr marL="0" marR="0" marT="0" marB="0">
                    <a:solidFill>
                      <a:srgbClr val="FFFFFF"/>
                    </a:solidFill>
                  </a:tcPr>
                </a:tc>
                <a:tc>
                  <a:txBody>
                    <a:bodyPr/>
                    <a:lstStyle/>
                    <a:p>
                      <a:pPr>
                        <a:defRPr sz="700">
                          <a:solidFill>
                            <a:srgbClr val="0F172A"/>
                          </a:solidFill>
                          <a:latin typeface="Arial"/>
                        </a:defRPr>
                      </a:pPr>
                      <a:r>
                        <a:t>0.1429</a:t>
                      </a:r>
                    </a:p>
                  </a:txBody>
                  <a:tcPr marL="0" marR="0" marT="0" marB="0">
                    <a:solidFill>
                      <a:srgbClr val="FFFFFF"/>
                    </a:solidFill>
                  </a:tcPr>
                </a:tc>
                <a:tc>
                  <a:txBody>
                    <a:bodyPr/>
                    <a:lstStyle/>
                    <a:p>
                      <a:pPr>
                        <a:defRPr sz="700">
                          <a:solidFill>
                            <a:srgbClr val="0F172A"/>
                          </a:solidFill>
                          <a:latin typeface="Arial"/>
                        </a:defRPr>
                      </a:pPr>
                      <a:r>
                        <a:t>0.1328</a:t>
                      </a:r>
                    </a:p>
                  </a:txBody>
                  <a:tcPr marL="0" marR="0" marT="0" marB="0">
                    <a:solidFill>
                      <a:srgbClr val="FFFFFF"/>
                    </a:solidFill>
                  </a:tcPr>
                </a:tc>
              </a:tr>
              <a:tr h="306592">
                <a:tc>
                  <a:txBody>
                    <a:bodyPr/>
                    <a:lstStyle/>
                    <a:p>
                      <a:pPr>
                        <a:defRPr sz="700">
                          <a:solidFill>
                            <a:srgbClr val="0F172A"/>
                          </a:solidFill>
                          <a:latin typeface="Arial"/>
                        </a:defRPr>
                      </a:pPr>
                      <a:r>
                        <a:t>KNNWithZScore</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0.5809</a:t>
                      </a:r>
                    </a:p>
                  </a:txBody>
                  <a:tcPr marL="0" marR="0" marT="0" marB="0">
                    <a:solidFill>
                      <a:srgbClr val="FFFFFF"/>
                    </a:solidFill>
                  </a:tcPr>
                </a:tc>
                <a:tc>
                  <a:txBody>
                    <a:bodyPr/>
                    <a:lstStyle/>
                    <a:p>
                      <a:pPr>
                        <a:defRPr sz="700">
                          <a:solidFill>
                            <a:srgbClr val="0F172A"/>
                          </a:solidFill>
                          <a:latin typeface="Arial"/>
                        </a:defRPr>
                      </a:pPr>
                      <a:r>
                        <a:t>0.3386</a:t>
                      </a:r>
                    </a:p>
                  </a:txBody>
                  <a:tcPr marL="0" marR="0" marT="0" marB="0">
                    <a:solidFill>
                      <a:srgbClr val="FFFFFF"/>
                    </a:solidFill>
                  </a:tcPr>
                </a:tc>
                <a:tc>
                  <a:txBody>
                    <a:bodyPr/>
                    <a:lstStyle/>
                    <a:p>
                      <a:pPr>
                        <a:defRPr sz="700">
                          <a:solidFill>
                            <a:srgbClr val="0F172A"/>
                          </a:solidFill>
                          <a:latin typeface="Arial"/>
                        </a:defRPr>
                      </a:pPr>
                      <a:r>
                        <a:t>0.3541</a:t>
                      </a:r>
                    </a:p>
                  </a:txBody>
                  <a:tcPr marL="0" marR="0" marT="0" marB="0">
                    <a:solidFill>
                      <a:srgbClr val="FFFFFF"/>
                    </a:solidFill>
                  </a:tcPr>
                </a:tc>
                <a:tc>
                  <a:txBody>
                    <a:bodyPr/>
                    <a:lstStyle/>
                    <a:p>
                      <a:pPr>
                        <a:defRPr sz="700">
                          <a:solidFill>
                            <a:srgbClr val="0F172A"/>
                          </a:solidFill>
                          <a:latin typeface="Arial"/>
                        </a:defRPr>
                      </a:pPr>
                      <a:r>
                        <a:t>0.2680</a:t>
                      </a:r>
                    </a:p>
                  </a:txBody>
                  <a:tcPr marL="0" marR="0" marT="0" marB="0">
                    <a:solidFill>
                      <a:srgbClr val="FFFFFF"/>
                    </a:solidFill>
                  </a:tcPr>
                </a:tc>
                <a:tc>
                  <a:txBody>
                    <a:bodyPr/>
                    <a:lstStyle/>
                    <a:p>
                      <a:pPr>
                        <a:defRPr sz="700">
                          <a:solidFill>
                            <a:srgbClr val="0F172A"/>
                          </a:solidFill>
                          <a:latin typeface="Arial"/>
                        </a:defRPr>
                      </a:pPr>
                      <a:r>
                        <a:t>0.1638</a:t>
                      </a:r>
                    </a:p>
                  </a:txBody>
                  <a:tcPr marL="0" marR="0" marT="0" marB="0">
                    <a:solidFill>
                      <a:srgbClr val="FFFFFF"/>
                    </a:solidFill>
                  </a:tcPr>
                </a:tc>
              </a:tr>
              <a:tr h="306592">
                <a:tc>
                  <a:txBody>
                    <a:bodyPr/>
                    <a:lstStyle/>
                    <a:p>
                      <a:pPr>
                        <a:defRPr sz="700">
                          <a:solidFill>
                            <a:srgbClr val="0F172A"/>
                          </a:solidFill>
                          <a:latin typeface="Arial"/>
                        </a:defRPr>
                      </a:pPr>
                      <a:r>
                        <a:t>KNNBaseline</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0.5429</a:t>
                      </a:r>
                    </a:p>
                  </a:txBody>
                  <a:tcPr marL="0" marR="0" marT="0" marB="0">
                    <a:solidFill>
                      <a:srgbClr val="FFFFFF"/>
                    </a:solidFill>
                  </a:tcPr>
                </a:tc>
                <a:tc>
                  <a:txBody>
                    <a:bodyPr/>
                    <a:lstStyle/>
                    <a:p>
                      <a:pPr>
                        <a:defRPr sz="700">
                          <a:solidFill>
                            <a:srgbClr val="0F172A"/>
                          </a:solidFill>
                          <a:latin typeface="Arial"/>
                        </a:defRPr>
                      </a:pPr>
                      <a:r>
                        <a:t>0.3009</a:t>
                      </a:r>
                    </a:p>
                  </a:txBody>
                  <a:tcPr marL="0" marR="0" marT="0" marB="0">
                    <a:solidFill>
                      <a:srgbClr val="FFFFFF"/>
                    </a:solidFill>
                  </a:tcPr>
                </a:tc>
                <a:tc>
                  <a:txBody>
                    <a:bodyPr/>
                    <a:lstStyle/>
                    <a:p>
                      <a:pPr>
                        <a:defRPr sz="700">
                          <a:solidFill>
                            <a:srgbClr val="0F172A"/>
                          </a:solidFill>
                          <a:latin typeface="Arial"/>
                        </a:defRPr>
                      </a:pPr>
                      <a:r>
                        <a:t>0.3499</a:t>
                      </a:r>
                    </a:p>
                  </a:txBody>
                  <a:tcPr marL="0" marR="0" marT="0" marB="0">
                    <a:solidFill>
                      <a:srgbClr val="FFFFFF"/>
                    </a:solidFill>
                  </a:tcPr>
                </a:tc>
                <a:tc>
                  <a:txBody>
                    <a:bodyPr/>
                    <a:lstStyle/>
                    <a:p>
                      <a:pPr>
                        <a:defRPr sz="700">
                          <a:solidFill>
                            <a:srgbClr val="0F172A"/>
                          </a:solidFill>
                          <a:latin typeface="Arial"/>
                        </a:defRPr>
                      </a:pPr>
                      <a:r>
                        <a:t>0.9116</a:t>
                      </a:r>
                    </a:p>
                  </a:txBody>
                  <a:tcPr marL="0" marR="0" marT="0" marB="0">
                    <a:solidFill>
                      <a:srgbClr val="FFFFFF"/>
                    </a:solidFill>
                  </a:tcPr>
                </a:tc>
                <a:tc>
                  <a:txBody>
                    <a:bodyPr/>
                    <a:lstStyle/>
                    <a:p>
                      <a:pPr>
                        <a:defRPr sz="700">
                          <a:solidFill>
                            <a:srgbClr val="0F172A"/>
                          </a:solidFill>
                          <a:latin typeface="Arial"/>
                        </a:defRPr>
                      </a:pPr>
                      <a:r>
                        <a:t>0.2535</a:t>
                      </a:r>
                    </a:p>
                  </a:txBody>
                  <a:tcPr marL="0" marR="0" marT="0" marB="0">
                    <a:solidFill>
                      <a:srgbClr val="FFFFFF"/>
                    </a:solidFill>
                  </a:tcPr>
                </a:tc>
              </a:tr>
              <a:tr h="306592">
                <a:tc>
                  <a:txBody>
                    <a:bodyPr/>
                    <a:lstStyle/>
                    <a:p>
                      <a:pPr>
                        <a:defRPr sz="700">
                          <a:solidFill>
                            <a:srgbClr val="0F172A"/>
                          </a:solidFill>
                          <a:latin typeface="Arial"/>
                        </a:defRPr>
                      </a:pPr>
                      <a:r>
                        <a:t>KNNBaseline</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0.5389</a:t>
                      </a:r>
                    </a:p>
                  </a:txBody>
                  <a:tcPr marL="0" marR="0" marT="0" marB="0">
                    <a:solidFill>
                      <a:srgbClr val="FFFFFF"/>
                    </a:solidFill>
                  </a:tcPr>
                </a:tc>
                <a:tc>
                  <a:txBody>
                    <a:bodyPr/>
                    <a:lstStyle/>
                    <a:p>
                      <a:pPr>
                        <a:defRPr sz="700">
                          <a:solidFill>
                            <a:srgbClr val="0F172A"/>
                          </a:solidFill>
                          <a:latin typeface="Arial"/>
                        </a:defRPr>
                      </a:pPr>
                      <a:r>
                        <a:t>0.2967</a:t>
                      </a:r>
                    </a:p>
                  </a:txBody>
                  <a:tcPr marL="0" marR="0" marT="0" marB="0">
                    <a:solidFill>
                      <a:srgbClr val="FFFFFF"/>
                    </a:solidFill>
                  </a:tcPr>
                </a:tc>
                <a:tc>
                  <a:txBody>
                    <a:bodyPr/>
                    <a:lstStyle/>
                    <a:p>
                      <a:pPr>
                        <a:defRPr sz="700">
                          <a:solidFill>
                            <a:srgbClr val="0F172A"/>
                          </a:solidFill>
                          <a:latin typeface="Arial"/>
                        </a:defRPr>
                      </a:pPr>
                      <a:r>
                        <a:t>0.3540</a:t>
                      </a:r>
                    </a:p>
                  </a:txBody>
                  <a:tcPr marL="0" marR="0" marT="0" marB="0">
                    <a:solidFill>
                      <a:srgbClr val="FFFFFF"/>
                    </a:solidFill>
                  </a:tcPr>
                </a:tc>
                <a:tc>
                  <a:txBody>
                    <a:bodyPr/>
                    <a:lstStyle/>
                    <a:p>
                      <a:pPr>
                        <a:defRPr sz="700">
                          <a:solidFill>
                            <a:srgbClr val="0F172A"/>
                          </a:solidFill>
                          <a:latin typeface="Arial"/>
                        </a:defRPr>
                      </a:pPr>
                      <a:r>
                        <a:t>0.0571</a:t>
                      </a:r>
                    </a:p>
                  </a:txBody>
                  <a:tcPr marL="0" marR="0" marT="0" marB="0">
                    <a:solidFill>
                      <a:srgbClr val="FFFFFF"/>
                    </a:solidFill>
                  </a:tcPr>
                </a:tc>
                <a:tc>
                  <a:txBody>
                    <a:bodyPr/>
                    <a:lstStyle/>
                    <a:p>
                      <a:pPr>
                        <a:defRPr sz="700">
                          <a:solidFill>
                            <a:srgbClr val="0F172A"/>
                          </a:solidFill>
                          <a:latin typeface="Arial"/>
                        </a:defRPr>
                      </a:pPr>
                      <a:r>
                        <a:t>0.0862</a:t>
                      </a:r>
                    </a:p>
                  </a:txBody>
                  <a:tcPr marL="0" marR="0" marT="0" marB="0">
                    <a:solidFill>
                      <a:srgbClr val="FFFFFF"/>
                    </a:solidFill>
                  </a:tcPr>
                </a:tc>
              </a:tr>
              <a:tr h="306592">
                <a:tc>
                  <a:txBody>
                    <a:bodyPr/>
                    <a:lstStyle/>
                    <a:p>
                      <a:pPr>
                        <a:defRPr sz="700">
                          <a:solidFill>
                            <a:srgbClr val="0F172A"/>
                          </a:solidFill>
                          <a:latin typeface="Arial"/>
                        </a:defRPr>
                      </a:pPr>
                      <a:r>
                        <a:t>KNNBasic</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0.5596</a:t>
                      </a:r>
                    </a:p>
                  </a:txBody>
                  <a:tcPr marL="0" marR="0" marT="0" marB="0">
                    <a:solidFill>
                      <a:srgbClr val="FFFFFF"/>
                    </a:solidFill>
                  </a:tcPr>
                </a:tc>
                <a:tc>
                  <a:txBody>
                    <a:bodyPr/>
                    <a:lstStyle/>
                    <a:p>
                      <a:pPr>
                        <a:defRPr sz="700">
                          <a:solidFill>
                            <a:srgbClr val="0F172A"/>
                          </a:solidFill>
                          <a:latin typeface="Arial"/>
                        </a:defRPr>
                      </a:pPr>
                      <a:r>
                        <a:t>0.3197</a:t>
                      </a:r>
                    </a:p>
                  </a:txBody>
                  <a:tcPr marL="0" marR="0" marT="0" marB="0">
                    <a:solidFill>
                      <a:srgbClr val="FFFFFF"/>
                    </a:solidFill>
                  </a:tcPr>
                </a:tc>
                <a:tc>
                  <a:txBody>
                    <a:bodyPr/>
                    <a:lstStyle/>
                    <a:p>
                      <a:pPr>
                        <a:defRPr sz="700">
                          <a:solidFill>
                            <a:srgbClr val="0F172A"/>
                          </a:solidFill>
                          <a:latin typeface="Arial"/>
                        </a:defRPr>
                      </a:pPr>
                      <a:r>
                        <a:t>0.3592</a:t>
                      </a:r>
                    </a:p>
                  </a:txBody>
                  <a:tcPr marL="0" marR="0" marT="0" marB="0">
                    <a:solidFill>
                      <a:srgbClr val="FFFFFF"/>
                    </a:solidFill>
                  </a:tcPr>
                </a:tc>
                <a:tc>
                  <a:txBody>
                    <a:bodyPr/>
                    <a:lstStyle/>
                    <a:p>
                      <a:pPr>
                        <a:defRPr sz="700">
                          <a:solidFill>
                            <a:srgbClr val="0F172A"/>
                          </a:solidFill>
                          <a:latin typeface="Arial"/>
                        </a:defRPr>
                      </a:pPr>
                      <a:r>
                        <a:t>0.9093</a:t>
                      </a:r>
                    </a:p>
                  </a:txBody>
                  <a:tcPr marL="0" marR="0" marT="0" marB="0">
                    <a:solidFill>
                      <a:srgbClr val="FFFFFF"/>
                    </a:solidFill>
                  </a:tcPr>
                </a:tc>
                <a:tc>
                  <a:txBody>
                    <a:bodyPr/>
                    <a:lstStyle/>
                    <a:p>
                      <a:pPr>
                        <a:defRPr sz="700">
                          <a:solidFill>
                            <a:srgbClr val="0F172A"/>
                          </a:solidFill>
                          <a:latin typeface="Arial"/>
                        </a:defRPr>
                      </a:pPr>
                      <a:r>
                        <a:t>0.2220</a:t>
                      </a:r>
                    </a:p>
                  </a:txBody>
                  <a:tcPr marL="0" marR="0" marT="0" marB="0">
                    <a:solidFill>
                      <a:srgbClr val="FFFFFF"/>
                    </a:solidFill>
                  </a:tcPr>
                </a:tc>
              </a:tr>
              <a:tr h="306592">
                <a:tc>
                  <a:txBody>
                    <a:bodyPr/>
                    <a:lstStyle/>
                    <a:p>
                      <a:pPr>
                        <a:defRPr sz="700">
                          <a:solidFill>
                            <a:srgbClr val="0F172A"/>
                          </a:solidFill>
                          <a:latin typeface="Arial"/>
                        </a:defRPr>
                      </a:pPr>
                      <a:r>
                        <a:t>KNNBasic</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0.5840</a:t>
                      </a:r>
                    </a:p>
                  </a:txBody>
                  <a:tcPr marL="0" marR="0" marT="0" marB="0">
                    <a:solidFill>
                      <a:srgbClr val="FFFFFF"/>
                    </a:solidFill>
                  </a:tcPr>
                </a:tc>
                <a:tc>
                  <a:txBody>
                    <a:bodyPr/>
                    <a:lstStyle/>
                    <a:p>
                      <a:pPr>
                        <a:defRPr sz="700">
                          <a:solidFill>
                            <a:srgbClr val="0F172A"/>
                          </a:solidFill>
                          <a:latin typeface="Arial"/>
                        </a:defRPr>
                      </a:pPr>
                      <a:r>
                        <a:t>0.3480</a:t>
                      </a:r>
                    </a:p>
                  </a:txBody>
                  <a:tcPr marL="0" marR="0" marT="0" marB="0">
                    <a:solidFill>
                      <a:srgbClr val="FFFFFF"/>
                    </a:solidFill>
                  </a:tcPr>
                </a:tc>
                <a:tc>
                  <a:txBody>
                    <a:bodyPr/>
                    <a:lstStyle/>
                    <a:p>
                      <a:pPr>
                        <a:defRPr sz="700">
                          <a:solidFill>
                            <a:srgbClr val="0F172A"/>
                          </a:solidFill>
                          <a:latin typeface="Arial"/>
                        </a:defRPr>
                      </a:pPr>
                      <a:r>
                        <a:t>0.3956</a:t>
                      </a:r>
                    </a:p>
                  </a:txBody>
                  <a:tcPr marL="0" marR="0" marT="0" marB="0">
                    <a:solidFill>
                      <a:srgbClr val="FFFFFF"/>
                    </a:solidFill>
                  </a:tcPr>
                </a:tc>
                <a:tc>
                  <a:txBody>
                    <a:bodyPr/>
                    <a:lstStyle/>
                    <a:p>
                      <a:pPr>
                        <a:defRPr sz="700">
                          <a:solidFill>
                            <a:srgbClr val="0F172A"/>
                          </a:solidFill>
                          <a:latin typeface="Arial"/>
                        </a:defRPr>
                      </a:pPr>
                      <a:r>
                        <a:t>0.0358</a:t>
                      </a:r>
                    </a:p>
                  </a:txBody>
                  <a:tcPr marL="0" marR="0" marT="0" marB="0">
                    <a:solidFill>
                      <a:srgbClr val="FFFFFF"/>
                    </a:solidFill>
                  </a:tcPr>
                </a:tc>
                <a:tc>
                  <a:txBody>
                    <a:bodyPr/>
                    <a:lstStyle/>
                    <a:p>
                      <a:pPr>
                        <a:defRPr sz="700">
                          <a:solidFill>
                            <a:srgbClr val="0F172A"/>
                          </a:solidFill>
                          <a:latin typeface="Arial"/>
                        </a:defRPr>
                      </a:pPr>
                      <a:r>
                        <a:t>0.0652</a:t>
                      </a:r>
                    </a:p>
                  </a:txBody>
                  <a:tcPr marL="0" marR="0" marT="0" marB="0">
                    <a:solidFill>
                      <a:srgbClr val="FFFFFF"/>
                    </a:solidFill>
                  </a:tcPr>
                </a:tc>
              </a:tr>
              <a:tr h="306592">
                <a:tc>
                  <a:txBody>
                    <a:bodyPr/>
                    <a:lstStyle/>
                    <a:p>
                      <a:pPr>
                        <a:defRPr sz="700">
                          <a:solidFill>
                            <a:srgbClr val="0F172A"/>
                          </a:solidFill>
                          <a:latin typeface="Arial"/>
                        </a:defRPr>
                      </a:pPr>
                      <a:r>
                        <a:t>KNNWithMeans</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0.6018</a:t>
                      </a:r>
                    </a:p>
                  </a:txBody>
                  <a:tcPr marL="0" marR="0" marT="0" marB="0">
                    <a:solidFill>
                      <a:srgbClr val="FFFFFF"/>
                    </a:solidFill>
                  </a:tcPr>
                </a:tc>
                <a:tc>
                  <a:txBody>
                    <a:bodyPr/>
                    <a:lstStyle/>
                    <a:p>
                      <a:pPr>
                        <a:defRPr sz="700">
                          <a:solidFill>
                            <a:srgbClr val="0F172A"/>
                          </a:solidFill>
                          <a:latin typeface="Arial"/>
                        </a:defRPr>
                      </a:pPr>
                      <a:r>
                        <a:t>0.3683</a:t>
                      </a:r>
                    </a:p>
                  </a:txBody>
                  <a:tcPr marL="0" marR="0" marT="0" marB="0">
                    <a:solidFill>
                      <a:srgbClr val="FFFFFF"/>
                    </a:solidFill>
                  </a:tcPr>
                </a:tc>
                <a:tc>
                  <a:txBody>
                    <a:bodyPr/>
                    <a:lstStyle/>
                    <a:p>
                      <a:pPr>
                        <a:defRPr sz="700">
                          <a:solidFill>
                            <a:srgbClr val="0F172A"/>
                          </a:solidFill>
                          <a:latin typeface="Arial"/>
                        </a:defRPr>
                      </a:pPr>
                      <a:r>
                        <a:t>0.3764</a:t>
                      </a:r>
                    </a:p>
                  </a:txBody>
                  <a:tcPr marL="0" marR="0" marT="0" marB="0">
                    <a:solidFill>
                      <a:srgbClr val="FFFFFF"/>
                    </a:solidFill>
                  </a:tcPr>
                </a:tc>
                <a:tc>
                  <a:txBody>
                    <a:bodyPr/>
                    <a:lstStyle/>
                    <a:p>
                      <a:pPr>
                        <a:defRPr sz="700">
                          <a:solidFill>
                            <a:srgbClr val="0F172A"/>
                          </a:solidFill>
                          <a:latin typeface="Arial"/>
                        </a:defRPr>
                      </a:pPr>
                      <a:r>
                        <a:t>0.9255</a:t>
                      </a:r>
                    </a:p>
                  </a:txBody>
                  <a:tcPr marL="0" marR="0" marT="0" marB="0">
                    <a:solidFill>
                      <a:srgbClr val="FFFFFF"/>
                    </a:solidFill>
                  </a:tcPr>
                </a:tc>
                <a:tc>
                  <a:txBody>
                    <a:bodyPr/>
                    <a:lstStyle/>
                    <a:p>
                      <a:pPr>
                        <a:defRPr sz="700">
                          <a:solidFill>
                            <a:srgbClr val="0F172A"/>
                          </a:solidFill>
                          <a:latin typeface="Arial"/>
                        </a:defRPr>
                      </a:pPr>
                      <a:r>
                        <a:t>0.2232</a:t>
                      </a:r>
                    </a:p>
                  </a:txBody>
                  <a:tcPr marL="0" marR="0" marT="0" marB="0">
                    <a:solidFill>
                      <a:srgbClr val="FFFFFF"/>
                    </a:solidFill>
                  </a:tcPr>
                </a:tc>
              </a:tr>
              <a:tr h="306592">
                <a:tc>
                  <a:txBody>
                    <a:bodyPr/>
                    <a:lstStyle/>
                    <a:p>
                      <a:pPr>
                        <a:defRPr sz="700">
                          <a:solidFill>
                            <a:srgbClr val="0F172A"/>
                          </a:solidFill>
                          <a:latin typeface="Arial"/>
                        </a:defRPr>
                      </a:pPr>
                      <a:r>
                        <a:t>KNNWithMeans</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0.5404</a:t>
                      </a:r>
                    </a:p>
                  </a:txBody>
                  <a:tcPr marL="0" marR="0" marT="0" marB="0">
                    <a:solidFill>
                      <a:srgbClr val="FFFFFF"/>
                    </a:solidFill>
                  </a:tcPr>
                </a:tc>
                <a:tc>
                  <a:txBody>
                    <a:bodyPr/>
                    <a:lstStyle/>
                    <a:p>
                      <a:pPr>
                        <a:defRPr sz="700">
                          <a:solidFill>
                            <a:srgbClr val="0F172A"/>
                          </a:solidFill>
                          <a:latin typeface="Arial"/>
                        </a:defRPr>
                      </a:pPr>
                      <a:r>
                        <a:t>0.2982</a:t>
                      </a:r>
                    </a:p>
                  </a:txBody>
                  <a:tcPr marL="0" marR="0" marT="0" marB="0">
                    <a:solidFill>
                      <a:srgbClr val="FFFFFF"/>
                    </a:solidFill>
                  </a:tcPr>
                </a:tc>
                <a:tc>
                  <a:txBody>
                    <a:bodyPr/>
                    <a:lstStyle/>
                    <a:p>
                      <a:pPr>
                        <a:defRPr sz="700">
                          <a:solidFill>
                            <a:srgbClr val="0F172A"/>
                          </a:solidFill>
                          <a:latin typeface="Arial"/>
                        </a:defRPr>
                      </a:pPr>
                      <a:r>
                        <a:t>0.3487</a:t>
                      </a:r>
                    </a:p>
                  </a:txBody>
                  <a:tcPr marL="0" marR="0" marT="0" marB="0">
                    <a:solidFill>
                      <a:srgbClr val="FFFFFF"/>
                    </a:solidFill>
                  </a:tcPr>
                </a:tc>
                <a:tc>
                  <a:txBody>
                    <a:bodyPr/>
                    <a:lstStyle/>
                    <a:p>
                      <a:pPr>
                        <a:defRPr sz="700">
                          <a:solidFill>
                            <a:srgbClr val="0F172A"/>
                          </a:solidFill>
                          <a:latin typeface="Arial"/>
                        </a:defRPr>
                      </a:pPr>
                      <a:r>
                        <a:t>0.0420</a:t>
                      </a:r>
                    </a:p>
                  </a:txBody>
                  <a:tcPr marL="0" marR="0" marT="0" marB="0">
                    <a:solidFill>
                      <a:srgbClr val="FFFFFF"/>
                    </a:solidFill>
                  </a:tcPr>
                </a:tc>
                <a:tc>
                  <a:txBody>
                    <a:bodyPr/>
                    <a:lstStyle/>
                    <a:p>
                      <a:pPr>
                        <a:defRPr sz="700">
                          <a:solidFill>
                            <a:srgbClr val="0F172A"/>
                          </a:solidFill>
                          <a:latin typeface="Arial"/>
                        </a:defRPr>
                      </a:pPr>
                      <a:r>
                        <a:t>0.0723</a:t>
                      </a:r>
                    </a:p>
                  </a:txBody>
                  <a:tcPr marL="0" marR="0" marT="0" marB="0">
                    <a:solidFill>
                      <a:srgbClr val="FFFFFF"/>
                    </a:solidFill>
                  </a:tcPr>
                </a:tc>
              </a:tr>
              <a:tr h="306592">
                <a:tc>
                  <a:txBody>
                    <a:bodyPr/>
                    <a:lstStyle/>
                    <a:p>
                      <a:pPr>
                        <a:defRPr sz="700">
                          <a:solidFill>
                            <a:srgbClr val="0F172A"/>
                          </a:solidFill>
                          <a:latin typeface="Arial"/>
                        </a:defRPr>
                      </a:pPr>
                      <a:r>
                        <a:t>KNNWithZScore</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0.6061</a:t>
                      </a:r>
                    </a:p>
                  </a:txBody>
                  <a:tcPr marL="0" marR="0" marT="0" marB="0">
                    <a:solidFill>
                      <a:srgbClr val="FFFFFF"/>
                    </a:solidFill>
                  </a:tcPr>
                </a:tc>
                <a:tc>
                  <a:txBody>
                    <a:bodyPr/>
                    <a:lstStyle/>
                    <a:p>
                      <a:pPr>
                        <a:defRPr sz="700">
                          <a:solidFill>
                            <a:srgbClr val="0F172A"/>
                          </a:solidFill>
                          <a:latin typeface="Arial"/>
                        </a:defRPr>
                      </a:pPr>
                      <a:r>
                        <a:t>0.3735</a:t>
                      </a:r>
                    </a:p>
                  </a:txBody>
                  <a:tcPr marL="0" marR="0" marT="0" marB="0">
                    <a:solidFill>
                      <a:srgbClr val="FFFFFF"/>
                    </a:solidFill>
                  </a:tcPr>
                </a:tc>
                <a:tc>
                  <a:txBody>
                    <a:bodyPr/>
                    <a:lstStyle/>
                    <a:p>
                      <a:pPr>
                        <a:defRPr sz="700">
                          <a:solidFill>
                            <a:srgbClr val="0F172A"/>
                          </a:solidFill>
                          <a:latin typeface="Arial"/>
                        </a:defRPr>
                      </a:pPr>
                      <a:r>
                        <a:t>0.3768</a:t>
                      </a:r>
                    </a:p>
                  </a:txBody>
                  <a:tcPr marL="0" marR="0" marT="0" marB="0">
                    <a:solidFill>
                      <a:srgbClr val="FFFFFF"/>
                    </a:solidFill>
                  </a:tcPr>
                </a:tc>
                <a:tc>
                  <a:txBody>
                    <a:bodyPr/>
                    <a:lstStyle/>
                    <a:p>
                      <a:pPr>
                        <a:defRPr sz="700">
                          <a:solidFill>
                            <a:srgbClr val="0F172A"/>
                          </a:solidFill>
                          <a:latin typeface="Arial"/>
                        </a:defRPr>
                      </a:pPr>
                      <a:r>
                        <a:t>1.0081</a:t>
                      </a:r>
                    </a:p>
                  </a:txBody>
                  <a:tcPr marL="0" marR="0" marT="0" marB="0">
                    <a:solidFill>
                      <a:srgbClr val="FFFFFF"/>
                    </a:solidFill>
                  </a:tcPr>
                </a:tc>
                <a:tc>
                  <a:txBody>
                    <a:bodyPr/>
                    <a:lstStyle/>
                    <a:p>
                      <a:pPr>
                        <a:defRPr sz="700">
                          <a:solidFill>
                            <a:srgbClr val="0F172A"/>
                          </a:solidFill>
                          <a:latin typeface="Arial"/>
                        </a:defRPr>
                      </a:pPr>
                      <a:r>
                        <a:t>0.2353</a:t>
                      </a:r>
                    </a:p>
                  </a:txBody>
                  <a:tcPr marL="0" marR="0" marT="0" marB="0">
                    <a:solidFill>
                      <a:srgbClr val="FFFFFF"/>
                    </a:solidFill>
                  </a:tcPr>
                </a:tc>
              </a:tr>
              <a:tr h="306608">
                <a:tc>
                  <a:txBody>
                    <a:bodyPr/>
                    <a:lstStyle/>
                    <a:p>
                      <a:pPr>
                        <a:defRPr sz="700">
                          <a:solidFill>
                            <a:srgbClr val="0F172A"/>
                          </a:solidFill>
                          <a:latin typeface="Arial"/>
                        </a:defRPr>
                      </a:pPr>
                      <a:r>
                        <a:t>KNNWithZScore</a:t>
                      </a:r>
                    </a:p>
                  </a:txBody>
                  <a:tcPr marL="0" marR="0" marT="0" marB="0">
                    <a:solidFill>
                      <a:srgbClr val="E0F2FE"/>
                    </a:solidFill>
                  </a:tcPr>
                </a:tc>
                <a:tc>
                  <a:txBody>
                    <a:bodyPr/>
                    <a:lstStyle/>
                    <a:p>
                      <a:pPr>
                        <a:defRPr sz="700">
                          <a:solidFill>
                            <a:srgbClr val="0F172A"/>
                          </a:solidFill>
                          <a:latin typeface="Arial"/>
                        </a:defRPr>
                      </a:pPr>
                      <a:r>
                        <a:t>User</a:t>
                      </a:r>
                    </a:p>
                  </a:txBody>
                  <a:tcPr marL="0" marR="0" marT="0" marB="0">
                    <a:solidFill>
                      <a:srgbClr val="E0F2FE"/>
                    </a:solidFill>
                  </a:tcPr>
                </a:tc>
                <a:tc>
                  <a:txBody>
                    <a:bodyPr/>
                    <a:lstStyle/>
                    <a:p>
                      <a:pPr>
                        <a:defRPr sz="700">
                          <a:solidFill>
                            <a:srgbClr val="0F172A"/>
                          </a:solidFill>
                          <a:latin typeface="Arial"/>
                        </a:defRPr>
                      </a:pPr>
                      <a:r>
                        <a:t>True</a:t>
                      </a:r>
                    </a:p>
                  </a:txBody>
                  <a:tcPr marL="0" marR="0" marT="0" marB="0">
                    <a:solidFill>
                      <a:srgbClr val="E0F2FE"/>
                    </a:solidFill>
                  </a:tcPr>
                </a:tc>
                <a:tc>
                  <a:txBody>
                    <a:bodyPr/>
                    <a:lstStyle/>
                    <a:p>
                      <a:pPr>
                        <a:defRPr sz="700">
                          <a:solidFill>
                            <a:srgbClr val="0F172A"/>
                          </a:solidFill>
                          <a:latin typeface="Arial"/>
                        </a:defRPr>
                      </a:pPr>
                      <a:r>
                        <a:t>0.5428</a:t>
                      </a:r>
                    </a:p>
                  </a:txBody>
                  <a:tcPr marL="0" marR="0" marT="0" marB="0">
                    <a:solidFill>
                      <a:srgbClr val="E0F2FE"/>
                    </a:solidFill>
                  </a:tcPr>
                </a:tc>
                <a:tc>
                  <a:txBody>
                    <a:bodyPr/>
                    <a:lstStyle/>
                    <a:p>
                      <a:pPr>
                        <a:defRPr sz="700">
                          <a:solidFill>
                            <a:srgbClr val="0F172A"/>
                          </a:solidFill>
                          <a:latin typeface="Arial"/>
                        </a:defRPr>
                      </a:pPr>
                      <a:r>
                        <a:t>0.3008</a:t>
                      </a:r>
                    </a:p>
                  </a:txBody>
                  <a:tcPr marL="0" marR="0" marT="0" marB="0">
                    <a:solidFill>
                      <a:srgbClr val="E0F2FE"/>
                    </a:solidFill>
                  </a:tcPr>
                </a:tc>
                <a:tc>
                  <a:txBody>
                    <a:bodyPr/>
                    <a:lstStyle/>
                    <a:p>
                      <a:pPr>
                        <a:defRPr sz="700">
                          <a:solidFill>
                            <a:srgbClr val="0F172A"/>
                          </a:solidFill>
                          <a:latin typeface="Arial"/>
                        </a:defRPr>
                      </a:pPr>
                      <a:r>
                        <a:t>0.3451</a:t>
                      </a:r>
                    </a:p>
                  </a:txBody>
                  <a:tcPr marL="0" marR="0" marT="0" marB="0">
                    <a:solidFill>
                      <a:srgbClr val="E0F2FE"/>
                    </a:solidFill>
                  </a:tcPr>
                </a:tc>
                <a:tc>
                  <a:txBody>
                    <a:bodyPr/>
                    <a:lstStyle/>
                    <a:p>
                      <a:pPr>
                        <a:defRPr sz="700">
                          <a:solidFill>
                            <a:srgbClr val="0F172A"/>
                          </a:solidFill>
                          <a:latin typeface="Arial"/>
                        </a:defRPr>
                      </a:pPr>
                      <a:r>
                        <a:t>0.0450</a:t>
                      </a:r>
                    </a:p>
                  </a:txBody>
                  <a:tcPr marL="0" marR="0" marT="0" marB="0">
                    <a:solidFill>
                      <a:srgbClr val="E0F2FE"/>
                    </a:solidFill>
                  </a:tcPr>
                </a:tc>
                <a:tc>
                  <a:txBody>
                    <a:bodyPr/>
                    <a:lstStyle/>
                    <a:p>
                      <a:pPr>
                        <a:defRPr sz="700">
                          <a:solidFill>
                            <a:srgbClr val="0F172A"/>
                          </a:solidFill>
                          <a:latin typeface="Arial"/>
                        </a:defRPr>
                      </a:pPr>
                      <a:r>
                        <a:t>0.0756</a:t>
                      </a:r>
                    </a:p>
                  </a:txBody>
                  <a:tcPr marL="0" marR="0" marT="0" marB="0">
                    <a:solidFill>
                      <a:srgbClr val="E0F2F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COMPARATIVE CASE STUDY</a:t>
            </a:r>
          </a:p>
          <a:p>
            <a:pPr>
              <a:defRPr sz="2600" b="1">
                <a:solidFill>
                  <a:srgbClr val="0F172A"/>
                </a:solidFill>
                <a:latin typeface="Arial"/>
              </a:defRPr>
            </a:pPr>
            <a:r>
              <a:t>Results: SVD vs Cluster Based Recommendations</a:t>
            </a:r>
          </a:p>
        </p:txBody>
      </p:sp>
      <p:sp>
        <p:nvSpPr>
          <p:cNvPr id="4" name="TextBox 3"/>
          <p:cNvSpPr txBox="1"/>
          <p:nvPr/>
        </p:nvSpPr>
        <p:spPr>
          <a:xfrm>
            <a:off x="731520" y="1188720"/>
            <a:ext cx="5120640" cy="365760"/>
          </a:xfrm>
          <a:prstGeom prst="rect">
            <a:avLst/>
          </a:prstGeom>
          <a:noFill/>
        </p:spPr>
        <p:txBody>
          <a:bodyPr wrap="none">
            <a:spAutoFit/>
          </a:bodyPr>
          <a:lstStyle/>
          <a:p>
            <a:pPr>
              <a:defRPr sz="1400" b="1">
                <a:solidFill>
                  <a:srgbClr val="0F172A"/>
                </a:solidFill>
                <a:latin typeface="Arial"/>
              </a:defRPr>
            </a:pPr>
            <a:r>
              <a:t>Optimized SVD Model</a:t>
            </a:r>
          </a:p>
        </p:txBody>
      </p:sp>
      <p:sp>
        <p:nvSpPr>
          <p:cNvPr id="5" name="TextBox 4"/>
          <p:cNvSpPr txBox="1"/>
          <p:nvPr/>
        </p:nvSpPr>
        <p:spPr>
          <a:xfrm>
            <a:off x="731520" y="1508760"/>
            <a:ext cx="5120640" cy="320040"/>
          </a:xfrm>
          <a:prstGeom prst="rect">
            <a:avLst/>
          </a:prstGeom>
          <a:noFill/>
        </p:spPr>
        <p:txBody>
          <a:bodyPr wrap="none">
            <a:spAutoFit/>
          </a:bodyPr>
          <a:lstStyle/>
          <a:p>
            <a:pPr>
              <a:defRPr sz="1050">
                <a:solidFill>
                  <a:srgbClr val="475569"/>
                </a:solidFill>
                <a:latin typeface="Arial"/>
              </a:defRPr>
            </a:pPr>
            <a:r>
              <a:t>Top 10 recommended recipes for user 173579:</a:t>
            </a:r>
          </a:p>
        </p:txBody>
      </p:sp>
      <p:graphicFrame>
        <p:nvGraphicFramePr>
          <p:cNvPr id="6" name="Table 5"/>
          <p:cNvGraphicFramePr>
            <a:graphicFrameLocks noGrp="1"/>
          </p:cNvGraphicFramePr>
          <p:nvPr/>
        </p:nvGraphicFramePr>
        <p:xfrm>
          <a:off x="731520" y="1874519"/>
          <a:ext cx="5120640" cy="4297680"/>
        </p:xfrm>
        <a:graphic>
          <a:graphicData uri="http://schemas.openxmlformats.org/drawingml/2006/table">
            <a:tbl>
              <a:tblPr firstRow="1" bandRow="1">
                <a:tableStyleId>{5C22544A-7EE6-4342-B048-85BDC9FD1C3A}</a:tableStyleId>
              </a:tblPr>
              <a:tblGrid>
                <a:gridCol w="365760"/>
                <a:gridCol w="2926080"/>
                <a:gridCol w="1097280"/>
                <a:gridCol w="731520"/>
              </a:tblGrid>
              <a:tr h="390698">
                <a:tc>
                  <a:txBody>
                    <a:bodyPr/>
                    <a:lstStyle/>
                    <a:p>
                      <a:pPr>
                        <a:defRPr sz="850" b="1">
                          <a:solidFill>
                            <a:srgbClr val="0F172A"/>
                          </a:solidFill>
                          <a:latin typeface="Arial"/>
                        </a:defRPr>
                      </a:pPr>
                    </a:p>
                  </a:txBody>
                  <a:tcPr marL="36576" marR="36576">
                    <a:solidFill>
                      <a:srgbClr val="F8FAFC"/>
                    </a:solidFill>
                  </a:tcPr>
                </a:tc>
                <a:tc>
                  <a:txBody>
                    <a:bodyPr/>
                    <a:lstStyle/>
                    <a:p>
                      <a:pPr>
                        <a:defRPr sz="850" b="1">
                          <a:solidFill>
                            <a:srgbClr val="0F172A"/>
                          </a:solidFill>
                          <a:latin typeface="Arial"/>
                        </a:defRPr>
                      </a:pPr>
                      <a:r>
                        <a:t>Name</a:t>
                      </a:r>
                    </a:p>
                  </a:txBody>
                  <a:tcPr marL="36576" marR="36576">
                    <a:solidFill>
                      <a:srgbClr val="F8FAFC"/>
                    </a:solidFill>
                  </a:tcPr>
                </a:tc>
                <a:tc>
                  <a:txBody>
                    <a:bodyPr/>
                    <a:lstStyle/>
                    <a:p>
                      <a:pPr>
                        <a:defRPr sz="850" b="1">
                          <a:solidFill>
                            <a:srgbClr val="0F172A"/>
                          </a:solidFill>
                          <a:latin typeface="Arial"/>
                        </a:defRPr>
                      </a:pPr>
                      <a:r>
                        <a:t>Type</a:t>
                      </a:r>
                    </a:p>
                  </a:txBody>
                  <a:tcPr marL="36576" marR="36576">
                    <a:solidFill>
                      <a:srgbClr val="F8FAFC"/>
                    </a:solidFill>
                  </a:tcPr>
                </a:tc>
                <a:tc>
                  <a:txBody>
                    <a:bodyPr/>
                    <a:lstStyle/>
                    <a:p>
                      <a:pPr>
                        <a:defRPr sz="850" b="1">
                          <a:solidFill>
                            <a:srgbClr val="0F172A"/>
                          </a:solidFill>
                          <a:latin typeface="Arial"/>
                        </a:defRPr>
                      </a:pPr>
                      <a:r>
                        <a:t>Ratings</a:t>
                      </a:r>
                    </a:p>
                  </a:txBody>
                  <a:tcPr marL="36576" marR="36576">
                    <a:solidFill>
                      <a:srgbClr val="F8FAFC"/>
                    </a:solidFill>
                  </a:tcPr>
                </a:tc>
              </a:tr>
              <a:tr h="390698">
                <a:tc>
                  <a:txBody>
                    <a:bodyPr/>
                    <a:lstStyle/>
                    <a:p>
                      <a:pPr>
                        <a:defRPr sz="800">
                          <a:solidFill>
                            <a:srgbClr val="0F172A"/>
                          </a:solidFill>
                          <a:latin typeface="Arial"/>
                        </a:defRPr>
                      </a:pPr>
                      <a:r>
                        <a:t>0</a:t>
                      </a:r>
                    </a:p>
                  </a:txBody>
                  <a:tcPr marL="36576" marR="36576">
                    <a:solidFill>
                      <a:srgbClr val="FFFFFF"/>
                    </a:solidFill>
                  </a:tcPr>
                </a:tc>
                <a:tc>
                  <a:txBody>
                    <a:bodyPr/>
                    <a:lstStyle/>
                    <a:p>
                      <a:pPr>
                        <a:defRPr sz="800">
                          <a:solidFill>
                            <a:srgbClr val="0F172A"/>
                          </a:solidFill>
                          <a:latin typeface="Arial"/>
                        </a:defRPr>
                      </a:pPr>
                      <a:r>
                        <a:t>50 whole wheat bread</a:t>
                      </a:r>
                    </a:p>
                  </a:txBody>
                  <a:tcPr marL="36576" marR="36576">
                    <a:solidFill>
                      <a:srgbClr val="FFFFFF"/>
                    </a:solidFill>
                  </a:tcPr>
                </a:tc>
                <a:tc>
                  <a:txBody>
                    <a:bodyPr/>
                    <a:lstStyle/>
                    <a:p>
                      <a:pPr>
                        <a:defRPr sz="800">
                          <a:solidFill>
                            <a:srgbClr val="0F172A"/>
                          </a:solidFill>
                          <a:latin typeface="Arial"/>
                        </a:defRPr>
                      </a:pPr>
                      <a:r>
                        <a:t>breads</a:t>
                      </a:r>
                    </a:p>
                  </a:txBody>
                  <a:tcPr marL="36576" marR="36576">
                    <a:solidFill>
                      <a:srgbClr val="FFFFFF"/>
                    </a:solidFill>
                  </a:tcPr>
                </a:tc>
                <a:tc>
                  <a:txBody>
                    <a:bodyPr/>
                    <a:lstStyle/>
                    <a:p>
                      <a:pPr>
                        <a:defRPr sz="800">
                          <a:solidFill>
                            <a:srgbClr val="0F172A"/>
                          </a:solidFill>
                          <a:latin typeface="Arial"/>
                        </a:defRPr>
                      </a:pPr>
                      <a:r>
                        <a:t>4.94</a:t>
                      </a:r>
                    </a:p>
                  </a:txBody>
                  <a:tcPr marL="36576" marR="36576">
                    <a:solidFill>
                      <a:srgbClr val="FFFFFF"/>
                    </a:solidFill>
                  </a:tcPr>
                </a:tc>
              </a:tr>
              <a:tr h="390698">
                <a:tc>
                  <a:txBody>
                    <a:bodyPr/>
                    <a:lstStyle/>
                    <a:p>
                      <a:pPr>
                        <a:defRPr sz="800">
                          <a:solidFill>
                            <a:srgbClr val="0F172A"/>
                          </a:solidFill>
                          <a:latin typeface="Arial"/>
                        </a:defRPr>
                      </a:pPr>
                      <a:r>
                        <a:t>1</a:t>
                      </a:r>
                    </a:p>
                  </a:txBody>
                  <a:tcPr marL="36576" marR="36576">
                    <a:solidFill>
                      <a:srgbClr val="FFFFFF"/>
                    </a:solidFill>
                  </a:tcPr>
                </a:tc>
                <a:tc>
                  <a:txBody>
                    <a:bodyPr/>
                    <a:lstStyle/>
                    <a:p>
                      <a:pPr>
                        <a:defRPr sz="800">
                          <a:solidFill>
                            <a:srgbClr val="0F172A"/>
                          </a:solidFill>
                          <a:latin typeface="Arial"/>
                        </a:defRPr>
                      </a:pPr>
                      <a:r>
                        <a:t>baby pacifiers shower favors</a:t>
                      </a:r>
                    </a:p>
                  </a:txBody>
                  <a:tcPr marL="36576" marR="36576">
                    <a:solidFill>
                      <a:srgbClr val="FFFFFF"/>
                    </a:solidFill>
                  </a:tcPr>
                </a:tc>
                <a:tc>
                  <a:txBody>
                    <a:bodyPr/>
                    <a:lstStyle/>
                    <a:p>
                      <a:pPr>
                        <a:defRPr sz="800">
                          <a:solidFill>
                            <a:srgbClr val="0F172A"/>
                          </a:solidFill>
                          <a:latin typeface="Arial"/>
                        </a:defRPr>
                      </a:pPr>
                      <a:r>
                        <a:t>None</a:t>
                      </a:r>
                    </a:p>
                  </a:txBody>
                  <a:tcPr marL="36576" marR="36576">
                    <a:solidFill>
                      <a:srgbClr val="FFFFFF"/>
                    </a:solidFill>
                  </a:tcPr>
                </a:tc>
                <a:tc>
                  <a:txBody>
                    <a:bodyPr/>
                    <a:lstStyle/>
                    <a:p>
                      <a:pPr>
                        <a:defRPr sz="800">
                          <a:solidFill>
                            <a:srgbClr val="0F172A"/>
                          </a:solidFill>
                          <a:latin typeface="Arial"/>
                        </a:defRPr>
                      </a:pPr>
                      <a:r>
                        <a:t>4.94</a:t>
                      </a:r>
                    </a:p>
                  </a:txBody>
                  <a:tcPr marL="36576" marR="36576">
                    <a:solidFill>
                      <a:srgbClr val="FFFFFF"/>
                    </a:solidFill>
                  </a:tcPr>
                </a:tc>
              </a:tr>
              <a:tr h="390698">
                <a:tc>
                  <a:txBody>
                    <a:bodyPr/>
                    <a:lstStyle/>
                    <a:p>
                      <a:pPr>
                        <a:defRPr sz="800">
                          <a:solidFill>
                            <a:srgbClr val="0F172A"/>
                          </a:solidFill>
                          <a:latin typeface="Arial"/>
                        </a:defRPr>
                      </a:pPr>
                      <a:r>
                        <a:t>2</a:t>
                      </a:r>
                    </a:p>
                  </a:txBody>
                  <a:tcPr marL="36576" marR="36576">
                    <a:solidFill>
                      <a:srgbClr val="FFFFFF"/>
                    </a:solidFill>
                  </a:tcPr>
                </a:tc>
                <a:tc>
                  <a:txBody>
                    <a:bodyPr/>
                    <a:lstStyle/>
                    <a:p>
                      <a:pPr>
                        <a:defRPr sz="800">
                          <a:solidFill>
                            <a:srgbClr val="0F172A"/>
                          </a:solidFill>
                          <a:latin typeface="Arial"/>
                        </a:defRPr>
                      </a:pPr>
                      <a:r>
                        <a:t>grilled balsamic asparagus</a:t>
                      </a:r>
                    </a:p>
                  </a:txBody>
                  <a:tcPr marL="36576" marR="36576">
                    <a:solidFill>
                      <a:srgbClr val="FFFFFF"/>
                    </a:solidFill>
                  </a:tcPr>
                </a:tc>
                <a:tc>
                  <a:txBody>
                    <a:bodyPr/>
                    <a:lstStyle/>
                    <a:p>
                      <a:pPr>
                        <a:defRPr sz="800">
                          <a:solidFill>
                            <a:srgbClr val="0F172A"/>
                          </a:solidFill>
                          <a:latin typeface="Arial"/>
                        </a:defRPr>
                      </a:pPr>
                      <a:r>
                        <a:t>side dishes</a:t>
                      </a:r>
                    </a:p>
                  </a:txBody>
                  <a:tcPr marL="36576" marR="36576">
                    <a:solidFill>
                      <a:srgbClr val="FFFFFF"/>
                    </a:solidFill>
                  </a:tcPr>
                </a:tc>
                <a:tc>
                  <a:txBody>
                    <a:bodyPr/>
                    <a:lstStyle/>
                    <a:p>
                      <a:pPr>
                        <a:defRPr sz="800">
                          <a:solidFill>
                            <a:srgbClr val="0F172A"/>
                          </a:solidFill>
                          <a:latin typeface="Arial"/>
                        </a:defRPr>
                      </a:pPr>
                      <a:r>
                        <a:t>4.94</a:t>
                      </a:r>
                    </a:p>
                  </a:txBody>
                  <a:tcPr marL="36576" marR="36576">
                    <a:solidFill>
                      <a:srgbClr val="FFFFFF"/>
                    </a:solidFill>
                  </a:tcPr>
                </a:tc>
              </a:tr>
              <a:tr h="390698">
                <a:tc>
                  <a:txBody>
                    <a:bodyPr/>
                    <a:lstStyle/>
                    <a:p>
                      <a:pPr>
                        <a:defRPr sz="800">
                          <a:solidFill>
                            <a:srgbClr val="0F172A"/>
                          </a:solidFill>
                          <a:latin typeface="Arial"/>
                        </a:defRPr>
                      </a:pPr>
                      <a:r>
                        <a:t>3</a:t>
                      </a:r>
                    </a:p>
                  </a:txBody>
                  <a:tcPr marL="36576" marR="36576">
                    <a:solidFill>
                      <a:srgbClr val="FFFFFF"/>
                    </a:solidFill>
                  </a:tcPr>
                </a:tc>
                <a:tc>
                  <a:txBody>
                    <a:bodyPr/>
                    <a:lstStyle/>
                    <a:p>
                      <a:pPr>
                        <a:defRPr sz="800">
                          <a:solidFill>
                            <a:srgbClr val="0F172A"/>
                          </a:solidFill>
                          <a:latin typeface="Arial"/>
                        </a:defRPr>
                      </a:pPr>
                      <a:r>
                        <a:t>grilled pork chops marinade</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c>
                  <a:txBody>
                    <a:bodyPr/>
                    <a:lstStyle/>
                    <a:p>
                      <a:pPr>
                        <a:defRPr sz="800">
                          <a:solidFill>
                            <a:srgbClr val="0F172A"/>
                          </a:solidFill>
                          <a:latin typeface="Arial"/>
                        </a:defRPr>
                      </a:pPr>
                      <a:r>
                        <a:t>4.92</a:t>
                      </a:r>
                    </a:p>
                  </a:txBody>
                  <a:tcPr marL="36576" marR="36576">
                    <a:solidFill>
                      <a:srgbClr val="FFFFFF"/>
                    </a:solidFill>
                  </a:tcPr>
                </a:tc>
              </a:tr>
              <a:tr h="390698">
                <a:tc>
                  <a:txBody>
                    <a:bodyPr/>
                    <a:lstStyle/>
                    <a:p>
                      <a:pPr>
                        <a:defRPr sz="800">
                          <a:solidFill>
                            <a:srgbClr val="0F172A"/>
                          </a:solidFill>
                          <a:latin typeface="Arial"/>
                        </a:defRPr>
                      </a:pPr>
                      <a:r>
                        <a:t>4</a:t>
                      </a:r>
                    </a:p>
                  </a:txBody>
                  <a:tcPr marL="36576" marR="36576">
                    <a:solidFill>
                      <a:srgbClr val="FFFFFF"/>
                    </a:solidFill>
                  </a:tcPr>
                </a:tc>
                <a:tc>
                  <a:txBody>
                    <a:bodyPr/>
                    <a:lstStyle/>
                    <a:p>
                      <a:pPr>
                        <a:defRPr sz="800">
                          <a:solidFill>
                            <a:srgbClr val="0F172A"/>
                          </a:solidFill>
                          <a:latin typeface="Arial"/>
                        </a:defRPr>
                      </a:pPr>
                      <a:r>
                        <a:t>key west key lime cake</a:t>
                      </a:r>
                    </a:p>
                  </a:txBody>
                  <a:tcPr marL="36576" marR="36576">
                    <a:solidFill>
                      <a:srgbClr val="FFFFFF"/>
                    </a:solidFill>
                  </a:tcPr>
                </a:tc>
                <a:tc>
                  <a:txBody>
                    <a:bodyPr/>
                    <a:lstStyle/>
                    <a:p>
                      <a:pPr>
                        <a:defRPr sz="800">
                          <a:solidFill>
                            <a:srgbClr val="0F172A"/>
                          </a:solidFill>
                          <a:latin typeface="Arial"/>
                        </a:defRPr>
                      </a:pPr>
                      <a:r>
                        <a:t>desserts</a:t>
                      </a:r>
                    </a:p>
                  </a:txBody>
                  <a:tcPr marL="36576" marR="36576">
                    <a:solidFill>
                      <a:srgbClr val="FFFFFF"/>
                    </a:solidFill>
                  </a:tcPr>
                </a:tc>
                <a:tc>
                  <a:txBody>
                    <a:bodyPr/>
                    <a:lstStyle/>
                    <a:p>
                      <a:pPr>
                        <a:defRPr sz="800">
                          <a:solidFill>
                            <a:srgbClr val="0F172A"/>
                          </a:solidFill>
                          <a:latin typeface="Arial"/>
                        </a:defRPr>
                      </a:pPr>
                      <a:r>
                        <a:t>4.91</a:t>
                      </a:r>
                    </a:p>
                  </a:txBody>
                  <a:tcPr marL="36576" marR="36576">
                    <a:solidFill>
                      <a:srgbClr val="FFFFFF"/>
                    </a:solidFill>
                  </a:tcPr>
                </a:tc>
              </a:tr>
              <a:tr h="390698">
                <a:tc>
                  <a:txBody>
                    <a:bodyPr/>
                    <a:lstStyle/>
                    <a:p>
                      <a:pPr>
                        <a:defRPr sz="800">
                          <a:solidFill>
                            <a:srgbClr val="0F172A"/>
                          </a:solidFill>
                          <a:latin typeface="Arial"/>
                        </a:defRPr>
                      </a:pPr>
                      <a:r>
                        <a:t>5</a:t>
                      </a:r>
                    </a:p>
                  </a:txBody>
                  <a:tcPr marL="36576" marR="36576">
                    <a:solidFill>
                      <a:srgbClr val="FFFFFF"/>
                    </a:solidFill>
                  </a:tcPr>
                </a:tc>
                <a:tc>
                  <a:txBody>
                    <a:bodyPr/>
                    <a:lstStyle/>
                    <a:p>
                      <a:pPr>
                        <a:defRPr sz="800">
                          <a:solidFill>
                            <a:srgbClr val="0F172A"/>
                          </a:solidFill>
                          <a:latin typeface="Arial"/>
                        </a:defRPr>
                      </a:pPr>
                      <a:r>
                        <a:t>kittencal s strawberry shortcake</a:t>
                      </a:r>
                    </a:p>
                  </a:txBody>
                  <a:tcPr marL="36576" marR="36576">
                    <a:solidFill>
                      <a:srgbClr val="FFFFFF"/>
                    </a:solidFill>
                  </a:tcPr>
                </a:tc>
                <a:tc>
                  <a:txBody>
                    <a:bodyPr/>
                    <a:lstStyle/>
                    <a:p>
                      <a:pPr>
                        <a:defRPr sz="800">
                          <a:solidFill>
                            <a:srgbClr val="0F172A"/>
                          </a:solidFill>
                          <a:latin typeface="Arial"/>
                        </a:defRPr>
                      </a:pPr>
                      <a:r>
                        <a:t>desserts</a:t>
                      </a:r>
                    </a:p>
                  </a:txBody>
                  <a:tcPr marL="36576" marR="36576">
                    <a:solidFill>
                      <a:srgbClr val="FFFFFF"/>
                    </a:solidFill>
                  </a:tcPr>
                </a:tc>
                <a:tc>
                  <a:txBody>
                    <a:bodyPr/>
                    <a:lstStyle/>
                    <a:p>
                      <a:pPr>
                        <a:defRPr sz="800">
                          <a:solidFill>
                            <a:srgbClr val="0F172A"/>
                          </a:solidFill>
                          <a:latin typeface="Arial"/>
                        </a:defRPr>
                      </a:pPr>
                      <a:r>
                        <a:t>4.91</a:t>
                      </a:r>
                    </a:p>
                  </a:txBody>
                  <a:tcPr marL="36576" marR="36576">
                    <a:solidFill>
                      <a:srgbClr val="FFFFFF"/>
                    </a:solidFill>
                  </a:tcPr>
                </a:tc>
              </a:tr>
              <a:tr h="390698">
                <a:tc>
                  <a:txBody>
                    <a:bodyPr/>
                    <a:lstStyle/>
                    <a:p>
                      <a:pPr>
                        <a:defRPr sz="800">
                          <a:solidFill>
                            <a:srgbClr val="0F172A"/>
                          </a:solidFill>
                          <a:latin typeface="Arial"/>
                        </a:defRPr>
                      </a:pPr>
                      <a:r>
                        <a:t>6</a:t>
                      </a:r>
                    </a:p>
                  </a:txBody>
                  <a:tcPr marL="36576" marR="36576">
                    <a:solidFill>
                      <a:srgbClr val="FFFFFF"/>
                    </a:solidFill>
                  </a:tcPr>
                </a:tc>
                <a:tc>
                  <a:txBody>
                    <a:bodyPr/>
                    <a:lstStyle/>
                    <a:p>
                      <a:pPr>
                        <a:defRPr sz="800">
                          <a:solidFill>
                            <a:srgbClr val="0F172A"/>
                          </a:solidFill>
                          <a:latin typeface="Arial"/>
                        </a:defRPr>
                      </a:pPr>
                      <a:r>
                        <a:t>melt in your mouth pumpkin bread</a:t>
                      </a:r>
                    </a:p>
                  </a:txBody>
                  <a:tcPr marL="36576" marR="36576">
                    <a:solidFill>
                      <a:srgbClr val="FFFFFF"/>
                    </a:solidFill>
                  </a:tcPr>
                </a:tc>
                <a:tc>
                  <a:txBody>
                    <a:bodyPr/>
                    <a:lstStyle/>
                    <a:p>
                      <a:pPr>
                        <a:defRPr sz="800">
                          <a:solidFill>
                            <a:srgbClr val="0F172A"/>
                          </a:solidFill>
                          <a:latin typeface="Arial"/>
                        </a:defRPr>
                      </a:pPr>
                      <a:r>
                        <a:t>lunch</a:t>
                      </a:r>
                    </a:p>
                  </a:txBody>
                  <a:tcPr marL="36576" marR="36576">
                    <a:solidFill>
                      <a:srgbClr val="FFFFFF"/>
                    </a:solidFill>
                  </a:tcPr>
                </a:tc>
                <a:tc>
                  <a:txBody>
                    <a:bodyPr/>
                    <a:lstStyle/>
                    <a:p>
                      <a:pPr>
                        <a:defRPr sz="800">
                          <a:solidFill>
                            <a:srgbClr val="0F172A"/>
                          </a:solidFill>
                          <a:latin typeface="Arial"/>
                        </a:defRPr>
                      </a:pPr>
                      <a:r>
                        <a:t>4.91</a:t>
                      </a:r>
                    </a:p>
                  </a:txBody>
                  <a:tcPr marL="36576" marR="36576">
                    <a:solidFill>
                      <a:srgbClr val="FFFFFF"/>
                    </a:solidFill>
                  </a:tcPr>
                </a:tc>
              </a:tr>
              <a:tr h="390698">
                <a:tc>
                  <a:txBody>
                    <a:bodyPr/>
                    <a:lstStyle/>
                    <a:p>
                      <a:pPr>
                        <a:defRPr sz="800">
                          <a:solidFill>
                            <a:srgbClr val="0F172A"/>
                          </a:solidFill>
                          <a:latin typeface="Arial"/>
                        </a:defRPr>
                      </a:pPr>
                      <a:r>
                        <a:t>7</a:t>
                      </a:r>
                    </a:p>
                  </a:txBody>
                  <a:tcPr marL="36576" marR="36576">
                    <a:solidFill>
                      <a:srgbClr val="FFFFFF"/>
                    </a:solidFill>
                  </a:tcPr>
                </a:tc>
                <a:tc>
                  <a:txBody>
                    <a:bodyPr/>
                    <a:lstStyle/>
                    <a:p>
                      <a:pPr>
                        <a:defRPr sz="800">
                          <a:solidFill>
                            <a:srgbClr val="0F172A"/>
                          </a:solidFill>
                          <a:latin typeface="Arial"/>
                        </a:defRPr>
                      </a:pPr>
                      <a:r>
                        <a:t>sticky soy wings</a:t>
                      </a:r>
                    </a:p>
                  </a:txBody>
                  <a:tcPr marL="36576" marR="36576">
                    <a:solidFill>
                      <a:srgbClr val="FFFFFF"/>
                    </a:solidFill>
                  </a:tcPr>
                </a:tc>
                <a:tc>
                  <a:txBody>
                    <a:bodyPr/>
                    <a:lstStyle/>
                    <a:p>
                      <a:pPr>
                        <a:defRPr sz="800">
                          <a:solidFill>
                            <a:srgbClr val="0F172A"/>
                          </a:solidFill>
                          <a:latin typeface="Arial"/>
                        </a:defRPr>
                      </a:pPr>
                      <a:r>
                        <a:t>appetizers</a:t>
                      </a:r>
                    </a:p>
                  </a:txBody>
                  <a:tcPr marL="36576" marR="36576">
                    <a:solidFill>
                      <a:srgbClr val="FFFFFF"/>
                    </a:solidFill>
                  </a:tcPr>
                </a:tc>
                <a:tc>
                  <a:txBody>
                    <a:bodyPr/>
                    <a:lstStyle/>
                    <a:p>
                      <a:pPr>
                        <a:defRPr sz="800">
                          <a:solidFill>
                            <a:srgbClr val="0F172A"/>
                          </a:solidFill>
                          <a:latin typeface="Arial"/>
                        </a:defRPr>
                      </a:pPr>
                      <a:r>
                        <a:t>4.89</a:t>
                      </a:r>
                    </a:p>
                  </a:txBody>
                  <a:tcPr marL="36576" marR="36576">
                    <a:solidFill>
                      <a:srgbClr val="FFFFFF"/>
                    </a:solidFill>
                  </a:tcPr>
                </a:tc>
              </a:tr>
              <a:tr h="390698">
                <a:tc>
                  <a:txBody>
                    <a:bodyPr/>
                    <a:lstStyle/>
                    <a:p>
                      <a:pPr>
                        <a:defRPr sz="800">
                          <a:solidFill>
                            <a:srgbClr val="0F172A"/>
                          </a:solidFill>
                          <a:latin typeface="Arial"/>
                        </a:defRPr>
                      </a:pPr>
                      <a:r>
                        <a:t>8</a:t>
                      </a:r>
                    </a:p>
                  </a:txBody>
                  <a:tcPr marL="36576" marR="36576">
                    <a:solidFill>
                      <a:srgbClr val="FFFFFF"/>
                    </a:solidFill>
                  </a:tcPr>
                </a:tc>
                <a:tc>
                  <a:txBody>
                    <a:bodyPr/>
                    <a:lstStyle/>
                    <a:p>
                      <a:pPr>
                        <a:defRPr sz="800">
                          <a:solidFill>
                            <a:srgbClr val="0F172A"/>
                          </a:solidFill>
                          <a:latin typeface="Arial"/>
                        </a:defRPr>
                      </a:pPr>
                      <a:r>
                        <a:t>stove top mac n cheese by alton brown</a:t>
                      </a:r>
                    </a:p>
                  </a:txBody>
                  <a:tcPr marL="36576" marR="36576">
                    <a:solidFill>
                      <a:srgbClr val="FFFFFF"/>
                    </a:solidFill>
                  </a:tcPr>
                </a:tc>
                <a:tc>
                  <a:txBody>
                    <a:bodyPr/>
                    <a:lstStyle/>
                    <a:p>
                      <a:pPr>
                        <a:defRPr sz="800">
                          <a:solidFill>
                            <a:srgbClr val="0F172A"/>
                          </a:solidFill>
                          <a:latin typeface="Arial"/>
                        </a:defRPr>
                      </a:pPr>
                      <a:r>
                        <a:t>side dishes</a:t>
                      </a:r>
                    </a:p>
                  </a:txBody>
                  <a:tcPr marL="36576" marR="36576">
                    <a:solidFill>
                      <a:srgbClr val="FFFFFF"/>
                    </a:solidFill>
                  </a:tcPr>
                </a:tc>
                <a:tc>
                  <a:txBody>
                    <a:bodyPr/>
                    <a:lstStyle/>
                    <a:p>
                      <a:pPr>
                        <a:defRPr sz="800">
                          <a:solidFill>
                            <a:srgbClr val="0F172A"/>
                          </a:solidFill>
                          <a:latin typeface="Arial"/>
                        </a:defRPr>
                      </a:pPr>
                      <a:r>
                        <a:t>4.89</a:t>
                      </a:r>
                    </a:p>
                  </a:txBody>
                  <a:tcPr marL="36576" marR="36576">
                    <a:solidFill>
                      <a:srgbClr val="FFFFFF"/>
                    </a:solidFill>
                  </a:tcPr>
                </a:tc>
              </a:tr>
              <a:tr h="390700">
                <a:tc>
                  <a:txBody>
                    <a:bodyPr/>
                    <a:lstStyle/>
                    <a:p>
                      <a:pPr>
                        <a:defRPr sz="800">
                          <a:solidFill>
                            <a:srgbClr val="0F172A"/>
                          </a:solidFill>
                          <a:latin typeface="Arial"/>
                        </a:defRPr>
                      </a:pPr>
                      <a:r>
                        <a:t>9</a:t>
                      </a:r>
                    </a:p>
                  </a:txBody>
                  <a:tcPr marL="36576" marR="36576">
                    <a:solidFill>
                      <a:srgbClr val="FFFFFF"/>
                    </a:solidFill>
                  </a:tcPr>
                </a:tc>
                <a:tc>
                  <a:txBody>
                    <a:bodyPr/>
                    <a:lstStyle/>
                    <a:p>
                      <a:pPr>
                        <a:defRPr sz="800">
                          <a:solidFill>
                            <a:srgbClr val="0F172A"/>
                          </a:solidFill>
                          <a:latin typeface="Arial"/>
                        </a:defRPr>
                      </a:pPr>
                      <a:r>
                        <a:t>the ultimate lemon meringue pie</a:t>
                      </a:r>
                    </a:p>
                  </a:txBody>
                  <a:tcPr marL="36576" marR="36576">
                    <a:solidFill>
                      <a:srgbClr val="FFFFFF"/>
                    </a:solidFill>
                  </a:tcPr>
                </a:tc>
                <a:tc>
                  <a:txBody>
                    <a:bodyPr/>
                    <a:lstStyle/>
                    <a:p>
                      <a:pPr>
                        <a:defRPr sz="800">
                          <a:solidFill>
                            <a:srgbClr val="0F172A"/>
                          </a:solidFill>
                          <a:latin typeface="Arial"/>
                        </a:defRPr>
                      </a:pPr>
                      <a:r>
                        <a:t>desserts</a:t>
                      </a:r>
                    </a:p>
                  </a:txBody>
                  <a:tcPr marL="36576" marR="36576">
                    <a:solidFill>
                      <a:srgbClr val="FFFFFF"/>
                    </a:solidFill>
                  </a:tcPr>
                </a:tc>
                <a:tc>
                  <a:txBody>
                    <a:bodyPr/>
                    <a:lstStyle/>
                    <a:p>
                      <a:pPr>
                        <a:defRPr sz="800">
                          <a:solidFill>
                            <a:srgbClr val="0F172A"/>
                          </a:solidFill>
                          <a:latin typeface="Arial"/>
                        </a:defRPr>
                      </a:pPr>
                      <a:r>
                        <a:t>4.89</a:t>
                      </a:r>
                    </a:p>
                  </a:txBody>
                  <a:tcPr marL="36576" marR="36576">
                    <a:solidFill>
                      <a:srgbClr val="FFFFFF"/>
                    </a:solidFill>
                  </a:tcPr>
                </a:tc>
              </a:tr>
            </a:tbl>
          </a:graphicData>
        </a:graphic>
      </p:graphicFrame>
      <p:sp>
        <p:nvSpPr>
          <p:cNvPr id="7" name="TextBox 6"/>
          <p:cNvSpPr txBox="1"/>
          <p:nvPr/>
        </p:nvSpPr>
        <p:spPr>
          <a:xfrm>
            <a:off x="6217920" y="1188720"/>
            <a:ext cx="5212080" cy="365760"/>
          </a:xfrm>
          <a:prstGeom prst="rect">
            <a:avLst/>
          </a:prstGeom>
          <a:noFill/>
        </p:spPr>
        <p:txBody>
          <a:bodyPr wrap="none">
            <a:spAutoFit/>
          </a:bodyPr>
          <a:lstStyle/>
          <a:p>
            <a:pPr>
              <a:defRPr sz="1400" b="1">
                <a:solidFill>
                  <a:srgbClr val="0F172A"/>
                </a:solidFill>
                <a:latin typeface="Arial"/>
              </a:defRPr>
            </a:pPr>
            <a:r>
              <a:t>Cluster Based Approach</a:t>
            </a:r>
          </a:p>
        </p:txBody>
      </p:sp>
      <p:sp>
        <p:nvSpPr>
          <p:cNvPr id="8" name="TextBox 7"/>
          <p:cNvSpPr txBox="1"/>
          <p:nvPr/>
        </p:nvSpPr>
        <p:spPr>
          <a:xfrm>
            <a:off x="6217920" y="1508760"/>
            <a:ext cx="5212080" cy="320040"/>
          </a:xfrm>
          <a:prstGeom prst="rect">
            <a:avLst/>
          </a:prstGeom>
          <a:noFill/>
        </p:spPr>
        <p:txBody>
          <a:bodyPr wrap="none">
            <a:spAutoFit/>
          </a:bodyPr>
          <a:lstStyle/>
          <a:p>
            <a:pPr>
              <a:defRPr sz="1050">
                <a:solidFill>
                  <a:srgbClr val="475569"/>
                </a:solidFill>
                <a:latin typeface="Arial"/>
              </a:defRPr>
            </a:pPr>
            <a:r>
              <a:t>Top 10 recommended recipes for user 173579:</a:t>
            </a:r>
          </a:p>
        </p:txBody>
      </p:sp>
      <p:graphicFrame>
        <p:nvGraphicFramePr>
          <p:cNvPr id="9" name="Table 8"/>
          <p:cNvGraphicFramePr>
            <a:graphicFrameLocks noGrp="1"/>
          </p:cNvGraphicFramePr>
          <p:nvPr/>
        </p:nvGraphicFramePr>
        <p:xfrm>
          <a:off x="6217920" y="1874519"/>
          <a:ext cx="5212080" cy="4297680"/>
        </p:xfrm>
        <a:graphic>
          <a:graphicData uri="http://schemas.openxmlformats.org/drawingml/2006/table">
            <a:tbl>
              <a:tblPr firstRow="1" bandRow="1">
                <a:tableStyleId>{5C22544A-7EE6-4342-B048-85BDC9FD1C3A}</a:tableStyleId>
              </a:tblPr>
              <a:tblGrid>
                <a:gridCol w="365760"/>
                <a:gridCol w="3566160"/>
                <a:gridCol w="1280160"/>
              </a:tblGrid>
              <a:tr h="390698">
                <a:tc>
                  <a:txBody>
                    <a:bodyPr/>
                    <a:lstStyle/>
                    <a:p>
                      <a:pPr>
                        <a:defRPr sz="850" b="1">
                          <a:solidFill>
                            <a:srgbClr val="0F172A"/>
                          </a:solidFill>
                          <a:latin typeface="Arial"/>
                        </a:defRPr>
                      </a:pPr>
                    </a:p>
                  </a:txBody>
                  <a:tcPr marL="36576" marR="36576">
                    <a:solidFill>
                      <a:srgbClr val="F8FAFC"/>
                    </a:solidFill>
                  </a:tcPr>
                </a:tc>
                <a:tc>
                  <a:txBody>
                    <a:bodyPr/>
                    <a:lstStyle/>
                    <a:p>
                      <a:pPr>
                        <a:defRPr sz="850" b="1">
                          <a:solidFill>
                            <a:srgbClr val="0F172A"/>
                          </a:solidFill>
                          <a:latin typeface="Arial"/>
                        </a:defRPr>
                      </a:pPr>
                      <a:r>
                        <a:t>name</a:t>
                      </a:r>
                    </a:p>
                  </a:txBody>
                  <a:tcPr marL="36576" marR="36576">
                    <a:solidFill>
                      <a:srgbClr val="F8FAFC"/>
                    </a:solidFill>
                  </a:tcPr>
                </a:tc>
                <a:tc>
                  <a:txBody>
                    <a:bodyPr/>
                    <a:lstStyle/>
                    <a:p>
                      <a:pPr>
                        <a:defRPr sz="850" b="1">
                          <a:solidFill>
                            <a:srgbClr val="0F172A"/>
                          </a:solidFill>
                          <a:latin typeface="Arial"/>
                        </a:defRPr>
                      </a:pPr>
                      <a:r>
                        <a:t>meal_type</a:t>
                      </a:r>
                    </a:p>
                  </a:txBody>
                  <a:tcPr marL="36576" marR="36576">
                    <a:solidFill>
                      <a:srgbClr val="F8FAFC"/>
                    </a:solidFill>
                  </a:tcPr>
                </a:tc>
              </a:tr>
              <a:tr h="390698">
                <a:tc>
                  <a:txBody>
                    <a:bodyPr/>
                    <a:lstStyle/>
                    <a:p>
                      <a:pPr>
                        <a:defRPr sz="800">
                          <a:solidFill>
                            <a:srgbClr val="0F172A"/>
                          </a:solidFill>
                          <a:latin typeface="Arial"/>
                        </a:defRPr>
                      </a:pPr>
                      <a:r>
                        <a:t>0</a:t>
                      </a:r>
                    </a:p>
                  </a:txBody>
                  <a:tcPr marL="36576" marR="36576">
                    <a:solidFill>
                      <a:srgbClr val="FFFFFF"/>
                    </a:solidFill>
                  </a:tcPr>
                </a:tc>
                <a:tc>
                  <a:txBody>
                    <a:bodyPr/>
                    <a:lstStyle/>
                    <a:p>
                      <a:pPr>
                        <a:defRPr sz="800">
                          <a:solidFill>
                            <a:srgbClr val="0F172A"/>
                          </a:solidFill>
                          <a:latin typeface="Arial"/>
                        </a:defRPr>
                      </a:pPr>
                      <a:r>
                        <a:t>bacon parmesan brussels sprouts</a:t>
                      </a:r>
                    </a:p>
                  </a:txBody>
                  <a:tcPr marL="36576" marR="36576">
                    <a:solidFill>
                      <a:srgbClr val="FFFFFF"/>
                    </a:solidFill>
                  </a:tcPr>
                </a:tc>
                <a:tc>
                  <a:txBody>
                    <a:bodyPr/>
                    <a:lstStyle/>
                    <a:p>
                      <a:pPr>
                        <a:defRPr sz="800">
                          <a:solidFill>
                            <a:srgbClr val="0F172A"/>
                          </a:solidFill>
                          <a:latin typeface="Arial"/>
                        </a:defRPr>
                      </a:pPr>
                      <a:r>
                        <a:t>vegetables</a:t>
                      </a:r>
                    </a:p>
                  </a:txBody>
                  <a:tcPr marL="36576" marR="36576">
                    <a:solidFill>
                      <a:srgbClr val="FFFFFF"/>
                    </a:solidFill>
                  </a:tcPr>
                </a:tc>
              </a:tr>
              <a:tr h="390698">
                <a:tc>
                  <a:txBody>
                    <a:bodyPr/>
                    <a:lstStyle/>
                    <a:p>
                      <a:pPr>
                        <a:defRPr sz="800">
                          <a:solidFill>
                            <a:srgbClr val="0F172A"/>
                          </a:solidFill>
                          <a:latin typeface="Arial"/>
                        </a:defRPr>
                      </a:pPr>
                      <a:r>
                        <a:t>1</a:t>
                      </a:r>
                    </a:p>
                  </a:txBody>
                  <a:tcPr marL="36576" marR="36576">
                    <a:solidFill>
                      <a:srgbClr val="FFFFFF"/>
                    </a:solidFill>
                  </a:tcPr>
                </a:tc>
                <a:tc>
                  <a:txBody>
                    <a:bodyPr/>
                    <a:lstStyle/>
                    <a:p>
                      <a:pPr>
                        <a:defRPr sz="800">
                          <a:solidFill>
                            <a:srgbClr val="0F172A"/>
                          </a:solidFill>
                          <a:latin typeface="Arial"/>
                        </a:defRPr>
                      </a:pPr>
                      <a:r>
                        <a:t>baklava salmon salmon with honey butter walnuts and mustard</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r>
              <a:tr h="390698">
                <a:tc>
                  <a:txBody>
                    <a:bodyPr/>
                    <a:lstStyle/>
                    <a:p>
                      <a:pPr>
                        <a:defRPr sz="800">
                          <a:solidFill>
                            <a:srgbClr val="0F172A"/>
                          </a:solidFill>
                          <a:latin typeface="Arial"/>
                        </a:defRPr>
                      </a:pPr>
                      <a:r>
                        <a:t>2</a:t>
                      </a:r>
                    </a:p>
                  </a:txBody>
                  <a:tcPr marL="36576" marR="36576">
                    <a:solidFill>
                      <a:srgbClr val="FFFFFF"/>
                    </a:solidFill>
                  </a:tcPr>
                </a:tc>
                <a:tc>
                  <a:txBody>
                    <a:bodyPr/>
                    <a:lstStyle/>
                    <a:p>
                      <a:pPr>
                        <a:defRPr sz="800">
                          <a:solidFill>
                            <a:srgbClr val="0F172A"/>
                          </a:solidFill>
                          <a:latin typeface="Arial"/>
                        </a:defRPr>
                      </a:pPr>
                      <a:r>
                        <a:t>calzone bread machine</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r>
              <a:tr h="390698">
                <a:tc>
                  <a:txBody>
                    <a:bodyPr/>
                    <a:lstStyle/>
                    <a:p>
                      <a:pPr>
                        <a:defRPr sz="800">
                          <a:solidFill>
                            <a:srgbClr val="0F172A"/>
                          </a:solidFill>
                          <a:latin typeface="Arial"/>
                        </a:defRPr>
                      </a:pPr>
                      <a:r>
                        <a:t>3</a:t>
                      </a:r>
                    </a:p>
                  </a:txBody>
                  <a:tcPr marL="36576" marR="36576">
                    <a:solidFill>
                      <a:srgbClr val="FFFFFF"/>
                    </a:solidFill>
                  </a:tcPr>
                </a:tc>
                <a:tc>
                  <a:txBody>
                    <a:bodyPr/>
                    <a:lstStyle/>
                    <a:p>
                      <a:pPr>
                        <a:defRPr sz="800">
                          <a:solidFill>
                            <a:srgbClr val="0F172A"/>
                          </a:solidFill>
                          <a:latin typeface="Arial"/>
                        </a:defRPr>
                      </a:pPr>
                      <a:r>
                        <a:t>country sausage gravy</a:t>
                      </a:r>
                    </a:p>
                  </a:txBody>
                  <a:tcPr marL="36576" marR="36576">
                    <a:solidFill>
                      <a:srgbClr val="FFFFFF"/>
                    </a:solidFill>
                  </a:tcPr>
                </a:tc>
                <a:tc>
                  <a:txBody>
                    <a:bodyPr/>
                    <a:lstStyle/>
                    <a:p>
                      <a:pPr>
                        <a:defRPr sz="800">
                          <a:solidFill>
                            <a:srgbClr val="0F172A"/>
                          </a:solidFill>
                          <a:latin typeface="Arial"/>
                        </a:defRPr>
                      </a:pPr>
                      <a:r>
                        <a:t>lunch</a:t>
                      </a:r>
                    </a:p>
                  </a:txBody>
                  <a:tcPr marL="36576" marR="36576">
                    <a:solidFill>
                      <a:srgbClr val="FFFFFF"/>
                    </a:solidFill>
                  </a:tcPr>
                </a:tc>
              </a:tr>
              <a:tr h="390698">
                <a:tc>
                  <a:txBody>
                    <a:bodyPr/>
                    <a:lstStyle/>
                    <a:p>
                      <a:pPr>
                        <a:defRPr sz="800">
                          <a:solidFill>
                            <a:srgbClr val="0F172A"/>
                          </a:solidFill>
                          <a:latin typeface="Arial"/>
                        </a:defRPr>
                      </a:pPr>
                      <a:r>
                        <a:t>4</a:t>
                      </a:r>
                    </a:p>
                  </a:txBody>
                  <a:tcPr marL="36576" marR="36576">
                    <a:solidFill>
                      <a:srgbClr val="FFFFFF"/>
                    </a:solidFill>
                  </a:tcPr>
                </a:tc>
                <a:tc>
                  <a:txBody>
                    <a:bodyPr/>
                    <a:lstStyle/>
                    <a:p>
                      <a:pPr>
                        <a:defRPr sz="800">
                          <a:solidFill>
                            <a:srgbClr val="0F172A"/>
                          </a:solidFill>
                          <a:latin typeface="Arial"/>
                        </a:defRPr>
                      </a:pPr>
                      <a:r>
                        <a:t>edna s apple crumble aka apple crisp</a:t>
                      </a:r>
                    </a:p>
                  </a:txBody>
                  <a:tcPr marL="36576" marR="36576">
                    <a:solidFill>
                      <a:srgbClr val="FFFFFF"/>
                    </a:solidFill>
                  </a:tcPr>
                </a:tc>
                <a:tc>
                  <a:txBody>
                    <a:bodyPr/>
                    <a:lstStyle/>
                    <a:p>
                      <a:pPr>
                        <a:defRPr sz="800">
                          <a:solidFill>
                            <a:srgbClr val="0F172A"/>
                          </a:solidFill>
                          <a:latin typeface="Arial"/>
                        </a:defRPr>
                      </a:pPr>
                      <a:r>
                        <a:t>desserts</a:t>
                      </a:r>
                    </a:p>
                  </a:txBody>
                  <a:tcPr marL="36576" marR="36576">
                    <a:solidFill>
                      <a:srgbClr val="FFFFFF"/>
                    </a:solidFill>
                  </a:tcPr>
                </a:tc>
              </a:tr>
              <a:tr h="390698">
                <a:tc>
                  <a:txBody>
                    <a:bodyPr/>
                    <a:lstStyle/>
                    <a:p>
                      <a:pPr>
                        <a:defRPr sz="800">
                          <a:solidFill>
                            <a:srgbClr val="0F172A"/>
                          </a:solidFill>
                          <a:latin typeface="Arial"/>
                        </a:defRPr>
                      </a:pPr>
                      <a:r>
                        <a:t>5</a:t>
                      </a:r>
                    </a:p>
                  </a:txBody>
                  <a:tcPr marL="36576" marR="36576">
                    <a:solidFill>
                      <a:srgbClr val="FFFFFF"/>
                    </a:solidFill>
                  </a:tcPr>
                </a:tc>
                <a:tc>
                  <a:txBody>
                    <a:bodyPr/>
                    <a:lstStyle/>
                    <a:p>
                      <a:pPr>
                        <a:defRPr sz="800">
                          <a:solidFill>
                            <a:srgbClr val="0F172A"/>
                          </a:solidFill>
                          <a:latin typeface="Arial"/>
                        </a:defRPr>
                      </a:pPr>
                      <a:r>
                        <a:t>parmesan crusted broiled scallops</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r>
              <a:tr h="390698">
                <a:tc>
                  <a:txBody>
                    <a:bodyPr/>
                    <a:lstStyle/>
                    <a:p>
                      <a:pPr>
                        <a:defRPr sz="800">
                          <a:solidFill>
                            <a:srgbClr val="0F172A"/>
                          </a:solidFill>
                          <a:latin typeface="Arial"/>
                        </a:defRPr>
                      </a:pPr>
                      <a:r>
                        <a:t>6</a:t>
                      </a:r>
                    </a:p>
                  </a:txBody>
                  <a:tcPr marL="36576" marR="36576">
                    <a:solidFill>
                      <a:srgbClr val="FFFFFF"/>
                    </a:solidFill>
                  </a:tcPr>
                </a:tc>
                <a:tc>
                  <a:txBody>
                    <a:bodyPr/>
                    <a:lstStyle/>
                    <a:p>
                      <a:pPr>
                        <a:defRPr sz="800">
                          <a:solidFill>
                            <a:srgbClr val="0F172A"/>
                          </a:solidFill>
                          <a:latin typeface="Arial"/>
                        </a:defRPr>
                      </a:pPr>
                      <a:r>
                        <a:t>quick and easy salsa with black beans and corn</a:t>
                      </a:r>
                    </a:p>
                  </a:txBody>
                  <a:tcPr marL="36576" marR="36576">
                    <a:solidFill>
                      <a:srgbClr val="FFFFFF"/>
                    </a:solidFill>
                  </a:tcPr>
                </a:tc>
                <a:tc>
                  <a:txBody>
                    <a:bodyPr/>
                    <a:lstStyle/>
                    <a:p>
                      <a:pPr>
                        <a:defRPr sz="800">
                          <a:solidFill>
                            <a:srgbClr val="0F172A"/>
                          </a:solidFill>
                          <a:latin typeface="Arial"/>
                        </a:defRPr>
                      </a:pPr>
                      <a:r>
                        <a:t>condiments etc</a:t>
                      </a:r>
                    </a:p>
                  </a:txBody>
                  <a:tcPr marL="36576" marR="36576">
                    <a:solidFill>
                      <a:srgbClr val="FFFFFF"/>
                    </a:solidFill>
                  </a:tcPr>
                </a:tc>
              </a:tr>
              <a:tr h="390698">
                <a:tc>
                  <a:txBody>
                    <a:bodyPr/>
                    <a:lstStyle/>
                    <a:p>
                      <a:pPr>
                        <a:defRPr sz="800">
                          <a:solidFill>
                            <a:srgbClr val="0F172A"/>
                          </a:solidFill>
                          <a:latin typeface="Arial"/>
                        </a:defRPr>
                      </a:pPr>
                      <a:r>
                        <a:t>7</a:t>
                      </a:r>
                    </a:p>
                  </a:txBody>
                  <a:tcPr marL="36576" marR="36576">
                    <a:solidFill>
                      <a:srgbClr val="FFFFFF"/>
                    </a:solidFill>
                  </a:tcPr>
                </a:tc>
                <a:tc>
                  <a:txBody>
                    <a:bodyPr/>
                    <a:lstStyle/>
                    <a:p>
                      <a:pPr>
                        <a:defRPr sz="800">
                          <a:solidFill>
                            <a:srgbClr val="0F172A"/>
                          </a:solidFill>
                          <a:latin typeface="Arial"/>
                        </a:defRPr>
                      </a:pPr>
                      <a:r>
                        <a:t>romano s macaroni grill rosemary bread</a:t>
                      </a:r>
                    </a:p>
                  </a:txBody>
                  <a:tcPr marL="36576" marR="36576">
                    <a:solidFill>
                      <a:srgbClr val="FFFFFF"/>
                    </a:solidFill>
                  </a:tcPr>
                </a:tc>
                <a:tc>
                  <a:txBody>
                    <a:bodyPr/>
                    <a:lstStyle/>
                    <a:p>
                      <a:pPr>
                        <a:defRPr sz="800">
                          <a:solidFill>
                            <a:srgbClr val="0F172A"/>
                          </a:solidFill>
                          <a:latin typeface="Arial"/>
                        </a:defRPr>
                      </a:pPr>
                      <a:r>
                        <a:t>other</a:t>
                      </a:r>
                    </a:p>
                  </a:txBody>
                  <a:tcPr marL="36576" marR="36576">
                    <a:solidFill>
                      <a:srgbClr val="FFFFFF"/>
                    </a:solidFill>
                  </a:tcPr>
                </a:tc>
              </a:tr>
              <a:tr h="390698">
                <a:tc>
                  <a:txBody>
                    <a:bodyPr/>
                    <a:lstStyle/>
                    <a:p>
                      <a:pPr>
                        <a:defRPr sz="800">
                          <a:solidFill>
                            <a:srgbClr val="0F172A"/>
                          </a:solidFill>
                          <a:latin typeface="Arial"/>
                        </a:defRPr>
                      </a:pPr>
                      <a:r>
                        <a:t>8</a:t>
                      </a:r>
                    </a:p>
                  </a:txBody>
                  <a:tcPr marL="36576" marR="36576">
                    <a:solidFill>
                      <a:srgbClr val="FFFFFF"/>
                    </a:solidFill>
                  </a:tcPr>
                </a:tc>
                <a:tc>
                  <a:txBody>
                    <a:bodyPr/>
                    <a:lstStyle/>
                    <a:p>
                      <a:pPr>
                        <a:defRPr sz="800">
                          <a:solidFill>
                            <a:srgbClr val="0F172A"/>
                          </a:solidFill>
                          <a:latin typeface="Arial"/>
                        </a:defRPr>
                      </a:pPr>
                      <a:r>
                        <a:t>salmon and asparagus in foil</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r>
              <a:tr h="390700">
                <a:tc>
                  <a:txBody>
                    <a:bodyPr/>
                    <a:lstStyle/>
                    <a:p>
                      <a:pPr>
                        <a:defRPr sz="800">
                          <a:solidFill>
                            <a:srgbClr val="0F172A"/>
                          </a:solidFill>
                          <a:latin typeface="Arial"/>
                        </a:defRPr>
                      </a:pPr>
                      <a:r>
                        <a:t>9</a:t>
                      </a:r>
                    </a:p>
                  </a:txBody>
                  <a:tcPr marL="36576" marR="36576">
                    <a:solidFill>
                      <a:srgbClr val="FFFFFF"/>
                    </a:solidFill>
                  </a:tcPr>
                </a:tc>
                <a:tc>
                  <a:txBody>
                    <a:bodyPr/>
                    <a:lstStyle/>
                    <a:p>
                      <a:pPr>
                        <a:defRPr sz="800">
                          <a:solidFill>
                            <a:srgbClr val="0F172A"/>
                          </a:solidFill>
                          <a:latin typeface="Arial"/>
                        </a:defRPr>
                      </a:pPr>
                      <a:r>
                        <a:t>the best blueberry buttermilk pancakes</a:t>
                      </a:r>
                    </a:p>
                  </a:txBody>
                  <a:tcPr marL="36576" marR="36576">
                    <a:solidFill>
                      <a:srgbClr val="FFFFFF"/>
                    </a:solidFill>
                  </a:tcPr>
                </a:tc>
                <a:tc>
                  <a:txBody>
                    <a:bodyPr/>
                    <a:lstStyle/>
                    <a:p>
                      <a:pPr>
                        <a:defRPr sz="800">
                          <a:solidFill>
                            <a:srgbClr val="0F172A"/>
                          </a:solidFill>
                          <a:latin typeface="Arial"/>
                        </a:defRPr>
                      </a:pPr>
                      <a:r>
                        <a:t>brunch</a:t>
                      </a:r>
                    </a:p>
                  </a:txBody>
                  <a:tcPr marL="36576" marR="36576">
                    <a:solidFill>
                      <a:srgbClr val="FFFFFF"/>
                    </a:solidFill>
                  </a:tcPr>
                </a:tc>
              </a:tr>
            </a:tbl>
          </a:graphicData>
        </a:graphic>
      </p:graphicFrame>
      <p:sp>
        <p:nvSpPr>
          <p:cNvPr id="10" name="TextBox 9"/>
          <p:cNvSpPr txBox="1"/>
          <p:nvPr/>
        </p:nvSpPr>
        <p:spPr>
          <a:xfrm>
            <a:off x="731520" y="6263640"/>
            <a:ext cx="10698480" cy="457200"/>
          </a:xfrm>
          <a:prstGeom prst="rect">
            <a:avLst/>
          </a:prstGeom>
          <a:noFill/>
        </p:spPr>
        <p:txBody>
          <a:bodyPr wrap="square">
            <a:spAutoFit/>
          </a:bodyPr>
          <a:lstStyle/>
          <a:p>
            <a:pPr>
              <a:defRPr sz="1050" b="1">
                <a:solidFill>
                  <a:srgbClr val="0284C7"/>
                </a:solidFill>
                <a:latin typeface="Arial"/>
              </a:defRPr>
            </a:pPr>
            <a:r>
              <a:t>Key Finding: SVD predicts universally high rated staple recipes (popularity bias), whereas Cluster Based filtering recommends distinctive, diverse dishes matching the user specific taste cluster.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METHODOLOGY &amp; FORMULATION</a:t>
            </a:r>
          </a:p>
          <a:p>
            <a:pPr>
              <a:defRPr sz="2600" b="1">
                <a:solidFill>
                  <a:srgbClr val="0F172A"/>
                </a:solidFill>
                <a:latin typeface="Arial"/>
              </a:defRPr>
            </a:pPr>
            <a:r>
              <a:t>Description of Approach: Content Based</a:t>
            </a:r>
          </a:p>
        </p:txBody>
      </p:sp>
      <p:sp>
        <p:nvSpPr>
          <p:cNvPr id="4" name="Rectangle 3"/>
          <p:cNvSpPr/>
          <p:nvPr/>
        </p:nvSpPr>
        <p:spPr>
          <a:xfrm>
            <a:off x="731520" y="1280160"/>
            <a:ext cx="5120640" cy="228600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1. Textual Representation via TF IDF</a:t>
            </a:r>
          </a:p>
          <a:p>
            <a:pPr>
              <a:spcBef>
                <a:spcPts val="800"/>
              </a:spcBef>
              <a:defRPr sz="1050">
                <a:solidFill>
                  <a:srgbClr val="334155"/>
                </a:solidFill>
                <a:latin typeface="Arial"/>
              </a:defRPr>
            </a:pPr>
            <a:r>
              <a:t>I extracted textual descriptors from recipe titles, ingredient lists, and user submitted instructions. Using Scikit Learn TfidfVectorizer with stopword filtering, I mapped each recipe into a high dimensional term frequency inverse document frequency feature space representing culinary themes.</a:t>
            </a:r>
          </a:p>
        </p:txBody>
      </p:sp>
      <p:sp>
        <p:nvSpPr>
          <p:cNvPr id="5" name="Rectangle 4"/>
          <p:cNvSpPr/>
          <p:nvPr/>
        </p:nvSpPr>
        <p:spPr>
          <a:xfrm>
            <a:off x="731520" y="1280160"/>
            <a:ext cx="5120640" cy="73152"/>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280160"/>
            <a:ext cx="5212080" cy="228600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2. User Taste Profile Construction</a:t>
            </a:r>
          </a:p>
          <a:p>
            <a:pPr>
              <a:spcBef>
                <a:spcPts val="800"/>
              </a:spcBef>
              <a:defRPr sz="1050">
                <a:solidFill>
                  <a:srgbClr val="334155"/>
                </a:solidFill>
                <a:latin typeface="Arial"/>
              </a:defRPr>
            </a:pPr>
            <a:r>
              <a:t>For each user, I identified their ground truth liked recipes (defined as interactions rated 4 or 5 stars). I aggregated the corresponding TF IDF vectors into a centroid user taste profile vector, capturing individual flavor and ingredient leanings.</a:t>
            </a:r>
          </a:p>
        </p:txBody>
      </p:sp>
      <p:sp>
        <p:nvSpPr>
          <p:cNvPr id="7" name="Rectangle 6"/>
          <p:cNvSpPr/>
          <p:nvPr/>
        </p:nvSpPr>
        <p:spPr>
          <a:xfrm>
            <a:off x="6217920" y="1280160"/>
            <a:ext cx="5212080" cy="73152"/>
          </a:xfrm>
          <a:prstGeom prst="rect">
            <a:avLst/>
          </a:prstGeom>
          <a:solidFill>
            <a:srgbClr val="166534"/>
          </a:solidFill>
          <a:ln>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840480"/>
            <a:ext cx="5120640" cy="237744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3. Cosine Similarity Matching</a:t>
            </a:r>
          </a:p>
          <a:p>
            <a:pPr>
              <a:spcBef>
                <a:spcPts val="800"/>
              </a:spcBef>
              <a:defRPr sz="1050">
                <a:solidFill>
                  <a:srgbClr val="334155"/>
                </a:solidFill>
                <a:latin typeface="Arial"/>
              </a:defRPr>
            </a:pPr>
            <a:r>
              <a:t>To generate Top N recommendations, I computed the cosine similarity between the user profile vector and all unseen candidate recipe vectors. Candidate recipes were ranked in descending order of vector similarity.</a:t>
            </a:r>
          </a:p>
        </p:txBody>
      </p:sp>
      <p:sp>
        <p:nvSpPr>
          <p:cNvPr id="9" name="Rectangle 8"/>
          <p:cNvSpPr/>
          <p:nvPr/>
        </p:nvSpPr>
        <p:spPr>
          <a:xfrm>
            <a:off x="731520" y="3840480"/>
            <a:ext cx="5120640" cy="73152"/>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840480"/>
            <a:ext cx="5212080" cy="237744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4. Quantitative Precision and Recall Evaluation</a:t>
            </a:r>
          </a:p>
          <a:p>
            <a:pPr>
              <a:spcBef>
                <a:spcPts val="800"/>
              </a:spcBef>
              <a:defRPr sz="1050">
                <a:solidFill>
                  <a:srgbClr val="334155"/>
                </a:solidFill>
                <a:latin typeface="Arial"/>
              </a:defRPr>
            </a:pPr>
            <a:r>
              <a:t>Using held out liked items in a test set, I computed Precision at K and Recall at K across cutoffs K = 1.0 to 10.0. I evaluated individual user profiles first and then aggregated macro averages across test users to measure retrieval effectiveness.</a:t>
            </a:r>
          </a:p>
        </p:txBody>
      </p:sp>
      <p:sp>
        <p:nvSpPr>
          <p:cNvPr id="11" name="Rectangle 10"/>
          <p:cNvSpPr/>
          <p:nvPr/>
        </p:nvSpPr>
        <p:spPr>
          <a:xfrm>
            <a:off x="6217920" y="3840480"/>
            <a:ext cx="5212080" cy="73152"/>
          </a:xfrm>
          <a:prstGeom prst="rect">
            <a:avLst/>
          </a:prstGeom>
          <a:solidFill>
            <a:srgbClr val="6D28D9"/>
          </a:solidFill>
          <a:ln>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RECOMMENDATION PROFILE ANALYSIS</a:t>
            </a:r>
          </a:p>
          <a:p>
            <a:pPr>
              <a:defRPr sz="2600" b="1">
                <a:solidFill>
                  <a:srgbClr val="0F172A"/>
                </a:solidFill>
                <a:latin typeface="Arial"/>
              </a:defRPr>
            </a:pPr>
            <a:r>
              <a:t>Results: Content Based</a:t>
            </a:r>
          </a:p>
        </p:txBody>
      </p:sp>
      <p:sp>
        <p:nvSpPr>
          <p:cNvPr id="4" name="TextBox 3"/>
          <p:cNvSpPr txBox="1"/>
          <p:nvPr/>
        </p:nvSpPr>
        <p:spPr>
          <a:xfrm>
            <a:off x="731520" y="1188720"/>
            <a:ext cx="10698480" cy="548640"/>
          </a:xfrm>
          <a:prstGeom prst="rect">
            <a:avLst/>
          </a:prstGeom>
          <a:noFill/>
        </p:spPr>
        <p:txBody>
          <a:bodyPr wrap="square">
            <a:spAutoFit/>
          </a:bodyPr>
          <a:lstStyle/>
          <a:p>
            <a:pPr>
              <a:defRPr sz="1100">
                <a:solidFill>
                  <a:srgbClr val="0F172A"/>
                </a:solidFill>
                <a:latin typeface="Arial"/>
              </a:defRPr>
            </a:pPr>
            <a:r>
              <a:t>These are the initial results of the personalized content based model to recommend food items to a user based on their user profile. Here is the user profile of the liked items of a specific user:</a:t>
            </a:r>
          </a:p>
        </p:txBody>
      </p:sp>
      <p:graphicFrame>
        <p:nvGraphicFramePr>
          <p:cNvPr id="5" name="Table 4"/>
          <p:cNvGraphicFramePr>
            <a:graphicFrameLocks noGrp="1"/>
          </p:cNvGraphicFramePr>
          <p:nvPr/>
        </p:nvGraphicFramePr>
        <p:xfrm>
          <a:off x="731520" y="1783080"/>
          <a:ext cx="10698480" cy="1371600"/>
        </p:xfrm>
        <a:graphic>
          <a:graphicData uri="http://schemas.openxmlformats.org/drawingml/2006/table">
            <a:tbl>
              <a:tblPr firstRow="1" bandRow="1">
                <a:tableStyleId>{5C22544A-7EE6-4342-B048-85BDC9FD1C3A}</a:tableStyleId>
              </a:tblPr>
              <a:tblGrid>
                <a:gridCol w="2468880"/>
                <a:gridCol w="8229600"/>
              </a:tblGrid>
              <a:tr h="457200">
                <a:tc>
                  <a:txBody>
                    <a:bodyPr/>
                    <a:lstStyle/>
                    <a:p>
                      <a:pPr>
                        <a:defRPr sz="950" b="1">
                          <a:solidFill>
                            <a:srgbClr val="0F172A"/>
                          </a:solidFill>
                          <a:latin typeface="Arial"/>
                        </a:defRPr>
                      </a:pPr>
                      <a:r>
                        <a:t>name</a:t>
                      </a:r>
                    </a:p>
                  </a:txBody>
                  <a:tcPr marL="73152" marR="73152">
                    <a:solidFill>
                      <a:srgbClr val="F8FAFC"/>
                    </a:solidFill>
                  </a:tcPr>
                </a:tc>
                <a:tc>
                  <a:txBody>
                    <a:bodyPr/>
                    <a:lstStyle/>
                    <a:p>
                      <a:pPr>
                        <a:defRPr sz="950" b="1">
                          <a:solidFill>
                            <a:srgbClr val="0F172A"/>
                          </a:solidFill>
                          <a:latin typeface="Arial"/>
                        </a:defRPr>
                      </a:pPr>
                      <a:r>
                        <a:t>description</a:t>
                      </a:r>
                    </a:p>
                  </a:txBody>
                  <a:tcPr marL="73152" marR="73152">
                    <a:solidFill>
                      <a:srgbClr val="F8FAFC"/>
                    </a:solidFill>
                  </a:tcPr>
                </a:tc>
              </a:tr>
              <a:tr h="457200">
                <a:tc>
                  <a:txBody>
                    <a:bodyPr/>
                    <a:lstStyle/>
                    <a:p>
                      <a:pPr>
                        <a:defRPr sz="850">
                          <a:solidFill>
                            <a:srgbClr val="0F172A"/>
                          </a:solidFill>
                          <a:latin typeface="Arial"/>
                        </a:defRPr>
                      </a:pPr>
                      <a:r>
                        <a:t>land of nod cinnamon buns</a:t>
                      </a:r>
                    </a:p>
                  </a:txBody>
                  <a:tcPr marL="73152" marR="73152">
                    <a:solidFill>
                      <a:srgbClr val="FFFFFF"/>
                    </a:solidFill>
                  </a:tcPr>
                </a:tc>
                <a:tc>
                  <a:txBody>
                    <a:bodyPr/>
                    <a:lstStyle/>
                    <a:p>
                      <a:pPr>
                        <a:defRPr sz="850">
                          <a:solidFill>
                            <a:srgbClr val="0F172A"/>
                          </a:solidFill>
                          <a:latin typeface="Arial"/>
                        </a:defRPr>
                      </a:pPr>
                      <a:r>
                        <a:t>i have made this several times and it is dead easy. if you have overnight guests, what could be easier for breakfast? i have made it on special occasions, too, such as easter morning and christmas morning, etc. this recipe comes from the best of bridge series.</a:t>
                      </a:r>
                    </a:p>
                  </a:txBody>
                  <a:tcPr marL="73152" marR="73152">
                    <a:solidFill>
                      <a:srgbClr val="FFFFFF"/>
                    </a:solidFill>
                  </a:tcPr>
                </a:tc>
              </a:tr>
              <a:tr h="457200">
                <a:tc>
                  <a:txBody>
                    <a:bodyPr/>
                    <a:lstStyle/>
                    <a:p>
                      <a:pPr>
                        <a:defRPr sz="850">
                          <a:solidFill>
                            <a:srgbClr val="0F172A"/>
                          </a:solidFill>
                          <a:latin typeface="Arial"/>
                        </a:defRPr>
                      </a:pPr>
                      <a:r>
                        <a:t>put down your fork tuna and bean salad</a:t>
                      </a:r>
                    </a:p>
                  </a:txBody>
                  <a:tcPr marL="73152" marR="73152">
                    <a:solidFill>
                      <a:srgbClr val="FFFFFF"/>
                    </a:solidFill>
                  </a:tcPr>
                </a:tc>
                <a:tc>
                  <a:txBody>
                    <a:bodyPr/>
                    <a:lstStyle/>
                    <a:p>
                      <a:pPr>
                        <a:defRPr sz="850">
                          <a:solidFill>
                            <a:srgbClr val="0F172A"/>
                          </a:solidFill>
                          <a:latin typeface="Arial"/>
                        </a:defRPr>
                      </a:pPr>
                      <a:r>
                        <a:t>the story behind this comes from a simple recipe i had found, then made changes to personalize it. my husband loved it so much the first time i made it i literally had to say to him</a:t>
                      </a:r>
                    </a:p>
                  </a:txBody>
                  <a:tcPr marL="73152" marR="73152">
                    <a:solidFill>
                      <a:srgbClr val="FFFFFF"/>
                    </a:solidFill>
                  </a:tcPr>
                </a:tc>
              </a:tr>
            </a:tbl>
          </a:graphicData>
        </a:graphic>
      </p:graphicFrame>
      <p:sp>
        <p:nvSpPr>
          <p:cNvPr id="6" name="TextBox 5"/>
          <p:cNvSpPr txBox="1"/>
          <p:nvPr/>
        </p:nvSpPr>
        <p:spPr>
          <a:xfrm>
            <a:off x="731520" y="3291840"/>
            <a:ext cx="10698480" cy="457200"/>
          </a:xfrm>
          <a:prstGeom prst="rect">
            <a:avLst/>
          </a:prstGeom>
          <a:noFill/>
        </p:spPr>
        <p:txBody>
          <a:bodyPr wrap="square">
            <a:spAutoFit/>
          </a:bodyPr>
          <a:lstStyle/>
          <a:p>
            <a:pPr>
              <a:defRPr sz="1100">
                <a:solidFill>
                  <a:srgbClr val="0F172A"/>
                </a:solidFill>
                <a:latin typeface="Arial"/>
              </a:defRPr>
            </a:pPr>
            <a:r>
              <a:t>Below are the Top 5 recommended items for this user, where several recommendations align closely with user preferences while others diverge due to text dilution.</a:t>
            </a:r>
          </a:p>
        </p:txBody>
      </p:sp>
      <p:graphicFrame>
        <p:nvGraphicFramePr>
          <p:cNvPr id="7" name="Table 6"/>
          <p:cNvGraphicFramePr>
            <a:graphicFrameLocks noGrp="1"/>
          </p:cNvGraphicFramePr>
          <p:nvPr/>
        </p:nvGraphicFramePr>
        <p:xfrm>
          <a:off x="731520" y="3794760"/>
          <a:ext cx="10698480" cy="2651760"/>
        </p:xfrm>
        <a:graphic>
          <a:graphicData uri="http://schemas.openxmlformats.org/drawingml/2006/table">
            <a:tbl>
              <a:tblPr firstRow="1" bandRow="1">
                <a:tableStyleId>{5C22544A-7EE6-4342-B048-85BDC9FD1C3A}</a:tableStyleId>
              </a:tblPr>
              <a:tblGrid>
                <a:gridCol w="2468880"/>
                <a:gridCol w="8229600"/>
              </a:tblGrid>
              <a:tr h="441960">
                <a:tc>
                  <a:txBody>
                    <a:bodyPr/>
                    <a:lstStyle/>
                    <a:p>
                      <a:pPr>
                        <a:defRPr sz="950" b="1">
                          <a:solidFill>
                            <a:srgbClr val="0F172A"/>
                          </a:solidFill>
                          <a:latin typeface="Arial"/>
                        </a:defRPr>
                      </a:pPr>
                      <a:r>
                        <a:t>name</a:t>
                      </a:r>
                    </a:p>
                  </a:txBody>
                  <a:tcPr marL="73152" marR="73152">
                    <a:solidFill>
                      <a:srgbClr val="F8FAFC"/>
                    </a:solidFill>
                  </a:tcPr>
                </a:tc>
                <a:tc>
                  <a:txBody>
                    <a:bodyPr/>
                    <a:lstStyle/>
                    <a:p>
                      <a:pPr>
                        <a:defRPr sz="950" b="1">
                          <a:solidFill>
                            <a:srgbClr val="0F172A"/>
                          </a:solidFill>
                          <a:latin typeface="Arial"/>
                        </a:defRPr>
                      </a:pPr>
                      <a:r>
                        <a:t>description</a:t>
                      </a:r>
                    </a:p>
                  </a:txBody>
                  <a:tcPr marL="73152" marR="73152">
                    <a:solidFill>
                      <a:srgbClr val="F8FAFC"/>
                    </a:solidFill>
                  </a:tcPr>
                </a:tc>
              </a:tr>
              <a:tr h="441960">
                <a:tc>
                  <a:txBody>
                    <a:bodyPr/>
                    <a:lstStyle/>
                    <a:p>
                      <a:pPr>
                        <a:defRPr sz="850">
                          <a:solidFill>
                            <a:srgbClr val="0F172A"/>
                          </a:solidFill>
                          <a:latin typeface="Arial"/>
                        </a:defRPr>
                      </a:pPr>
                      <a:r>
                        <a:t>chile rellenos</a:t>
                      </a:r>
                    </a:p>
                  </a:txBody>
                  <a:tcPr marL="73152" marR="73152">
                    <a:solidFill>
                      <a:srgbClr val="FFFFFF"/>
                    </a:solidFill>
                  </a:tcPr>
                </a:tc>
                <a:tc>
                  <a:txBody>
                    <a:bodyPr/>
                    <a:lstStyle/>
                    <a:p>
                      <a:pPr>
                        <a:defRPr sz="850">
                          <a:solidFill>
                            <a:srgbClr val="0F172A"/>
                          </a:solidFill>
                          <a:latin typeface="Arial"/>
                        </a:defRPr>
                      </a:pPr>
                      <a:r>
                        <a:t>a favorite from a local restaurant no longer in business. not an authentic mexican chile relleno, but a crispy, flaky version.</a:t>
                      </a:r>
                    </a:p>
                  </a:txBody>
                  <a:tcPr marL="73152" marR="73152">
                    <a:solidFill>
                      <a:srgbClr val="FFFFFF"/>
                    </a:solidFill>
                  </a:tcPr>
                </a:tc>
              </a:tr>
              <a:tr h="441960">
                <a:tc>
                  <a:txBody>
                    <a:bodyPr/>
                    <a:lstStyle/>
                    <a:p>
                      <a:pPr>
                        <a:defRPr sz="850">
                          <a:solidFill>
                            <a:srgbClr val="0F172A"/>
                          </a:solidFill>
                          <a:latin typeface="Arial"/>
                        </a:defRPr>
                      </a:pPr>
                      <a:r>
                        <a:t>chinese candy</a:t>
                      </a:r>
                    </a:p>
                  </a:txBody>
                  <a:tcPr marL="73152" marR="73152">
                    <a:solidFill>
                      <a:srgbClr val="FFFFFF"/>
                    </a:solidFill>
                  </a:tcPr>
                </a:tc>
                <a:tc>
                  <a:txBody>
                    <a:bodyPr/>
                    <a:lstStyle/>
                    <a:p>
                      <a:pPr>
                        <a:defRPr sz="850">
                          <a:solidFill>
                            <a:srgbClr val="0F172A"/>
                          </a:solidFill>
                          <a:latin typeface="Arial"/>
                        </a:defRPr>
                      </a:pPr>
                      <a:r>
                        <a:t>a little different, and oh so good. i include these when making up candy trays, as gifts, at christmas time.</a:t>
                      </a:r>
                    </a:p>
                  </a:txBody>
                  <a:tcPr marL="73152" marR="73152">
                    <a:solidFill>
                      <a:srgbClr val="FFFFFF"/>
                    </a:solidFill>
                  </a:tcPr>
                </a:tc>
              </a:tr>
              <a:tr h="441960">
                <a:tc>
                  <a:txBody>
                    <a:bodyPr/>
                    <a:lstStyle/>
                    <a:p>
                      <a:pPr>
                        <a:defRPr sz="850">
                          <a:solidFill>
                            <a:srgbClr val="0F172A"/>
                          </a:solidFill>
                          <a:latin typeface="Arial"/>
                        </a:defRPr>
                      </a:pPr>
                      <a:r>
                        <a:t>ant kelly s london broil marinade</a:t>
                      </a:r>
                    </a:p>
                  </a:txBody>
                  <a:tcPr marL="73152" marR="73152">
                    <a:solidFill>
                      <a:srgbClr val="FFFFFF"/>
                    </a:solidFill>
                  </a:tcPr>
                </a:tc>
                <a:tc>
                  <a:txBody>
                    <a:bodyPr/>
                    <a:lstStyle/>
                    <a:p>
                      <a:pPr>
                        <a:defRPr sz="850">
                          <a:solidFill>
                            <a:srgbClr val="0F172A"/>
                          </a:solidFill>
                          <a:latin typeface="Arial"/>
                        </a:defRPr>
                      </a:pPr>
                      <a:r>
                        <a:t>my niece shwana loves this! she always writes my name ant kelly during family games started when she was little and stuck. i always make this during vacation trips in wisconsin. prep time includes does not include time to marinate.</a:t>
                      </a:r>
                    </a:p>
                  </a:txBody>
                  <a:tcPr marL="73152" marR="73152">
                    <a:solidFill>
                      <a:srgbClr val="FFFFFF"/>
                    </a:solidFill>
                  </a:tcPr>
                </a:tc>
              </a:tr>
              <a:tr h="441960">
                <a:tc>
                  <a:txBody>
                    <a:bodyPr/>
                    <a:lstStyle/>
                    <a:p>
                      <a:pPr>
                        <a:defRPr sz="850">
                          <a:solidFill>
                            <a:srgbClr val="0F172A"/>
                          </a:solidFill>
                          <a:latin typeface="Arial"/>
                        </a:defRPr>
                      </a:pPr>
                      <a:r>
                        <a:t>i don t feel like cooking tonight casserole</a:t>
                      </a:r>
                    </a:p>
                  </a:txBody>
                  <a:tcPr marL="73152" marR="73152">
                    <a:solidFill>
                      <a:srgbClr val="FFFFFF"/>
                    </a:solidFill>
                  </a:tcPr>
                </a:tc>
                <a:tc>
                  <a:txBody>
                    <a:bodyPr/>
                    <a:lstStyle/>
                    <a:p>
                      <a:pPr>
                        <a:defRPr sz="850">
                          <a:solidFill>
                            <a:srgbClr val="0F172A"/>
                          </a:solidFill>
                          <a:latin typeface="Arial"/>
                        </a:defRPr>
                      </a:pPr>
                      <a:r>
                        <a:t>this is a hearty and filling casserole for those nights when a long time in the kitchen is just out of the question. very tasty and easy to make, my family requests it often. enjoy!</a:t>
                      </a:r>
                    </a:p>
                  </a:txBody>
                  <a:tcPr marL="73152" marR="73152">
                    <a:solidFill>
                      <a:srgbClr val="FFFFFF"/>
                    </a:solidFill>
                  </a:tcPr>
                </a:tc>
              </a:tr>
              <a:tr h="441960">
                <a:tc>
                  <a:txBody>
                    <a:bodyPr/>
                    <a:lstStyle/>
                    <a:p>
                      <a:pPr>
                        <a:defRPr sz="850">
                          <a:solidFill>
                            <a:srgbClr val="0F172A"/>
                          </a:solidFill>
                          <a:latin typeface="Arial"/>
                        </a:defRPr>
                      </a:pPr>
                      <a:r>
                        <a:t>better then bush s baked beans</a:t>
                      </a:r>
                    </a:p>
                  </a:txBody>
                  <a:tcPr marL="73152" marR="73152">
                    <a:solidFill>
                      <a:srgbClr val="FFFFFF"/>
                    </a:solidFill>
                  </a:tcPr>
                </a:tc>
                <a:tc>
                  <a:txBody>
                    <a:bodyPr/>
                    <a:lstStyle/>
                    <a:p>
                      <a:pPr>
                        <a:defRPr sz="850">
                          <a:solidFill>
                            <a:srgbClr val="0F172A"/>
                          </a:solidFill>
                          <a:latin typeface="Arial"/>
                        </a:defRPr>
                      </a:pPr>
                      <a:r>
                        <a:t>i would have to say that this is a labor of love dish, but i give you my word that this recipe is better than bush s. enjoy! oh, and also this recipe is easily doubled. in fact, i think it turns out better when it is.</a:t>
                      </a:r>
                    </a:p>
                  </a:txBody>
                  <a:tcPr marL="73152" marR="7315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PRECISION AND RECALL EVALUATION</a:t>
            </a:r>
          </a:p>
          <a:p>
            <a:pPr>
              <a:defRPr sz="2600" b="1">
                <a:solidFill>
                  <a:srgbClr val="0F172A"/>
                </a:solidFill>
                <a:latin typeface="Arial"/>
              </a:defRPr>
            </a:pPr>
            <a:r>
              <a:t>Results: Content Based</a:t>
            </a:r>
          </a:p>
        </p:txBody>
      </p:sp>
      <p:graphicFrame>
        <p:nvGraphicFramePr>
          <p:cNvPr id="4" name="Table 3"/>
          <p:cNvGraphicFramePr>
            <a:graphicFrameLocks noGrp="1"/>
          </p:cNvGraphicFramePr>
          <p:nvPr/>
        </p:nvGraphicFramePr>
        <p:xfrm>
          <a:off x="731520" y="1234440"/>
          <a:ext cx="4846320" cy="4572000"/>
        </p:xfrm>
        <a:graphic>
          <a:graphicData uri="http://schemas.openxmlformats.org/drawingml/2006/table">
            <a:tbl>
              <a:tblPr firstRow="1" bandRow="1">
                <a:tableStyleId>{5C22544A-7EE6-4342-B048-85BDC9FD1C3A}</a:tableStyleId>
              </a:tblPr>
              <a:tblGrid>
                <a:gridCol w="365760"/>
                <a:gridCol w="1005840"/>
                <a:gridCol w="1737360"/>
                <a:gridCol w="1737360"/>
              </a:tblGrid>
              <a:tr h="415636">
                <a:tc>
                  <a:txBody>
                    <a:bodyPr/>
                    <a:lstStyle/>
                    <a:p>
                      <a:pPr>
                        <a:defRPr sz="950" b="1">
                          <a:solidFill>
                            <a:srgbClr val="0F172A"/>
                          </a:solidFill>
                          <a:latin typeface="Arial"/>
                        </a:defRPr>
                      </a:pPr>
                    </a:p>
                  </a:txBody>
                  <a:tcPr marL="0" marR="0" marT="0" marB="0">
                    <a:solidFill>
                      <a:srgbClr val="F8FAFC"/>
                    </a:solidFill>
                  </a:tcPr>
                </a:tc>
                <a:tc>
                  <a:txBody>
                    <a:bodyPr/>
                    <a:lstStyle/>
                    <a:p>
                      <a:pPr>
                        <a:defRPr sz="950" b="1">
                          <a:solidFill>
                            <a:srgbClr val="0F172A"/>
                          </a:solidFill>
                          <a:latin typeface="Arial"/>
                        </a:defRPr>
                      </a:pPr>
                      <a:r>
                        <a:t>K value</a:t>
                      </a:r>
                    </a:p>
                  </a:txBody>
                  <a:tcPr marL="0" marR="0" marT="0" marB="0">
                    <a:solidFill>
                      <a:srgbClr val="F8FAFC"/>
                    </a:solidFill>
                  </a:tcPr>
                </a:tc>
                <a:tc>
                  <a:txBody>
                    <a:bodyPr/>
                    <a:lstStyle/>
                    <a:p>
                      <a:pPr>
                        <a:defRPr sz="950" b="1">
                          <a:solidFill>
                            <a:srgbClr val="0F172A"/>
                          </a:solidFill>
                          <a:latin typeface="Arial"/>
                        </a:defRPr>
                      </a:pPr>
                      <a:r>
                        <a:t>Precision</a:t>
                      </a:r>
                    </a:p>
                  </a:txBody>
                  <a:tcPr marL="0" marR="0" marT="0" marB="0">
                    <a:solidFill>
                      <a:srgbClr val="F8FAFC"/>
                    </a:solidFill>
                  </a:tcPr>
                </a:tc>
                <a:tc>
                  <a:txBody>
                    <a:bodyPr/>
                    <a:lstStyle/>
                    <a:p>
                      <a:pPr>
                        <a:defRPr sz="950" b="1">
                          <a:solidFill>
                            <a:srgbClr val="0F172A"/>
                          </a:solidFill>
                          <a:latin typeface="Arial"/>
                        </a:defRPr>
                      </a:pPr>
                      <a:r>
                        <a:t>Recall</a:t>
                      </a:r>
                    </a:p>
                  </a:txBody>
                  <a:tcPr marL="0" marR="0" marT="0" marB="0">
                    <a:solidFill>
                      <a:srgbClr val="F8FAFC"/>
                    </a:solidFill>
                  </a:tcPr>
                </a:tc>
              </a:tr>
              <a:tr h="415636">
                <a:tc>
                  <a:txBody>
                    <a:bodyPr/>
                    <a:lstStyle/>
                    <a:p>
                      <a:pPr>
                        <a:defRPr sz="900">
                          <a:solidFill>
                            <a:srgbClr val="0F172A"/>
                          </a:solidFill>
                          <a:latin typeface="Arial"/>
                        </a:defRPr>
                      </a:pPr>
                      <a:r>
                        <a:t>0</a:t>
                      </a:r>
                    </a:p>
                  </a:txBody>
                  <a:tcPr marL="0" marR="0" marT="0" marB="0">
                    <a:solidFill>
                      <a:srgbClr val="FFFFFF"/>
                    </a:solidFill>
                  </a:tcPr>
                </a:tc>
                <a:tc>
                  <a:txBody>
                    <a:bodyPr/>
                    <a:lstStyle/>
                    <a:p>
                      <a:pPr>
                        <a:defRPr sz="900">
                          <a:solidFill>
                            <a:srgbClr val="0F172A"/>
                          </a:solidFill>
                          <a:latin typeface="Arial"/>
                        </a:defRPr>
                      </a:pPr>
                      <a:r>
                        <a:t>1.0</a:t>
                      </a:r>
                    </a:p>
                  </a:txBody>
                  <a:tcPr marL="0" marR="0" marT="0" marB="0">
                    <a:solidFill>
                      <a:srgbClr val="FFFFFF"/>
                    </a:solidFill>
                  </a:tcPr>
                </a:tc>
                <a:tc>
                  <a:txBody>
                    <a:bodyPr/>
                    <a:lstStyle/>
                    <a:p>
                      <a:pPr>
                        <a:defRPr sz="900">
                          <a:solidFill>
                            <a:srgbClr val="0F172A"/>
                          </a:solidFill>
                          <a:latin typeface="Arial"/>
                        </a:defRPr>
                      </a:pPr>
                      <a:r>
                        <a:t>0.000000</a:t>
                      </a:r>
                    </a:p>
                  </a:txBody>
                  <a:tcPr marL="0" marR="0" marT="0" marB="0">
                    <a:solidFill>
                      <a:srgbClr val="FFFFFF"/>
                    </a:solidFill>
                  </a:tcPr>
                </a:tc>
                <a:tc>
                  <a:txBody>
                    <a:bodyPr/>
                    <a:lstStyle/>
                    <a:p>
                      <a:pPr>
                        <a:defRPr sz="900">
                          <a:solidFill>
                            <a:srgbClr val="0F172A"/>
                          </a:solidFill>
                          <a:latin typeface="Arial"/>
                        </a:defRPr>
                      </a:pPr>
                      <a:r>
                        <a:t>0.000000</a:t>
                      </a:r>
                    </a:p>
                  </a:txBody>
                  <a:tcPr marL="0" marR="0" marT="0" marB="0">
                    <a:solidFill>
                      <a:srgbClr val="FFFFFF"/>
                    </a:solidFill>
                  </a:tcPr>
                </a:tc>
              </a:tr>
              <a:tr h="415636">
                <a:tc>
                  <a:txBody>
                    <a:bodyPr/>
                    <a:lstStyle/>
                    <a:p>
                      <a:pPr>
                        <a:defRPr sz="900">
                          <a:solidFill>
                            <a:srgbClr val="0F172A"/>
                          </a:solidFill>
                          <a:latin typeface="Arial"/>
                        </a:defRPr>
                      </a:pPr>
                      <a:r>
                        <a:t>1</a:t>
                      </a:r>
                    </a:p>
                  </a:txBody>
                  <a:tcPr marL="0" marR="0" marT="0" marB="0">
                    <a:solidFill>
                      <a:srgbClr val="FFFFFF"/>
                    </a:solidFill>
                  </a:tcPr>
                </a:tc>
                <a:tc>
                  <a:txBody>
                    <a:bodyPr/>
                    <a:lstStyle/>
                    <a:p>
                      <a:pPr>
                        <a:defRPr sz="900">
                          <a:solidFill>
                            <a:srgbClr val="0F172A"/>
                          </a:solidFill>
                          <a:latin typeface="Arial"/>
                        </a:defRPr>
                      </a:pPr>
                      <a:r>
                        <a:t>2.0</a:t>
                      </a:r>
                    </a:p>
                  </a:txBody>
                  <a:tcPr marL="0" marR="0" marT="0" marB="0">
                    <a:solidFill>
                      <a:srgbClr val="FFFFFF"/>
                    </a:solidFill>
                  </a:tcPr>
                </a:tc>
                <a:tc>
                  <a:txBody>
                    <a:bodyPr/>
                    <a:lstStyle/>
                    <a:p>
                      <a:pPr>
                        <a:defRPr sz="900">
                          <a:solidFill>
                            <a:srgbClr val="0F172A"/>
                          </a:solidFill>
                          <a:latin typeface="Arial"/>
                        </a:defRPr>
                      </a:pPr>
                      <a:r>
                        <a:t>0.000708</a:t>
                      </a:r>
                    </a:p>
                  </a:txBody>
                  <a:tcPr marL="0" marR="0" marT="0" marB="0">
                    <a:solidFill>
                      <a:srgbClr val="FFFFFF"/>
                    </a:solidFill>
                  </a:tcPr>
                </a:tc>
                <a:tc>
                  <a:txBody>
                    <a:bodyPr/>
                    <a:lstStyle/>
                    <a:p>
                      <a:pPr>
                        <a:defRPr sz="900">
                          <a:solidFill>
                            <a:srgbClr val="0F172A"/>
                          </a:solidFill>
                          <a:latin typeface="Arial"/>
                        </a:defRPr>
                      </a:pPr>
                      <a:r>
                        <a:t>0.001416</a:t>
                      </a:r>
                    </a:p>
                  </a:txBody>
                  <a:tcPr marL="0" marR="0" marT="0" marB="0">
                    <a:solidFill>
                      <a:srgbClr val="FFFFFF"/>
                    </a:solidFill>
                  </a:tcPr>
                </a:tc>
              </a:tr>
              <a:tr h="415636">
                <a:tc>
                  <a:txBody>
                    <a:bodyPr/>
                    <a:lstStyle/>
                    <a:p>
                      <a:pPr>
                        <a:defRPr sz="900">
                          <a:solidFill>
                            <a:srgbClr val="0F172A"/>
                          </a:solidFill>
                          <a:latin typeface="Arial"/>
                        </a:defRPr>
                      </a:pPr>
                      <a:r>
                        <a:t>2</a:t>
                      </a:r>
                    </a:p>
                  </a:txBody>
                  <a:tcPr marL="0" marR="0" marT="0" marB="0">
                    <a:solidFill>
                      <a:srgbClr val="FFFFFF"/>
                    </a:solidFill>
                  </a:tcPr>
                </a:tc>
                <a:tc>
                  <a:txBody>
                    <a:bodyPr/>
                    <a:lstStyle/>
                    <a:p>
                      <a:pPr>
                        <a:defRPr sz="900">
                          <a:solidFill>
                            <a:srgbClr val="0F172A"/>
                          </a:solidFill>
                          <a:latin typeface="Arial"/>
                        </a:defRPr>
                      </a:pPr>
                      <a:r>
                        <a:t>3.0</a:t>
                      </a:r>
                    </a:p>
                  </a:txBody>
                  <a:tcPr marL="0" marR="0" marT="0" marB="0">
                    <a:solidFill>
                      <a:srgbClr val="FFFFFF"/>
                    </a:solidFill>
                  </a:tcPr>
                </a:tc>
                <a:tc>
                  <a:txBody>
                    <a:bodyPr/>
                    <a:lstStyle/>
                    <a:p>
                      <a:pPr>
                        <a:defRPr sz="900">
                          <a:solidFill>
                            <a:srgbClr val="0F172A"/>
                          </a:solidFill>
                          <a:latin typeface="Arial"/>
                        </a:defRPr>
                      </a:pPr>
                      <a:r>
                        <a:t>0.000472</a:t>
                      </a:r>
                    </a:p>
                  </a:txBody>
                  <a:tcPr marL="0" marR="0" marT="0" marB="0">
                    <a:solidFill>
                      <a:srgbClr val="FFFFFF"/>
                    </a:solidFill>
                  </a:tcPr>
                </a:tc>
                <a:tc>
                  <a:txBody>
                    <a:bodyPr/>
                    <a:lstStyle/>
                    <a:p>
                      <a:pPr>
                        <a:defRPr sz="900">
                          <a:solidFill>
                            <a:srgbClr val="0F172A"/>
                          </a:solidFill>
                          <a:latin typeface="Arial"/>
                        </a:defRPr>
                      </a:pPr>
                      <a:r>
                        <a:t>0.001416</a:t>
                      </a:r>
                    </a:p>
                  </a:txBody>
                  <a:tcPr marL="0" marR="0" marT="0" marB="0">
                    <a:solidFill>
                      <a:srgbClr val="FFFFFF"/>
                    </a:solidFill>
                  </a:tcPr>
                </a:tc>
              </a:tr>
              <a:tr h="415636">
                <a:tc>
                  <a:txBody>
                    <a:bodyPr/>
                    <a:lstStyle/>
                    <a:p>
                      <a:pPr>
                        <a:defRPr sz="900">
                          <a:solidFill>
                            <a:srgbClr val="0F172A"/>
                          </a:solidFill>
                          <a:latin typeface="Arial"/>
                        </a:defRPr>
                      </a:pPr>
                      <a:r>
                        <a:t>3</a:t>
                      </a:r>
                    </a:p>
                  </a:txBody>
                  <a:tcPr marL="0" marR="0" marT="0" marB="0">
                    <a:solidFill>
                      <a:srgbClr val="FFFFFF"/>
                    </a:solidFill>
                  </a:tcPr>
                </a:tc>
                <a:tc>
                  <a:txBody>
                    <a:bodyPr/>
                    <a:lstStyle/>
                    <a:p>
                      <a:pPr>
                        <a:defRPr sz="900">
                          <a:solidFill>
                            <a:srgbClr val="0F172A"/>
                          </a:solidFill>
                          <a:latin typeface="Arial"/>
                        </a:defRPr>
                      </a:pPr>
                      <a:r>
                        <a:t>4.0</a:t>
                      </a:r>
                    </a:p>
                  </a:txBody>
                  <a:tcPr marL="0" marR="0" marT="0" marB="0">
                    <a:solidFill>
                      <a:srgbClr val="FFFFFF"/>
                    </a:solidFill>
                  </a:tcPr>
                </a:tc>
                <a:tc>
                  <a:txBody>
                    <a:bodyPr/>
                    <a:lstStyle/>
                    <a:p>
                      <a:pPr>
                        <a:defRPr sz="900">
                          <a:solidFill>
                            <a:srgbClr val="0F172A"/>
                          </a:solidFill>
                          <a:latin typeface="Arial"/>
                        </a:defRPr>
                      </a:pPr>
                      <a:r>
                        <a:t>0.000354</a:t>
                      </a:r>
                    </a:p>
                  </a:txBody>
                  <a:tcPr marL="0" marR="0" marT="0" marB="0">
                    <a:solidFill>
                      <a:srgbClr val="FFFFFF"/>
                    </a:solidFill>
                  </a:tcPr>
                </a:tc>
                <a:tc>
                  <a:txBody>
                    <a:bodyPr/>
                    <a:lstStyle/>
                    <a:p>
                      <a:pPr>
                        <a:defRPr sz="900">
                          <a:solidFill>
                            <a:srgbClr val="0F172A"/>
                          </a:solidFill>
                          <a:latin typeface="Arial"/>
                        </a:defRPr>
                      </a:pPr>
                      <a:r>
                        <a:t>0.001416</a:t>
                      </a:r>
                    </a:p>
                  </a:txBody>
                  <a:tcPr marL="0" marR="0" marT="0" marB="0">
                    <a:solidFill>
                      <a:srgbClr val="FFFFFF"/>
                    </a:solidFill>
                  </a:tcPr>
                </a:tc>
              </a:tr>
              <a:tr h="415636">
                <a:tc>
                  <a:txBody>
                    <a:bodyPr/>
                    <a:lstStyle/>
                    <a:p>
                      <a:pPr>
                        <a:defRPr sz="900">
                          <a:solidFill>
                            <a:srgbClr val="0F172A"/>
                          </a:solidFill>
                          <a:latin typeface="Arial"/>
                        </a:defRPr>
                      </a:pPr>
                      <a:r>
                        <a:t>4</a:t>
                      </a:r>
                    </a:p>
                  </a:txBody>
                  <a:tcPr marL="0" marR="0" marT="0" marB="0">
                    <a:solidFill>
                      <a:srgbClr val="FFFFFF"/>
                    </a:solidFill>
                  </a:tcPr>
                </a:tc>
                <a:tc>
                  <a:txBody>
                    <a:bodyPr/>
                    <a:lstStyle/>
                    <a:p>
                      <a:pPr>
                        <a:defRPr sz="900">
                          <a:solidFill>
                            <a:srgbClr val="0F172A"/>
                          </a:solidFill>
                          <a:latin typeface="Arial"/>
                        </a:defRPr>
                      </a:pPr>
                      <a:r>
                        <a:t>5.0</a:t>
                      </a:r>
                    </a:p>
                  </a:txBody>
                  <a:tcPr marL="0" marR="0" marT="0" marB="0">
                    <a:solidFill>
                      <a:srgbClr val="FFFFFF"/>
                    </a:solidFill>
                  </a:tcPr>
                </a:tc>
                <a:tc>
                  <a:txBody>
                    <a:bodyPr/>
                    <a:lstStyle/>
                    <a:p>
                      <a:pPr>
                        <a:defRPr sz="900">
                          <a:solidFill>
                            <a:srgbClr val="0F172A"/>
                          </a:solidFill>
                          <a:latin typeface="Arial"/>
                        </a:defRPr>
                      </a:pPr>
                      <a:r>
                        <a:t>0.000567</a:t>
                      </a:r>
                    </a:p>
                  </a:txBody>
                  <a:tcPr marL="0" marR="0" marT="0" marB="0">
                    <a:solidFill>
                      <a:srgbClr val="FFFFFF"/>
                    </a:solidFill>
                  </a:tcPr>
                </a:tc>
                <a:tc>
                  <a:txBody>
                    <a:bodyPr/>
                    <a:lstStyle/>
                    <a:p>
                      <a:pPr>
                        <a:defRPr sz="900">
                          <a:solidFill>
                            <a:srgbClr val="0F172A"/>
                          </a:solidFill>
                          <a:latin typeface="Arial"/>
                        </a:defRPr>
                      </a:pPr>
                      <a:r>
                        <a:t>0.002833</a:t>
                      </a:r>
                    </a:p>
                  </a:txBody>
                  <a:tcPr marL="0" marR="0" marT="0" marB="0">
                    <a:solidFill>
                      <a:srgbClr val="FFFFFF"/>
                    </a:solidFill>
                  </a:tcPr>
                </a:tc>
              </a:tr>
              <a:tr h="415636">
                <a:tc>
                  <a:txBody>
                    <a:bodyPr/>
                    <a:lstStyle/>
                    <a:p>
                      <a:pPr>
                        <a:defRPr sz="900">
                          <a:solidFill>
                            <a:srgbClr val="0F172A"/>
                          </a:solidFill>
                          <a:latin typeface="Arial"/>
                        </a:defRPr>
                      </a:pPr>
                      <a:r>
                        <a:t>5</a:t>
                      </a:r>
                    </a:p>
                  </a:txBody>
                  <a:tcPr marL="0" marR="0" marT="0" marB="0">
                    <a:solidFill>
                      <a:srgbClr val="FFFFFF"/>
                    </a:solidFill>
                  </a:tcPr>
                </a:tc>
                <a:tc>
                  <a:txBody>
                    <a:bodyPr/>
                    <a:lstStyle/>
                    <a:p>
                      <a:pPr>
                        <a:defRPr sz="900">
                          <a:solidFill>
                            <a:srgbClr val="0F172A"/>
                          </a:solidFill>
                          <a:latin typeface="Arial"/>
                        </a:defRPr>
                      </a:pPr>
                      <a:r>
                        <a:t>6.0</a:t>
                      </a:r>
                    </a:p>
                  </a:txBody>
                  <a:tcPr marL="0" marR="0" marT="0" marB="0">
                    <a:solidFill>
                      <a:srgbClr val="FFFFFF"/>
                    </a:solidFill>
                  </a:tcPr>
                </a:tc>
                <a:tc>
                  <a:txBody>
                    <a:bodyPr/>
                    <a:lstStyle/>
                    <a:p>
                      <a:pPr>
                        <a:defRPr sz="900">
                          <a:solidFill>
                            <a:srgbClr val="0F172A"/>
                          </a:solidFill>
                          <a:latin typeface="Arial"/>
                        </a:defRPr>
                      </a:pPr>
                      <a:r>
                        <a:t>0.000472</a:t>
                      </a:r>
                    </a:p>
                  </a:txBody>
                  <a:tcPr marL="0" marR="0" marT="0" marB="0">
                    <a:solidFill>
                      <a:srgbClr val="FFFFFF"/>
                    </a:solidFill>
                  </a:tcPr>
                </a:tc>
                <a:tc>
                  <a:txBody>
                    <a:bodyPr/>
                    <a:lstStyle/>
                    <a:p>
                      <a:pPr>
                        <a:defRPr sz="900">
                          <a:solidFill>
                            <a:srgbClr val="0F172A"/>
                          </a:solidFill>
                          <a:latin typeface="Arial"/>
                        </a:defRPr>
                      </a:pPr>
                      <a:r>
                        <a:t>0.002833</a:t>
                      </a:r>
                    </a:p>
                  </a:txBody>
                  <a:tcPr marL="0" marR="0" marT="0" marB="0">
                    <a:solidFill>
                      <a:srgbClr val="FFFFFF"/>
                    </a:solidFill>
                  </a:tcPr>
                </a:tc>
              </a:tr>
              <a:tr h="415636">
                <a:tc>
                  <a:txBody>
                    <a:bodyPr/>
                    <a:lstStyle/>
                    <a:p>
                      <a:pPr>
                        <a:defRPr sz="900">
                          <a:solidFill>
                            <a:srgbClr val="0F172A"/>
                          </a:solidFill>
                          <a:latin typeface="Arial"/>
                        </a:defRPr>
                      </a:pPr>
                      <a:r>
                        <a:t>6</a:t>
                      </a:r>
                    </a:p>
                  </a:txBody>
                  <a:tcPr marL="0" marR="0" marT="0" marB="0">
                    <a:solidFill>
                      <a:srgbClr val="FFFFFF"/>
                    </a:solidFill>
                  </a:tcPr>
                </a:tc>
                <a:tc>
                  <a:txBody>
                    <a:bodyPr/>
                    <a:lstStyle/>
                    <a:p>
                      <a:pPr>
                        <a:defRPr sz="900">
                          <a:solidFill>
                            <a:srgbClr val="0F172A"/>
                          </a:solidFill>
                          <a:latin typeface="Arial"/>
                        </a:defRPr>
                      </a:pPr>
                      <a:r>
                        <a:t>7.0</a:t>
                      </a:r>
                    </a:p>
                  </a:txBody>
                  <a:tcPr marL="0" marR="0" marT="0" marB="0">
                    <a:solidFill>
                      <a:srgbClr val="FFFFFF"/>
                    </a:solidFill>
                  </a:tcPr>
                </a:tc>
                <a:tc>
                  <a:txBody>
                    <a:bodyPr/>
                    <a:lstStyle/>
                    <a:p>
                      <a:pPr>
                        <a:defRPr sz="900">
                          <a:solidFill>
                            <a:srgbClr val="0F172A"/>
                          </a:solidFill>
                          <a:latin typeface="Arial"/>
                        </a:defRPr>
                      </a:pPr>
                      <a:r>
                        <a:t>0.000607</a:t>
                      </a:r>
                    </a:p>
                  </a:txBody>
                  <a:tcPr marL="0" marR="0" marT="0" marB="0">
                    <a:solidFill>
                      <a:srgbClr val="FFFFFF"/>
                    </a:solidFill>
                  </a:tcPr>
                </a:tc>
                <a:tc>
                  <a:txBody>
                    <a:bodyPr/>
                    <a:lstStyle/>
                    <a:p>
                      <a:pPr>
                        <a:defRPr sz="900">
                          <a:solidFill>
                            <a:srgbClr val="0F172A"/>
                          </a:solidFill>
                          <a:latin typeface="Arial"/>
                        </a:defRPr>
                      </a:pPr>
                      <a:r>
                        <a:t>0.004249</a:t>
                      </a:r>
                    </a:p>
                  </a:txBody>
                  <a:tcPr marL="0" marR="0" marT="0" marB="0">
                    <a:solidFill>
                      <a:srgbClr val="FFFFFF"/>
                    </a:solidFill>
                  </a:tcPr>
                </a:tc>
              </a:tr>
              <a:tr h="415636">
                <a:tc>
                  <a:txBody>
                    <a:bodyPr/>
                    <a:lstStyle/>
                    <a:p>
                      <a:pPr>
                        <a:defRPr sz="900">
                          <a:solidFill>
                            <a:srgbClr val="0F172A"/>
                          </a:solidFill>
                          <a:latin typeface="Arial"/>
                        </a:defRPr>
                      </a:pPr>
                      <a:r>
                        <a:t>7</a:t>
                      </a:r>
                    </a:p>
                  </a:txBody>
                  <a:tcPr marL="0" marR="0" marT="0" marB="0">
                    <a:solidFill>
                      <a:srgbClr val="FFFFFF"/>
                    </a:solidFill>
                  </a:tcPr>
                </a:tc>
                <a:tc>
                  <a:txBody>
                    <a:bodyPr/>
                    <a:lstStyle/>
                    <a:p>
                      <a:pPr>
                        <a:defRPr sz="900">
                          <a:solidFill>
                            <a:srgbClr val="0F172A"/>
                          </a:solidFill>
                          <a:latin typeface="Arial"/>
                        </a:defRPr>
                      </a:pPr>
                      <a:r>
                        <a:t>8.0</a:t>
                      </a:r>
                    </a:p>
                  </a:txBody>
                  <a:tcPr marL="0" marR="0" marT="0" marB="0">
                    <a:solidFill>
                      <a:srgbClr val="FFFFFF"/>
                    </a:solidFill>
                  </a:tcPr>
                </a:tc>
                <a:tc>
                  <a:txBody>
                    <a:bodyPr/>
                    <a:lstStyle/>
                    <a:p>
                      <a:pPr>
                        <a:defRPr sz="900">
                          <a:solidFill>
                            <a:srgbClr val="0F172A"/>
                          </a:solidFill>
                          <a:latin typeface="Arial"/>
                        </a:defRPr>
                      </a:pPr>
                      <a:r>
                        <a:t>0.000531</a:t>
                      </a:r>
                    </a:p>
                  </a:txBody>
                  <a:tcPr marL="0" marR="0" marT="0" marB="0">
                    <a:solidFill>
                      <a:srgbClr val="FFFFFF"/>
                    </a:solidFill>
                  </a:tcPr>
                </a:tc>
                <a:tc>
                  <a:txBody>
                    <a:bodyPr/>
                    <a:lstStyle/>
                    <a:p>
                      <a:pPr>
                        <a:defRPr sz="900">
                          <a:solidFill>
                            <a:srgbClr val="0F172A"/>
                          </a:solidFill>
                          <a:latin typeface="Arial"/>
                        </a:defRPr>
                      </a:pPr>
                      <a:r>
                        <a:t>0.004249</a:t>
                      </a:r>
                    </a:p>
                  </a:txBody>
                  <a:tcPr marL="0" marR="0" marT="0" marB="0">
                    <a:solidFill>
                      <a:srgbClr val="FFFFFF"/>
                    </a:solidFill>
                  </a:tcPr>
                </a:tc>
              </a:tr>
              <a:tr h="415636">
                <a:tc>
                  <a:txBody>
                    <a:bodyPr/>
                    <a:lstStyle/>
                    <a:p>
                      <a:pPr>
                        <a:defRPr sz="900">
                          <a:solidFill>
                            <a:srgbClr val="0F172A"/>
                          </a:solidFill>
                          <a:latin typeface="Arial"/>
                        </a:defRPr>
                      </a:pPr>
                      <a:r>
                        <a:t>8</a:t>
                      </a:r>
                    </a:p>
                  </a:txBody>
                  <a:tcPr marL="0" marR="0" marT="0" marB="0">
                    <a:solidFill>
                      <a:srgbClr val="FFFFFF"/>
                    </a:solidFill>
                  </a:tcPr>
                </a:tc>
                <a:tc>
                  <a:txBody>
                    <a:bodyPr/>
                    <a:lstStyle/>
                    <a:p>
                      <a:pPr>
                        <a:defRPr sz="900">
                          <a:solidFill>
                            <a:srgbClr val="0F172A"/>
                          </a:solidFill>
                          <a:latin typeface="Arial"/>
                        </a:defRPr>
                      </a:pPr>
                      <a:r>
                        <a:t>9.0</a:t>
                      </a:r>
                    </a:p>
                  </a:txBody>
                  <a:tcPr marL="0" marR="0" marT="0" marB="0">
                    <a:solidFill>
                      <a:srgbClr val="FFFFFF"/>
                    </a:solidFill>
                  </a:tcPr>
                </a:tc>
                <a:tc>
                  <a:txBody>
                    <a:bodyPr/>
                    <a:lstStyle/>
                    <a:p>
                      <a:pPr>
                        <a:defRPr sz="900">
                          <a:solidFill>
                            <a:srgbClr val="0F172A"/>
                          </a:solidFill>
                          <a:latin typeface="Arial"/>
                        </a:defRPr>
                      </a:pPr>
                      <a:r>
                        <a:t>0.000472</a:t>
                      </a:r>
                    </a:p>
                  </a:txBody>
                  <a:tcPr marL="0" marR="0" marT="0" marB="0">
                    <a:solidFill>
                      <a:srgbClr val="FFFFFF"/>
                    </a:solidFill>
                  </a:tcPr>
                </a:tc>
                <a:tc>
                  <a:txBody>
                    <a:bodyPr/>
                    <a:lstStyle/>
                    <a:p>
                      <a:pPr>
                        <a:defRPr sz="900">
                          <a:solidFill>
                            <a:srgbClr val="0F172A"/>
                          </a:solidFill>
                          <a:latin typeface="Arial"/>
                        </a:defRPr>
                      </a:pPr>
                      <a:r>
                        <a:t>0.004249</a:t>
                      </a:r>
                    </a:p>
                  </a:txBody>
                  <a:tcPr marL="0" marR="0" marT="0" marB="0">
                    <a:solidFill>
                      <a:srgbClr val="FFFFFF"/>
                    </a:solidFill>
                  </a:tcPr>
                </a:tc>
              </a:tr>
              <a:tr h="415640">
                <a:tc>
                  <a:txBody>
                    <a:bodyPr/>
                    <a:lstStyle/>
                    <a:p>
                      <a:pPr>
                        <a:defRPr sz="900">
                          <a:solidFill>
                            <a:srgbClr val="0F172A"/>
                          </a:solidFill>
                          <a:latin typeface="Arial"/>
                        </a:defRPr>
                      </a:pPr>
                      <a:r>
                        <a:t>9</a:t>
                      </a:r>
                    </a:p>
                  </a:txBody>
                  <a:tcPr marL="0" marR="0" marT="0" marB="0">
                    <a:solidFill>
                      <a:srgbClr val="FFFFFF"/>
                    </a:solidFill>
                  </a:tcPr>
                </a:tc>
                <a:tc>
                  <a:txBody>
                    <a:bodyPr/>
                    <a:lstStyle/>
                    <a:p>
                      <a:pPr>
                        <a:defRPr sz="900">
                          <a:solidFill>
                            <a:srgbClr val="0F172A"/>
                          </a:solidFill>
                          <a:latin typeface="Arial"/>
                        </a:defRPr>
                      </a:pPr>
                      <a:r>
                        <a:t>10.0</a:t>
                      </a:r>
                    </a:p>
                  </a:txBody>
                  <a:tcPr marL="0" marR="0" marT="0" marB="0">
                    <a:solidFill>
                      <a:srgbClr val="FFFFFF"/>
                    </a:solidFill>
                  </a:tcPr>
                </a:tc>
                <a:tc>
                  <a:txBody>
                    <a:bodyPr/>
                    <a:lstStyle/>
                    <a:p>
                      <a:pPr>
                        <a:defRPr sz="900">
                          <a:solidFill>
                            <a:srgbClr val="0F172A"/>
                          </a:solidFill>
                          <a:latin typeface="Arial"/>
                        </a:defRPr>
                      </a:pPr>
                      <a:r>
                        <a:t>0.000425</a:t>
                      </a:r>
                    </a:p>
                  </a:txBody>
                  <a:tcPr marL="0" marR="0" marT="0" marB="0">
                    <a:solidFill>
                      <a:srgbClr val="FFFFFF"/>
                    </a:solidFill>
                  </a:tcPr>
                </a:tc>
                <a:tc>
                  <a:txBody>
                    <a:bodyPr/>
                    <a:lstStyle/>
                    <a:p>
                      <a:pPr>
                        <a:defRPr sz="900">
                          <a:solidFill>
                            <a:srgbClr val="0F172A"/>
                          </a:solidFill>
                          <a:latin typeface="Arial"/>
                        </a:defRPr>
                      </a:pPr>
                      <a:r>
                        <a:t>0.004249</a:t>
                      </a:r>
                    </a:p>
                  </a:txBody>
                  <a:tcPr marL="0" marR="0" marT="0" marB="0">
                    <a:solidFill>
                      <a:srgbClr val="FFFFFF"/>
                    </a:solidFill>
                  </a:tcPr>
                </a:tc>
              </a:tr>
            </a:tbl>
          </a:graphicData>
        </a:graphic>
      </p:graphicFrame>
      <p:pic>
        <p:nvPicPr>
          <p:cNvPr id="5" name="Picture 4" descr="cell_44_out_1.png"/>
          <p:cNvPicPr>
            <a:picLocks noChangeAspect="1"/>
          </p:cNvPicPr>
          <p:nvPr/>
        </p:nvPicPr>
        <p:blipFill>
          <a:blip r:embed="rId2"/>
          <a:stretch>
            <a:fillRect/>
          </a:stretch>
        </p:blipFill>
        <p:spPr>
          <a:xfrm>
            <a:off x="5943600" y="1234440"/>
            <a:ext cx="5486400" cy="3423628"/>
          </a:xfrm>
          <a:prstGeom prst="rect">
            <a:avLst/>
          </a:prstGeom>
        </p:spPr>
      </p:pic>
      <p:sp>
        <p:nvSpPr>
          <p:cNvPr id="6" name="Rectangle 5"/>
          <p:cNvSpPr/>
          <p:nvPr/>
        </p:nvSpPr>
        <p:spPr>
          <a:xfrm>
            <a:off x="731520" y="5897880"/>
            <a:ext cx="10698480" cy="73152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a:solidFill>
                  <a:srgbClr val="334155"/>
                </a:solidFill>
                <a:latin typeface="Arial"/>
              </a:defRPr>
            </a:pPr>
            <a:r>
              <a:t>Evaluation Analysis: Low numerical precision and recall reflect extreme catalog sparsity across 178K recipes. While exact historical overlap is small, textual similarity successfully captures thematic culinary preferences.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SUMMARY AND FUTURE DIRECTIONS</a:t>
            </a:r>
          </a:p>
          <a:p>
            <a:pPr>
              <a:defRPr sz="2600" b="1">
                <a:solidFill>
                  <a:srgbClr val="0F172A"/>
                </a:solidFill>
                <a:latin typeface="Arial"/>
              </a:defRPr>
            </a:pPr>
            <a:r>
              <a:t>Conclusions</a:t>
            </a:r>
          </a:p>
        </p:txBody>
      </p:sp>
      <p:sp>
        <p:nvSpPr>
          <p:cNvPr id="4" name="Rectangle 3"/>
          <p:cNvSpPr/>
          <p:nvPr/>
        </p:nvSpPr>
        <p:spPr>
          <a:xfrm>
            <a:off x="731520" y="1371600"/>
            <a:ext cx="5120640" cy="219456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Content Based Model Limitations</a:t>
            </a:r>
          </a:p>
          <a:p>
            <a:pPr>
              <a:spcBef>
                <a:spcPts val="800"/>
              </a:spcBef>
              <a:defRPr sz="1050">
                <a:solidFill>
                  <a:srgbClr val="334155"/>
                </a:solidFill>
                <a:latin typeface="Arial"/>
              </a:defRPr>
            </a:pPr>
            <a:r>
              <a:t>In my evaluation of the content based recommender, predictive precision was constrained by narrative descriptions. Recipe text descriptions provided by home cooks frequently focus on casual storytelling and personal anecdotes rather than standardized ingredients, leading to vocabulary dilution in TF IDF feature vectors.</a:t>
            </a:r>
          </a:p>
        </p:txBody>
      </p:sp>
      <p:sp>
        <p:nvSpPr>
          <p:cNvPr id="5" name="Rectangle 4"/>
          <p:cNvSpPr/>
          <p:nvPr/>
        </p:nvSpPr>
        <p:spPr>
          <a:xfrm>
            <a:off x="731520" y="1371600"/>
            <a:ext cx="5120640" cy="73152"/>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371600"/>
            <a:ext cx="5212080" cy="219456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Benefits of Cluster Based Collaborative Filtering</a:t>
            </a:r>
          </a:p>
          <a:p>
            <a:pPr>
              <a:spcBef>
                <a:spcPts val="800"/>
              </a:spcBef>
              <a:defRPr sz="1050">
                <a:solidFill>
                  <a:srgbClr val="334155"/>
                </a:solidFill>
                <a:latin typeface="Arial"/>
              </a:defRPr>
            </a:pPr>
            <a:r>
              <a:t>My findings demonstrate that cluster based collaborative filtering offers substantial personalization gains. By partitioning the interaction matrix with Cosine KMeans, I eliminated global sparsity noise and isolated cohesive user communities, attaining a strong MAE of 0.3451 with KNNWithZScore while delivering diverse, non trivial recommendations.</a:t>
            </a:r>
          </a:p>
        </p:txBody>
      </p:sp>
      <p:sp>
        <p:nvSpPr>
          <p:cNvPr id="7" name="Rectangle 6"/>
          <p:cNvSpPr/>
          <p:nvPr/>
        </p:nvSpPr>
        <p:spPr>
          <a:xfrm>
            <a:off x="6217920" y="1371600"/>
            <a:ext cx="5212080" cy="73152"/>
          </a:xfrm>
          <a:prstGeom prst="rect">
            <a:avLst/>
          </a:prstGeom>
          <a:solidFill>
            <a:srgbClr val="166534"/>
          </a:solidFill>
          <a:ln>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840480"/>
            <a:ext cx="5120640" cy="237744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Rating Imbalance &amp; Popularity Bias in Collaborative Filtering</a:t>
            </a:r>
          </a:p>
          <a:p>
            <a:pPr>
              <a:spcBef>
                <a:spcPts val="800"/>
              </a:spcBef>
              <a:defRPr sz="1050">
                <a:solidFill>
                  <a:srgbClr val="334155"/>
                </a:solidFill>
                <a:latin typeface="Arial"/>
              </a:defRPr>
            </a:pPr>
            <a:r>
              <a:t>While unconstrained SVD achieved low error (MAE 0.3491), my analysis revealed that it produced nearly identical recommendations across diverse users. Because 72 percent of ratings in the dataset are 5 star reviews, standard collaborative filtering converges toward mainstream favorites unless constrained by clustering.</a:t>
            </a:r>
          </a:p>
        </p:txBody>
      </p:sp>
      <p:sp>
        <p:nvSpPr>
          <p:cNvPr id="9" name="Rectangle 8"/>
          <p:cNvSpPr/>
          <p:nvPr/>
        </p:nvSpPr>
        <p:spPr>
          <a:xfrm>
            <a:off x="731520" y="3840480"/>
            <a:ext cx="5120640" cy="73152"/>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840480"/>
            <a:ext cx="5212080" cy="237744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Future Research &amp; Hybrid Framework</a:t>
            </a:r>
          </a:p>
          <a:p>
            <a:pPr>
              <a:spcBef>
                <a:spcPts val="800"/>
              </a:spcBef>
              <a:defRPr sz="1050">
                <a:solidFill>
                  <a:srgbClr val="334155"/>
                </a:solidFill>
                <a:latin typeface="Arial"/>
              </a:defRPr>
            </a:pPr>
            <a:r>
              <a:t>As next steps, I propose a two stage hybrid recommender combining Cluster Based candidate retrieval with semantic ingredient re ranking. Incorporating structured dietary metadata, cooking duration constraints, and explicit user allergen filters will yield production ready recipe personalization.</a:t>
            </a:r>
          </a:p>
        </p:txBody>
      </p:sp>
      <p:sp>
        <p:nvSpPr>
          <p:cNvPr id="11" name="Rectangle 10"/>
          <p:cNvSpPr/>
          <p:nvPr/>
        </p:nvSpPr>
        <p:spPr>
          <a:xfrm>
            <a:off x="6217920" y="3840480"/>
            <a:ext cx="5212080" cy="73152"/>
          </a:xfrm>
          <a:prstGeom prst="rect">
            <a:avLst/>
          </a:prstGeom>
          <a:solidFill>
            <a:srgbClr val="6D28D9"/>
          </a:solidFill>
          <a:ln>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