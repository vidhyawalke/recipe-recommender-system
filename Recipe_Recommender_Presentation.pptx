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645920" y="1097280"/>
            <a:ext cx="8899855" cy="4663440"/>
          </a:xfrm>
          <a:prstGeom prst="roundRect">
            <a:avLst/>
          </a:prstGeom>
          <a:solidFill>
            <a:srgbClr val="FFFFFF"/>
          </a:solidFill>
          <a:ln w="1905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11680" y="1234440"/>
            <a:ext cx="8168335" cy="45720"/>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931920" y="1463040"/>
            <a:ext cx="4297680" cy="329184"/>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A56A0"/>
                </a:solidFill>
                <a:latin typeface="Arial"/>
              </a:defRPr>
            </a:pPr>
            <a:r>
              <a:t>FOOD.COM RECIPE RECOMMENDATION SYSTEM</a:t>
            </a:r>
          </a:p>
        </p:txBody>
      </p:sp>
      <p:sp>
        <p:nvSpPr>
          <p:cNvPr id="6" name="TextBox 5"/>
          <p:cNvSpPr txBox="1"/>
          <p:nvPr/>
        </p:nvSpPr>
        <p:spPr>
          <a:xfrm>
            <a:off x="2011680" y="1965960"/>
            <a:ext cx="8168335" cy="3474720"/>
          </a:xfrm>
          <a:prstGeom prst="rect">
            <a:avLst/>
          </a:prstGeom>
          <a:noFill/>
        </p:spPr>
        <p:txBody>
          <a:bodyPr wrap="square">
            <a:spAutoFit/>
          </a:bodyPr>
          <a:lstStyle/>
          <a:p>
            <a:pPr algn="ctr">
              <a:defRPr sz="3600" b="1">
                <a:solidFill>
                  <a:srgbClr val="18202F"/>
                </a:solidFill>
                <a:latin typeface="Arial"/>
              </a:defRPr>
            </a:pPr>
            <a:r>
              <a:t>Recipe Recommendations</a:t>
            </a:r>
          </a:p>
          <a:p>
            <a:pPr algn="ctr">
              <a:spcBef>
                <a:spcPts val="600"/>
              </a:spcBef>
              <a:defRPr sz="1600">
                <a:solidFill>
                  <a:srgbClr val="1A56A0"/>
                </a:solidFill>
                <a:latin typeface="Arial"/>
              </a:defRPr>
            </a:pPr>
            <a:r>
              <a:t>Collaborative Filtering, Clustering, and Content Based Methods on Food.com</a:t>
            </a:r>
          </a:p>
        </p:txBody>
      </p:sp>
      <p:sp>
        <p:nvSpPr>
          <p:cNvPr id="7" name="Rectangle 6"/>
          <p:cNvSpPr/>
          <p:nvPr/>
        </p:nvSpPr>
        <p:spPr>
          <a:xfrm>
            <a:off x="4389120" y="3383280"/>
            <a:ext cx="3383280" cy="18288"/>
          </a:xfrm>
          <a:prstGeom prst="rect">
            <a:avLst/>
          </a:prstGeom>
          <a:solidFill>
            <a:srgbClr val="D7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3749039"/>
            <a:ext cx="5212080" cy="1554480"/>
          </a:xfrm>
          <a:prstGeom prst="roundRect">
            <a:avLst/>
          </a:prstGeom>
          <a:solidFill>
            <a:srgbClr val="F8FAFC"/>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8202F"/>
                </a:solidFill>
                <a:latin typeface="Arial"/>
              </a:defRPr>
            </a:pPr>
            <a:r>
              <a:t>Vidhya Walke</a:t>
            </a:r>
          </a:p>
          <a:p>
            <a:pPr algn="ctr">
              <a:spcBef>
                <a:spcPts val="200"/>
              </a:spcBef>
              <a:defRPr sz="1300" b="1">
                <a:solidFill>
                  <a:srgbClr val="1A56A0"/>
                </a:solidFill>
                <a:latin typeface="Arial"/>
              </a:defRPr>
            </a:pPr>
            <a:r>
              <a:t>MSc Data Science</a:t>
            </a:r>
          </a:p>
          <a:p>
            <a:pPr algn="ctr">
              <a:spcBef>
                <a:spcPts val="400"/>
              </a:spcBef>
              <a:defRPr sz="1000">
                <a:solidFill>
                  <a:srgbClr val="5A6978"/>
                </a:solidFill>
                <a:latin typeface="Arial"/>
              </a:defRPr>
            </a:pPr>
            <a:r>
              <a:t>Food.com Benchmark Dataset: 180K Recipes and 1.13M User Interactions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RESEARCH MOTIVATION &amp; SCOPE</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Introduction &amp; Research Objectives</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02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417320"/>
            <a:ext cx="5212080" cy="73152"/>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81912"/>
            <a:ext cx="4846320" cy="2075688"/>
          </a:xfrm>
          <a:prstGeom prst="rect">
            <a:avLst/>
          </a:prstGeom>
          <a:noFill/>
        </p:spPr>
        <p:txBody>
          <a:bodyPr wrap="square">
            <a:spAutoFit/>
          </a:bodyPr>
          <a:lstStyle/>
          <a:p>
            <a:pPr>
              <a:defRPr sz="1300" b="1">
                <a:solidFill>
                  <a:srgbClr val="18202F"/>
                </a:solidFill>
                <a:latin typeface="Arial"/>
              </a:defRPr>
            </a:pPr>
            <a:r>
              <a:t>01  Research Motivation &amp; The Recipe Problem</a:t>
            </a:r>
          </a:p>
          <a:p>
            <a:pPr>
              <a:spcBef>
                <a:spcPts val="800"/>
              </a:spcBef>
              <a:defRPr sz="1050">
                <a:solidFill>
                  <a:srgbClr val="18202F"/>
                </a:solidFill>
                <a:latin typeface="Arial"/>
              </a:defRPr>
            </a:pPr>
            <a:r>
              <a:t>Online culinary websites feature hundreds of thousands of candidate recipes. Navigating this vast space creates substantial choice paralysis for everyday cooks seeking relevant meals. Building accurate, personalized recommenders is essential to surface dishes matching individual dietary habits and taste preferences.</a:t>
            </a:r>
          </a:p>
        </p:txBody>
      </p:sp>
      <p:sp>
        <p:nvSpPr>
          <p:cNvPr id="12" name="Rounded Rectangle 11"/>
          <p:cNvSpPr/>
          <p:nvPr/>
        </p:nvSpPr>
        <p:spPr>
          <a:xfrm>
            <a:off x="62179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212080" cy="73152"/>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4846320" cy="2075688"/>
          </a:xfrm>
          <a:prstGeom prst="rect">
            <a:avLst/>
          </a:prstGeom>
          <a:noFill/>
        </p:spPr>
        <p:txBody>
          <a:bodyPr wrap="square">
            <a:spAutoFit/>
          </a:bodyPr>
          <a:lstStyle/>
          <a:p>
            <a:pPr>
              <a:defRPr sz="1300" b="1">
                <a:solidFill>
                  <a:srgbClr val="18202F"/>
                </a:solidFill>
                <a:latin typeface="Arial"/>
              </a:defRPr>
            </a:pPr>
            <a:r>
              <a:t>02  Research Objectives &amp; Tasks</a:t>
            </a:r>
          </a:p>
          <a:p>
            <a:pPr>
              <a:spcBef>
                <a:spcPts val="800"/>
              </a:spcBef>
              <a:defRPr sz="1050">
                <a:solidFill>
                  <a:srgbClr val="18202F"/>
                </a:solidFill>
                <a:latin typeface="Arial"/>
              </a:defRPr>
            </a:pPr>
            <a:r>
              <a:t>As an MSc Data Science student researcher, I designed a multi model recommendation pipeline on the Food.com dataset. My primary goal was to predict user recipe ratings accurately while generating personalized, non trivial meal suggestions across memory based, latent factor, and content based methods.</a:t>
            </a:r>
          </a:p>
        </p:txBody>
      </p:sp>
      <p:sp>
        <p:nvSpPr>
          <p:cNvPr id="15" name="Rounded Rectangle 14"/>
          <p:cNvSpPr/>
          <p:nvPr/>
        </p:nvSpPr>
        <p:spPr>
          <a:xfrm>
            <a:off x="7315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931920"/>
            <a:ext cx="5212080" cy="7315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96512"/>
            <a:ext cx="4846320" cy="2075688"/>
          </a:xfrm>
          <a:prstGeom prst="rect">
            <a:avLst/>
          </a:prstGeom>
          <a:noFill/>
        </p:spPr>
        <p:txBody>
          <a:bodyPr wrap="square">
            <a:spAutoFit/>
          </a:bodyPr>
          <a:lstStyle/>
          <a:p>
            <a:pPr>
              <a:defRPr sz="1300" b="1">
                <a:solidFill>
                  <a:srgbClr val="18202F"/>
                </a:solidFill>
                <a:latin typeface="Arial"/>
              </a:defRPr>
            </a:pPr>
            <a:r>
              <a:t>03  Algorithmic Approaches Investigated</a:t>
            </a:r>
          </a:p>
          <a:p>
            <a:pPr>
              <a:spcBef>
                <a:spcPts val="800"/>
              </a:spcBef>
              <a:defRPr sz="1050">
                <a:solidFill>
                  <a:srgbClr val="18202F"/>
                </a:solidFill>
                <a:latin typeface="Arial"/>
              </a:defRPr>
            </a:pPr>
            <a:r>
              <a:t>I evaluated collaborative filtering neighborhood models (KNNBasic, KNNWithMeans, KNNWithZScore, KNNBaseline) and matrix factorization (SVD, SVDpp, NMF) using Scikit Surprise. In addition, I formulated a personalized Content Based model using TF IDF token representations from recipe descriptions.</a:t>
            </a:r>
          </a:p>
        </p:txBody>
      </p:sp>
      <p:sp>
        <p:nvSpPr>
          <p:cNvPr id="18" name="Rounded Rectangle 17"/>
          <p:cNvSpPr/>
          <p:nvPr/>
        </p:nvSpPr>
        <p:spPr>
          <a:xfrm>
            <a:off x="62179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3931920"/>
            <a:ext cx="5212080" cy="73152"/>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96512"/>
            <a:ext cx="4846320" cy="2075688"/>
          </a:xfrm>
          <a:prstGeom prst="rect">
            <a:avLst/>
          </a:prstGeom>
          <a:noFill/>
        </p:spPr>
        <p:txBody>
          <a:bodyPr wrap="square">
            <a:spAutoFit/>
          </a:bodyPr>
          <a:lstStyle/>
          <a:p>
            <a:pPr>
              <a:defRPr sz="1300" b="1">
                <a:solidFill>
                  <a:srgbClr val="18202F"/>
                </a:solidFill>
                <a:latin typeface="Arial"/>
              </a:defRPr>
            </a:pPr>
            <a:r>
              <a:t>04  Unsupervised Clustering Strategy</a:t>
            </a:r>
          </a:p>
          <a:p>
            <a:pPr>
              <a:spcBef>
                <a:spcPts val="800"/>
              </a:spcBef>
              <a:defRPr sz="1050">
                <a:solidFill>
                  <a:srgbClr val="18202F"/>
                </a:solidFill>
                <a:latin typeface="Arial"/>
              </a:defRPr>
            </a:pPr>
            <a:r>
              <a:t>To resolve extreme catalog sparsity and rating imbalance (where 72 percent of reviews are 5 stars), I implemented clustering via Surprise CoClustering and NLTK Cosine KMeans. This allowed me to isolate homogeneous taste sub communities and dramatically boost recommendation diversity.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CULINARY BENCHMARK DATASET</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Data Description</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03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71600"/>
            <a:ext cx="10728655" cy="48463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914400" y="1554480"/>
          <a:ext cx="10362895" cy="4389120"/>
        </p:xfrm>
        <a:graphic>
          <a:graphicData uri="http://schemas.openxmlformats.org/drawingml/2006/table">
            <a:tbl>
              <a:tblPr firstRow="1" bandRow="1">
                <a:tableStyleId>{5C22544A-7EE6-4342-B048-85BDC9FD1C3A}</a:tableStyleId>
              </a:tblPr>
              <a:tblGrid>
                <a:gridCol w="2103120"/>
                <a:gridCol w="1645920"/>
                <a:gridCol w="6613855"/>
              </a:tblGrid>
              <a:tr h="731520">
                <a:tc>
                  <a:txBody>
                    <a:bodyPr/>
                    <a:lstStyle/>
                    <a:p>
                      <a:pPr>
                        <a:defRPr sz="1100" b="1">
                          <a:solidFill>
                            <a:srgbClr val="1A56A0"/>
                          </a:solidFill>
                          <a:latin typeface="Arial"/>
                        </a:defRPr>
                      </a:pPr>
                      <a:r>
                        <a:t>File Name</a:t>
                      </a:r>
                    </a:p>
                  </a:txBody>
                  <a:tcPr marL="109728" marR="109728">
                    <a:solidFill>
                      <a:srgbClr val="EAF2FD"/>
                    </a:solidFill>
                  </a:tcPr>
                </a:tc>
                <a:tc>
                  <a:txBody>
                    <a:bodyPr/>
                    <a:lstStyle/>
                    <a:p>
                      <a:pPr>
                        <a:defRPr sz="1100" b="1">
                          <a:solidFill>
                            <a:srgbClr val="1A56A0"/>
                          </a:solidFill>
                          <a:latin typeface="Arial"/>
                        </a:defRPr>
                      </a:pPr>
                      <a:r>
                        <a:t>Rows</a:t>
                      </a:r>
                    </a:p>
                  </a:txBody>
                  <a:tcPr marL="109728" marR="109728">
                    <a:solidFill>
                      <a:srgbClr val="EAF2FD"/>
                    </a:solidFill>
                  </a:tcPr>
                </a:tc>
                <a:tc>
                  <a:txBody>
                    <a:bodyPr/>
                    <a:lstStyle/>
                    <a:p>
                      <a:pPr>
                        <a:defRPr sz="1100" b="1">
                          <a:solidFill>
                            <a:srgbClr val="1A56A0"/>
                          </a:solidFill>
                          <a:latin typeface="Arial"/>
                        </a:defRPr>
                      </a:pPr>
                      <a:r>
                        <a:t>Description</a:t>
                      </a:r>
                    </a:p>
                  </a:txBody>
                  <a:tcPr marL="109728" marR="109728">
                    <a:solidFill>
                      <a:srgbClr val="EAF2FD"/>
                    </a:solidFill>
                  </a:tcPr>
                </a:tc>
              </a:tr>
              <a:tr h="731520">
                <a:tc>
                  <a:txBody>
                    <a:bodyPr/>
                    <a:lstStyle/>
                    <a:p>
                      <a:pPr>
                        <a:defRPr sz="950">
                          <a:solidFill>
                            <a:srgbClr val="18202F"/>
                          </a:solidFill>
                          <a:latin typeface="Arial"/>
                        </a:defRPr>
                      </a:pPr>
                      <a:r>
                        <a:t>PP_users.csv</a:t>
                      </a:r>
                    </a:p>
                  </a:txBody>
                  <a:tcPr marL="109728" marR="109728">
                    <a:solidFill>
                      <a:srgbClr val="FFFFFF"/>
                    </a:solidFill>
                  </a:tcPr>
                </a:tc>
                <a:tc>
                  <a:txBody>
                    <a:bodyPr/>
                    <a:lstStyle/>
                    <a:p>
                      <a:pPr>
                        <a:defRPr sz="950">
                          <a:solidFill>
                            <a:srgbClr val="18202F"/>
                          </a:solidFill>
                          <a:latin typeface="Arial"/>
                        </a:defRPr>
                      </a:pPr>
                      <a:r>
                        <a:t>25,076 users</a:t>
                      </a:r>
                    </a:p>
                  </a:txBody>
                  <a:tcPr marL="109728" marR="109728">
                    <a:solidFill>
                      <a:srgbClr val="FFFFFF"/>
                    </a:solidFill>
                  </a:tcPr>
                </a:tc>
                <a:tc>
                  <a:txBody>
                    <a:bodyPr/>
                    <a:lstStyle/>
                    <a:p>
                      <a:pPr>
                        <a:defRPr sz="950">
                          <a:solidFill>
                            <a:srgbClr val="18202F"/>
                          </a:solidFill>
                          <a:latin typeface="Arial"/>
                        </a:defRPr>
                      </a:pPr>
                      <a:r>
                        <a:t>Techniques and ingredients tried by the user, ratings left by the user, and count of recipes rated</a:t>
                      </a:r>
                    </a:p>
                  </a:txBody>
                  <a:tcPr marL="109728" marR="109728">
                    <a:solidFill>
                      <a:srgbClr val="FFFFFF"/>
                    </a:solidFill>
                  </a:tcPr>
                </a:tc>
              </a:tr>
              <a:tr h="731520">
                <a:tc>
                  <a:txBody>
                    <a:bodyPr/>
                    <a:lstStyle/>
                    <a:p>
                      <a:pPr>
                        <a:defRPr sz="950">
                          <a:solidFill>
                            <a:srgbClr val="18202F"/>
                          </a:solidFill>
                          <a:latin typeface="Arial"/>
                        </a:defRPr>
                      </a:pPr>
                      <a:r>
                        <a:t>PP_recipes.csv</a:t>
                      </a:r>
                    </a:p>
                  </a:txBody>
                  <a:tcPr marL="109728" marR="109728">
                    <a:solidFill>
                      <a:srgbClr val="F8FAFC"/>
                    </a:solidFill>
                  </a:tcPr>
                </a:tc>
                <a:tc>
                  <a:txBody>
                    <a:bodyPr/>
                    <a:lstStyle/>
                    <a:p>
                      <a:pPr>
                        <a:defRPr sz="950">
                          <a:solidFill>
                            <a:srgbClr val="18202F"/>
                          </a:solidFill>
                          <a:latin typeface="Arial"/>
                        </a:defRPr>
                      </a:pPr>
                      <a:r>
                        <a:t>178,265 recipes</a:t>
                      </a:r>
                    </a:p>
                  </a:txBody>
                  <a:tcPr marL="109728" marR="109728">
                    <a:solidFill>
                      <a:srgbClr val="F8FAFC"/>
                    </a:solidFill>
                  </a:tcPr>
                </a:tc>
                <a:tc>
                  <a:txBody>
                    <a:bodyPr/>
                    <a:lstStyle/>
                    <a:p>
                      <a:pPr>
                        <a:defRPr sz="950">
                          <a:solidFill>
                            <a:srgbClr val="18202F"/>
                          </a:solidFill>
                          <a:latin typeface="Arial"/>
                        </a:defRPr>
                      </a:pPr>
                      <a:r>
                        <a:t>Processed data for each recipe, including tokenized lists for recipe name, ingredients, steps, as well as techniques and calorie level.</a:t>
                      </a:r>
                    </a:p>
                  </a:txBody>
                  <a:tcPr marL="109728" marR="109728">
                    <a:solidFill>
                      <a:srgbClr val="F8FAFC"/>
                    </a:solidFill>
                  </a:tcPr>
                </a:tc>
              </a:tr>
              <a:tr h="731520">
                <a:tc>
                  <a:txBody>
                    <a:bodyPr/>
                    <a:lstStyle/>
                    <a:p>
                      <a:pPr>
                        <a:defRPr sz="950">
                          <a:solidFill>
                            <a:srgbClr val="18202F"/>
                          </a:solidFill>
                          <a:latin typeface="Arial"/>
                        </a:defRPr>
                      </a:pPr>
                      <a:r>
                        <a:t>RAW_recipes.csv</a:t>
                      </a:r>
                    </a:p>
                  </a:txBody>
                  <a:tcPr marL="109728" marR="109728">
                    <a:solidFill>
                      <a:srgbClr val="FFFFFF"/>
                    </a:solidFill>
                  </a:tcPr>
                </a:tc>
                <a:tc>
                  <a:txBody>
                    <a:bodyPr/>
                    <a:lstStyle/>
                    <a:p>
                      <a:pPr>
                        <a:defRPr sz="950">
                          <a:solidFill>
                            <a:srgbClr val="18202F"/>
                          </a:solidFill>
                          <a:latin typeface="Arial"/>
                        </a:defRPr>
                      </a:pPr>
                      <a:r>
                        <a:t>231,637 recipes</a:t>
                      </a:r>
                    </a:p>
                  </a:txBody>
                  <a:tcPr marL="109728" marR="109728">
                    <a:solidFill>
                      <a:srgbClr val="FFFFFF"/>
                    </a:solidFill>
                  </a:tcPr>
                </a:tc>
                <a:tc>
                  <a:txBody>
                    <a:bodyPr/>
                    <a:lstStyle/>
                    <a:p>
                      <a:pPr>
                        <a:defRPr sz="950">
                          <a:solidFill>
                            <a:srgbClr val="18202F"/>
                          </a:solidFill>
                          <a:latin typeface="Arial"/>
                        </a:defRPr>
                      </a:pPr>
                      <a:r>
                        <a:t>Raw data for recipes, including the text name, minutes to complete, tags (via Food.com), nutrition data, number of steps, text for each step, user provided description, ingredients</a:t>
                      </a:r>
                    </a:p>
                  </a:txBody>
                  <a:tcPr marL="109728" marR="109728">
                    <a:solidFill>
                      <a:srgbClr val="FFFFFF"/>
                    </a:solidFill>
                  </a:tcPr>
                </a:tc>
              </a:tr>
              <a:tr h="731520">
                <a:tc>
                  <a:txBody>
                    <a:bodyPr/>
                    <a:lstStyle/>
                    <a:p>
                      <a:pPr>
                        <a:defRPr sz="950">
                          <a:solidFill>
                            <a:srgbClr val="18202F"/>
                          </a:solidFill>
                          <a:latin typeface="Arial"/>
                        </a:defRPr>
                      </a:pPr>
                      <a:r>
                        <a:t>RAW_interactions.csv</a:t>
                      </a:r>
                    </a:p>
                  </a:txBody>
                  <a:tcPr marL="109728" marR="109728">
                    <a:solidFill>
                      <a:srgbClr val="F8FAFC"/>
                    </a:solidFill>
                  </a:tcPr>
                </a:tc>
                <a:tc>
                  <a:txBody>
                    <a:bodyPr/>
                    <a:lstStyle/>
                    <a:p>
                      <a:pPr>
                        <a:defRPr sz="950">
                          <a:solidFill>
                            <a:srgbClr val="18202F"/>
                          </a:solidFill>
                          <a:latin typeface="Arial"/>
                        </a:defRPr>
                      </a:pPr>
                      <a:r>
                        <a:t>1,132,367 ratings</a:t>
                      </a:r>
                    </a:p>
                  </a:txBody>
                  <a:tcPr marL="109728" marR="109728">
                    <a:solidFill>
                      <a:srgbClr val="F8FAFC"/>
                    </a:solidFill>
                  </a:tcPr>
                </a:tc>
                <a:tc>
                  <a:txBody>
                    <a:bodyPr/>
                    <a:lstStyle/>
                    <a:p>
                      <a:pPr>
                        <a:defRPr sz="950">
                          <a:solidFill>
                            <a:srgbClr val="18202F"/>
                          </a:solidFill>
                          <a:latin typeface="Arial"/>
                        </a:defRPr>
                      </a:pPr>
                      <a:r>
                        <a:t>Interactions with the recipes by the users, including User ID, Recipe ID, Date submitted, rating on a scale of 0 to 5, and text of the user s review</a:t>
                      </a:r>
                    </a:p>
                  </a:txBody>
                  <a:tcPr marL="109728" marR="109728">
                    <a:solidFill>
                      <a:srgbClr val="F8FAFC"/>
                    </a:solidFill>
                  </a:tcPr>
                </a:tc>
              </a:tr>
              <a:tr h="731520">
                <a:tc>
                  <a:txBody>
                    <a:bodyPr/>
                    <a:lstStyle/>
                    <a:p>
                      <a:pPr>
                        <a:defRPr sz="950">
                          <a:solidFill>
                            <a:srgbClr val="18202F"/>
                          </a:solidFill>
                          <a:latin typeface="Arial"/>
                        </a:defRPr>
                      </a:pPr>
                      <a:r>
                        <a:t>Ingr_map.pkl</a:t>
                      </a:r>
                    </a:p>
                  </a:txBody>
                  <a:tcPr marL="109728" marR="109728">
                    <a:solidFill>
                      <a:srgbClr val="FFFFFF"/>
                    </a:solidFill>
                  </a:tcPr>
                </a:tc>
                <a:tc>
                  <a:txBody>
                    <a:bodyPr/>
                    <a:lstStyle/>
                    <a:p>
                      <a:pPr>
                        <a:defRPr sz="950">
                          <a:solidFill>
                            <a:srgbClr val="18202F"/>
                          </a:solidFill>
                          <a:latin typeface="Arial"/>
                        </a:defRPr>
                      </a:pPr>
                      <a:r>
                        <a:t>11,659 ingredients</a:t>
                      </a:r>
                    </a:p>
                  </a:txBody>
                  <a:tcPr marL="109728" marR="109728">
                    <a:solidFill>
                      <a:srgbClr val="FFFFFF"/>
                    </a:solidFill>
                  </a:tcPr>
                </a:tc>
                <a:tc>
                  <a:txBody>
                    <a:bodyPr/>
                    <a:lstStyle/>
                    <a:p>
                      <a:pPr>
                        <a:defRPr sz="950">
                          <a:solidFill>
                            <a:srgbClr val="18202F"/>
                          </a:solidFill>
                          <a:latin typeface="Arial"/>
                        </a:defRPr>
                      </a:pPr>
                      <a:r>
                        <a:t>A map of ingredient IDs to ingredient names, with the text description of the ingredient, count of words in the text description, text description of the ingredient, length of description, and a simplified word or category phrase used in place of the original description</a:t>
                      </a:r>
                    </a:p>
                  </a:txBody>
                  <a:tcPr marL="109728" marR="109728">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EXPLORATORY DATA ANALYSIS</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EDA: Key Characteristics of Food.com Data</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04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71600"/>
            <a:ext cx="3291840" cy="265176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ell_11_out_1.png"/>
          <p:cNvPicPr>
            <a:picLocks noChangeAspect="1"/>
          </p:cNvPicPr>
          <p:nvPr/>
        </p:nvPicPr>
        <p:blipFill>
          <a:blip r:embed="rId3"/>
          <a:stretch>
            <a:fillRect/>
          </a:stretch>
        </p:blipFill>
        <p:spPr>
          <a:xfrm>
            <a:off x="804672" y="1444752"/>
            <a:ext cx="3145536" cy="2505456"/>
          </a:xfrm>
          <a:prstGeom prst="rect">
            <a:avLst/>
          </a:prstGeom>
        </p:spPr>
      </p:pic>
      <p:sp>
        <p:nvSpPr>
          <p:cNvPr id="11" name="Rounded Rectangle 10"/>
          <p:cNvSpPr/>
          <p:nvPr/>
        </p:nvSpPr>
        <p:spPr>
          <a:xfrm>
            <a:off x="4297680" y="1371600"/>
            <a:ext cx="3657600" cy="265176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ell_13_out_1.png"/>
          <p:cNvPicPr>
            <a:picLocks noChangeAspect="1"/>
          </p:cNvPicPr>
          <p:nvPr/>
        </p:nvPicPr>
        <p:blipFill>
          <a:blip r:embed="rId4"/>
          <a:stretch>
            <a:fillRect/>
          </a:stretch>
        </p:blipFill>
        <p:spPr>
          <a:xfrm>
            <a:off x="4370832" y="1444752"/>
            <a:ext cx="3511296" cy="2505456"/>
          </a:xfrm>
          <a:prstGeom prst="rect">
            <a:avLst/>
          </a:prstGeom>
        </p:spPr>
      </p:pic>
      <p:sp>
        <p:nvSpPr>
          <p:cNvPr id="13" name="Rounded Rectangle 12"/>
          <p:cNvSpPr/>
          <p:nvPr/>
        </p:nvSpPr>
        <p:spPr>
          <a:xfrm>
            <a:off x="8138160" y="1371600"/>
            <a:ext cx="3291840" cy="265176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ell_19_out_1.png"/>
          <p:cNvPicPr>
            <a:picLocks noChangeAspect="1"/>
          </p:cNvPicPr>
          <p:nvPr/>
        </p:nvPicPr>
        <p:blipFill>
          <a:blip r:embed="rId5"/>
          <a:stretch>
            <a:fillRect/>
          </a:stretch>
        </p:blipFill>
        <p:spPr>
          <a:xfrm>
            <a:off x="8211312" y="1444752"/>
            <a:ext cx="3145536" cy="2505456"/>
          </a:xfrm>
          <a:prstGeom prst="rect">
            <a:avLst/>
          </a:prstGeom>
        </p:spPr>
      </p:pic>
      <p:sp>
        <p:nvSpPr>
          <p:cNvPr id="15" name="Rounded Rectangle 14"/>
          <p:cNvSpPr/>
          <p:nvPr/>
        </p:nvSpPr>
        <p:spPr>
          <a:xfrm>
            <a:off x="731520" y="4160520"/>
            <a:ext cx="3291840" cy="205740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160520"/>
            <a:ext cx="3291840" cy="54864"/>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51960"/>
            <a:ext cx="3017520" cy="1828800"/>
          </a:xfrm>
          <a:prstGeom prst="rect">
            <a:avLst/>
          </a:prstGeom>
          <a:noFill/>
        </p:spPr>
        <p:txBody>
          <a:bodyPr wrap="square">
            <a:spAutoFit/>
          </a:bodyPr>
          <a:lstStyle/>
          <a:p>
            <a:pPr>
              <a:defRPr sz="1100" b="1">
                <a:solidFill>
                  <a:srgbClr val="18202F"/>
                </a:solidFill>
                <a:latin typeface="Arial"/>
              </a:defRPr>
            </a:pPr>
            <a:r>
              <a:t>01  User Activity Sparsity</a:t>
            </a:r>
          </a:p>
          <a:p>
            <a:pPr>
              <a:spcBef>
                <a:spcPts val="400"/>
              </a:spcBef>
              <a:defRPr sz="1200" b="1">
                <a:solidFill>
                  <a:srgbClr val="1A56A0"/>
                </a:solidFill>
                <a:latin typeface="Arial"/>
              </a:defRPr>
            </a:pPr>
            <a:r>
              <a:t>Median ratings per user = 6</a:t>
            </a:r>
          </a:p>
          <a:p>
            <a:pPr>
              <a:spcBef>
                <a:spcPts val="400"/>
              </a:spcBef>
              <a:defRPr sz="950">
                <a:solidFill>
                  <a:srgbClr val="5A6978"/>
                </a:solidFill>
                <a:latin typeface="Arial"/>
              </a:defRPr>
            </a:pPr>
            <a:r>
              <a:t>73% rated 1 recipe; only 2.3% rated &gt;25 recipes</a:t>
            </a:r>
          </a:p>
        </p:txBody>
      </p:sp>
      <p:sp>
        <p:nvSpPr>
          <p:cNvPr id="18" name="Rounded Rectangle 17"/>
          <p:cNvSpPr/>
          <p:nvPr/>
        </p:nvSpPr>
        <p:spPr>
          <a:xfrm>
            <a:off x="4297680" y="4160520"/>
            <a:ext cx="3291840" cy="205740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97680" y="4160520"/>
            <a:ext cx="3291840" cy="54864"/>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4251960"/>
            <a:ext cx="3017520" cy="1828800"/>
          </a:xfrm>
          <a:prstGeom prst="rect">
            <a:avLst/>
          </a:prstGeom>
          <a:noFill/>
        </p:spPr>
        <p:txBody>
          <a:bodyPr wrap="square">
            <a:spAutoFit/>
          </a:bodyPr>
          <a:lstStyle/>
          <a:p>
            <a:pPr>
              <a:defRPr sz="1100" b="1">
                <a:solidFill>
                  <a:srgbClr val="18202F"/>
                </a:solidFill>
                <a:latin typeface="Arial"/>
              </a:defRPr>
            </a:pPr>
            <a:r>
              <a:t>02  Severe Rating Polarity</a:t>
            </a:r>
          </a:p>
          <a:p>
            <a:pPr>
              <a:spcBef>
                <a:spcPts val="400"/>
              </a:spcBef>
              <a:defRPr sz="1200" b="1">
                <a:solidFill>
                  <a:srgbClr val="107C41"/>
                </a:solidFill>
                <a:latin typeface="Arial"/>
              </a:defRPr>
            </a:pPr>
            <a:r>
              <a:t>Reviews with a 5 star rating = 72%</a:t>
            </a:r>
          </a:p>
          <a:p>
            <a:pPr>
              <a:spcBef>
                <a:spcPts val="400"/>
              </a:spcBef>
              <a:defRPr sz="950">
                <a:solidFill>
                  <a:srgbClr val="5A6978"/>
                </a:solidFill>
                <a:latin typeface="Arial"/>
              </a:defRPr>
            </a:pPr>
            <a:r>
              <a:t>Overwhelmingly positive reviews; ratings of 0 filtered</a:t>
            </a:r>
          </a:p>
        </p:txBody>
      </p:sp>
      <p:sp>
        <p:nvSpPr>
          <p:cNvPr id="21" name="Rounded Rectangle 20"/>
          <p:cNvSpPr/>
          <p:nvPr/>
        </p:nvSpPr>
        <p:spPr>
          <a:xfrm>
            <a:off x="8138160" y="4160520"/>
            <a:ext cx="3291840" cy="205740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38160" y="4160520"/>
            <a:ext cx="3291840" cy="54864"/>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4251960"/>
            <a:ext cx="3017520" cy="1828800"/>
          </a:xfrm>
          <a:prstGeom prst="rect">
            <a:avLst/>
          </a:prstGeom>
          <a:noFill/>
        </p:spPr>
        <p:txBody>
          <a:bodyPr wrap="square">
            <a:spAutoFit/>
          </a:bodyPr>
          <a:lstStyle/>
          <a:p>
            <a:pPr>
              <a:defRPr sz="1100" b="1">
                <a:solidFill>
                  <a:srgbClr val="18202F"/>
                </a:solidFill>
                <a:latin typeface="Arial"/>
              </a:defRPr>
            </a:pPr>
            <a:r>
              <a:t>03  Dominant Meal Taxonomy</a:t>
            </a:r>
          </a:p>
          <a:p>
            <a:pPr>
              <a:spcBef>
                <a:spcPts val="400"/>
              </a:spcBef>
              <a:defRPr sz="1200" b="1">
                <a:solidFill>
                  <a:srgbClr val="7030A0"/>
                </a:solidFill>
                <a:latin typeface="Arial"/>
              </a:defRPr>
            </a:pPr>
            <a:r>
              <a:t>Main dish: 32% | Desserts: 20%</a:t>
            </a:r>
          </a:p>
          <a:p>
            <a:pPr>
              <a:spcBef>
                <a:spcPts val="400"/>
              </a:spcBef>
              <a:defRPr sz="950">
                <a:solidFill>
                  <a:srgbClr val="5A6978"/>
                </a:solidFill>
                <a:latin typeface="Arial"/>
              </a:defRPr>
            </a:pPr>
            <a:r>
              <a:t>Side dishes: 11%; breakfast, lunch and snacks long tail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MODEL EVALUATION</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Baseline Collaborative Filtering</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05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10728655" cy="365760"/>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A56A0"/>
                </a:solidFill>
                <a:latin typeface="Arial"/>
              </a:defRPr>
            </a:pPr>
            <a:r>
              <a:t>In my evaluation across 5 fold cross validation, Item based KNNBasic and SVD achieved lowest predictive error.</a:t>
            </a:r>
          </a:p>
        </p:txBody>
      </p:sp>
      <p:sp>
        <p:nvSpPr>
          <p:cNvPr id="10" name="Rounded Rectangle 9"/>
          <p:cNvSpPr/>
          <p:nvPr/>
        </p:nvSpPr>
        <p:spPr>
          <a:xfrm>
            <a:off x="731520" y="1828800"/>
            <a:ext cx="10728655" cy="292608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f_models_tables.png"/>
          <p:cNvPicPr>
            <a:picLocks noChangeAspect="1"/>
          </p:cNvPicPr>
          <p:nvPr/>
        </p:nvPicPr>
        <p:blipFill>
          <a:blip r:embed="rId3"/>
          <a:stretch>
            <a:fillRect/>
          </a:stretch>
        </p:blipFill>
        <p:spPr>
          <a:xfrm>
            <a:off x="822960" y="1920240"/>
            <a:ext cx="10545775" cy="2743200"/>
          </a:xfrm>
          <a:prstGeom prst="rect">
            <a:avLst/>
          </a:prstGeom>
        </p:spPr>
      </p:pic>
      <p:sp>
        <p:nvSpPr>
          <p:cNvPr id="12" name="Rounded Rectangle 11"/>
          <p:cNvSpPr/>
          <p:nvPr/>
        </p:nvSpPr>
        <p:spPr>
          <a:xfrm>
            <a:off x="731520" y="4892040"/>
            <a:ext cx="10728655" cy="137160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892040"/>
            <a:ext cx="10728655" cy="54864"/>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65192"/>
            <a:ext cx="10362895" cy="1261872"/>
          </a:xfrm>
          <a:prstGeom prst="rect">
            <a:avLst/>
          </a:prstGeom>
          <a:noFill/>
        </p:spPr>
        <p:txBody>
          <a:bodyPr wrap="square">
            <a:spAutoFit/>
          </a:bodyPr>
          <a:lstStyle/>
          <a:p>
            <a:pPr>
              <a:defRPr sz="1100" b="1">
                <a:solidFill>
                  <a:srgbClr val="18202F"/>
                </a:solidFill>
                <a:latin typeface="Arial"/>
              </a:defRPr>
            </a:pPr>
            <a:r>
              <a:t>Collaborative Filtering Error Analysis</a:t>
            </a:r>
          </a:p>
          <a:p>
            <a:pPr>
              <a:spcBef>
                <a:spcPts val="300"/>
              </a:spcBef>
              <a:defRPr sz="900">
                <a:solidFill>
                  <a:srgbClr val="5A6978"/>
                </a:solidFill>
                <a:latin typeface="Arial"/>
              </a:defRPr>
            </a:pPr>
            <a:r>
              <a:t>Through 5 fold cross validation, Item based KNNBasic (MAE 0.3463) outperformed user based variants. In matrix factorization, SVD (MAE 0.3526) and SVDpp (MAE 0.3481) yielded high accuracy. GridSearch tuning confirmed that SVD with 50 latent factors and learning rate 0.005 minimized MAE to 0.3491.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METHODOLOGY &amp; FORMULATION</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Description of Approach: Cluster Based Collaborative Filtering</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06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417320"/>
            <a:ext cx="5212080" cy="73152"/>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81912"/>
            <a:ext cx="4846320" cy="2075688"/>
          </a:xfrm>
          <a:prstGeom prst="rect">
            <a:avLst/>
          </a:prstGeom>
          <a:noFill/>
        </p:spPr>
        <p:txBody>
          <a:bodyPr wrap="square">
            <a:spAutoFit/>
          </a:bodyPr>
          <a:lstStyle/>
          <a:p>
            <a:pPr>
              <a:defRPr sz="1300" b="1">
                <a:solidFill>
                  <a:srgbClr val="18202F"/>
                </a:solidFill>
                <a:latin typeface="Arial"/>
              </a:defRPr>
            </a:pPr>
            <a:r>
              <a:t>01  Scikit Surprise CoClustering Algorithm</a:t>
            </a:r>
          </a:p>
          <a:p>
            <a:pPr>
              <a:spcBef>
                <a:spcPts val="800"/>
              </a:spcBef>
              <a:defRPr sz="1050">
                <a:solidFill>
                  <a:srgbClr val="18202F"/>
                </a:solidFill>
                <a:latin typeface="Arial"/>
              </a:defRPr>
            </a:pPr>
            <a:r>
              <a:t>I evaluated the CoClustering algorithm, which simultaneously assigns users and recipes to co clusters and incorporates both latent cluster memberships to estimate ratings. I explored systematic ranges for user and item clusters while holding the other constant, optimizing configurations via GridSearch and 5 fold cross validation.</a:t>
            </a:r>
          </a:p>
        </p:txBody>
      </p:sp>
      <p:sp>
        <p:nvSpPr>
          <p:cNvPr id="12" name="Rounded Rectangle 11"/>
          <p:cNvSpPr/>
          <p:nvPr/>
        </p:nvSpPr>
        <p:spPr>
          <a:xfrm>
            <a:off x="62179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212080" cy="73152"/>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4846320" cy="2075688"/>
          </a:xfrm>
          <a:prstGeom prst="rect">
            <a:avLst/>
          </a:prstGeom>
          <a:noFill/>
        </p:spPr>
        <p:txBody>
          <a:bodyPr wrap="square">
            <a:spAutoFit/>
          </a:bodyPr>
          <a:lstStyle/>
          <a:p>
            <a:pPr>
              <a:defRPr sz="1300" b="1">
                <a:solidFill>
                  <a:srgbClr val="18202F"/>
                </a:solidFill>
                <a:latin typeface="Arial"/>
              </a:defRPr>
            </a:pPr>
            <a:r>
              <a:t>02  Subspace Neighborhood Isolation</a:t>
            </a:r>
          </a:p>
          <a:p>
            <a:pPr>
              <a:spcBef>
                <a:spcPts val="800"/>
              </a:spcBef>
              <a:defRPr sz="1050">
                <a:solidFill>
                  <a:srgbClr val="18202F"/>
                </a:solidFill>
                <a:latin typeface="Arial"/>
              </a:defRPr>
            </a:pPr>
            <a:r>
              <a:t>To overcome catalog sparsity, I grouped users into distinct culinary taste clusters. Rather than scanning the entire sparse interaction space, the neighborhood model is constrained strictly to the target user cluster, effectively removing global noise and isolating closely related cooking styles.</a:t>
            </a:r>
          </a:p>
        </p:txBody>
      </p:sp>
      <p:sp>
        <p:nvSpPr>
          <p:cNvPr id="15" name="Rounded Rectangle 14"/>
          <p:cNvSpPr/>
          <p:nvPr/>
        </p:nvSpPr>
        <p:spPr>
          <a:xfrm>
            <a:off x="7315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931920"/>
            <a:ext cx="5212080" cy="7315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96512"/>
            <a:ext cx="4846320" cy="2075688"/>
          </a:xfrm>
          <a:prstGeom prst="rect">
            <a:avLst/>
          </a:prstGeom>
          <a:noFill/>
        </p:spPr>
        <p:txBody>
          <a:bodyPr wrap="square">
            <a:spAutoFit/>
          </a:bodyPr>
          <a:lstStyle/>
          <a:p>
            <a:pPr>
              <a:defRPr sz="1300" b="1">
                <a:solidFill>
                  <a:srgbClr val="18202F"/>
                </a:solidFill>
                <a:latin typeface="Arial"/>
              </a:defRPr>
            </a:pPr>
            <a:r>
              <a:t>03  Cluster Focused Recommendations</a:t>
            </a:r>
          </a:p>
          <a:p>
            <a:pPr>
              <a:spcBef>
                <a:spcPts val="800"/>
              </a:spcBef>
              <a:defRPr sz="1050">
                <a:solidFill>
                  <a:srgbClr val="18202F"/>
                </a:solidFill>
                <a:latin typeface="Arial"/>
              </a:defRPr>
            </a:pPr>
            <a:r>
              <a:t>For any target user, the pipeline first predicts their cluster assignment, filters the rating matrix to include only that community, applies KNN to find the nearest cluster peers, and computes weighted average peer ratings to rank Top N personalized recommendations.</a:t>
            </a:r>
          </a:p>
        </p:txBody>
      </p:sp>
      <p:sp>
        <p:nvSpPr>
          <p:cNvPr id="18" name="Rounded Rectangle 17"/>
          <p:cNvSpPr/>
          <p:nvPr/>
        </p:nvSpPr>
        <p:spPr>
          <a:xfrm>
            <a:off x="62179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3931920"/>
            <a:ext cx="5212080" cy="73152"/>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96512"/>
            <a:ext cx="4846320" cy="2075688"/>
          </a:xfrm>
          <a:prstGeom prst="rect">
            <a:avLst/>
          </a:prstGeom>
          <a:noFill/>
        </p:spPr>
        <p:txBody>
          <a:bodyPr wrap="square">
            <a:spAutoFit/>
          </a:bodyPr>
          <a:lstStyle/>
          <a:p>
            <a:pPr>
              <a:defRPr sz="1300" b="1">
                <a:solidFill>
                  <a:srgbClr val="18202F"/>
                </a:solidFill>
                <a:latin typeface="Arial"/>
              </a:defRPr>
            </a:pPr>
            <a:r>
              <a:t>04  Rigorous 5 Fold Cross Validation</a:t>
            </a:r>
          </a:p>
          <a:p>
            <a:pPr>
              <a:spcBef>
                <a:spcPts val="800"/>
              </a:spcBef>
              <a:defRPr sz="1050">
                <a:solidFill>
                  <a:srgbClr val="18202F"/>
                </a:solidFill>
                <a:latin typeface="Arial"/>
              </a:defRPr>
            </a:pPr>
            <a:r>
              <a:t>Every cluster based model was systematically evaluated across identical 5 fold cross validation splits. Performance was benchmarked using RMSE, MAE, MSE, and fit/test runtime to assess the precision efficiency frontier.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CLUSTERING PERFORMANCE</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CoClustering</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07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10728655" cy="365760"/>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A56A0"/>
                </a:solidFill>
                <a:latin typeface="Arial"/>
              </a:defRPr>
            </a:pPr>
            <a:r>
              <a:t>In general, item and user collaborative models are comparable to CoClustering results, but require a fraction of the runtime.</a:t>
            </a:r>
          </a:p>
        </p:txBody>
      </p:sp>
      <p:sp>
        <p:nvSpPr>
          <p:cNvPr id="10" name="Rounded Rectangle 9"/>
          <p:cNvSpPr/>
          <p:nvPr/>
        </p:nvSpPr>
        <p:spPr>
          <a:xfrm>
            <a:off x="731520" y="1783080"/>
            <a:ext cx="5486400" cy="292608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ell_31_out_0.png"/>
          <p:cNvPicPr>
            <a:picLocks noChangeAspect="1"/>
          </p:cNvPicPr>
          <p:nvPr/>
        </p:nvPicPr>
        <p:blipFill>
          <a:blip r:embed="rId3"/>
          <a:stretch>
            <a:fillRect/>
          </a:stretch>
        </p:blipFill>
        <p:spPr>
          <a:xfrm>
            <a:off x="822960" y="1874519"/>
            <a:ext cx="5303520" cy="2743200"/>
          </a:xfrm>
          <a:prstGeom prst="rect">
            <a:avLst/>
          </a:prstGeom>
        </p:spPr>
      </p:pic>
      <p:sp>
        <p:nvSpPr>
          <p:cNvPr id="12" name="Rounded Rectangle 11"/>
          <p:cNvSpPr/>
          <p:nvPr/>
        </p:nvSpPr>
        <p:spPr>
          <a:xfrm>
            <a:off x="6400800" y="1783080"/>
            <a:ext cx="5059375" cy="292608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492240" y="2103120"/>
          <a:ext cx="4846320" cy="914400"/>
        </p:xfrm>
        <a:graphic>
          <a:graphicData uri="http://schemas.openxmlformats.org/drawingml/2006/table">
            <a:tbl>
              <a:tblPr firstRow="1" bandRow="1">
                <a:tableStyleId>{5C22544A-7EE6-4342-B048-85BDC9FD1C3A}</a:tableStyleId>
              </a:tblPr>
              <a:tblGrid>
                <a:gridCol w="731520"/>
                <a:gridCol w="731520"/>
                <a:gridCol w="640080"/>
                <a:gridCol w="640080"/>
                <a:gridCol w="640080"/>
                <a:gridCol w="731520"/>
                <a:gridCol w="731520"/>
              </a:tblGrid>
              <a:tr h="457200">
                <a:tc>
                  <a:txBody>
                    <a:bodyPr/>
                    <a:lstStyle/>
                    <a:p>
                      <a:pPr>
                        <a:defRPr sz="750" b="1">
                          <a:solidFill>
                            <a:srgbClr val="1A56A0"/>
                          </a:solidFill>
                          <a:latin typeface="Arial"/>
                        </a:defRPr>
                      </a:pPr>
                      <a:r>
                        <a:t>User Clust</a:t>
                      </a:r>
                    </a:p>
                  </a:txBody>
                  <a:tcPr marL="36576" marR="36576">
                    <a:solidFill>
                      <a:srgbClr val="EAF2FD"/>
                    </a:solidFill>
                  </a:tcPr>
                </a:tc>
                <a:tc>
                  <a:txBody>
                    <a:bodyPr/>
                    <a:lstStyle/>
                    <a:p>
                      <a:pPr>
                        <a:defRPr sz="750" b="1">
                          <a:solidFill>
                            <a:srgbClr val="1A56A0"/>
                          </a:solidFill>
                          <a:latin typeface="Arial"/>
                        </a:defRPr>
                      </a:pPr>
                      <a:r>
                        <a:t>Item Clust</a:t>
                      </a:r>
                    </a:p>
                  </a:txBody>
                  <a:tcPr marL="36576" marR="36576">
                    <a:solidFill>
                      <a:srgbClr val="EAF2FD"/>
                    </a:solidFill>
                  </a:tcPr>
                </a:tc>
                <a:tc>
                  <a:txBody>
                    <a:bodyPr/>
                    <a:lstStyle/>
                    <a:p>
                      <a:pPr>
                        <a:defRPr sz="750" b="1">
                          <a:solidFill>
                            <a:srgbClr val="1A56A0"/>
                          </a:solidFill>
                          <a:latin typeface="Arial"/>
                        </a:defRPr>
                      </a:pPr>
                      <a:r>
                        <a:t>RMSE</a:t>
                      </a:r>
                    </a:p>
                  </a:txBody>
                  <a:tcPr marL="36576" marR="36576">
                    <a:solidFill>
                      <a:srgbClr val="EAF2FD"/>
                    </a:solidFill>
                  </a:tcPr>
                </a:tc>
                <a:tc>
                  <a:txBody>
                    <a:bodyPr/>
                    <a:lstStyle/>
                    <a:p>
                      <a:pPr>
                        <a:defRPr sz="750" b="1">
                          <a:solidFill>
                            <a:srgbClr val="1A56A0"/>
                          </a:solidFill>
                          <a:latin typeface="Arial"/>
                        </a:defRPr>
                      </a:pPr>
                      <a:r>
                        <a:t>MSE</a:t>
                      </a:r>
                    </a:p>
                  </a:txBody>
                  <a:tcPr marL="36576" marR="36576">
                    <a:solidFill>
                      <a:srgbClr val="EAF2FD"/>
                    </a:solidFill>
                  </a:tcPr>
                </a:tc>
                <a:tc>
                  <a:txBody>
                    <a:bodyPr/>
                    <a:lstStyle/>
                    <a:p>
                      <a:pPr>
                        <a:defRPr sz="750" b="1">
                          <a:solidFill>
                            <a:srgbClr val="1A56A0"/>
                          </a:solidFill>
                          <a:latin typeface="Arial"/>
                        </a:defRPr>
                      </a:pPr>
                      <a:r>
                        <a:t>MAE</a:t>
                      </a:r>
                    </a:p>
                  </a:txBody>
                  <a:tcPr marL="36576" marR="36576">
                    <a:solidFill>
                      <a:srgbClr val="EAF2FD"/>
                    </a:solidFill>
                  </a:tcPr>
                </a:tc>
                <a:tc>
                  <a:txBody>
                    <a:bodyPr/>
                    <a:lstStyle/>
                    <a:p>
                      <a:pPr>
                        <a:defRPr sz="750" b="1">
                          <a:solidFill>
                            <a:srgbClr val="1A56A0"/>
                          </a:solidFill>
                          <a:latin typeface="Arial"/>
                        </a:defRPr>
                      </a:pPr>
                      <a:r>
                        <a:t>Fit Time</a:t>
                      </a:r>
                    </a:p>
                  </a:txBody>
                  <a:tcPr marL="36576" marR="36576">
                    <a:solidFill>
                      <a:srgbClr val="EAF2FD"/>
                    </a:solidFill>
                  </a:tcPr>
                </a:tc>
                <a:tc>
                  <a:txBody>
                    <a:bodyPr/>
                    <a:lstStyle/>
                    <a:p>
                      <a:pPr>
                        <a:defRPr sz="750" b="1">
                          <a:solidFill>
                            <a:srgbClr val="1A56A0"/>
                          </a:solidFill>
                          <a:latin typeface="Arial"/>
                        </a:defRPr>
                      </a:pPr>
                      <a:r>
                        <a:t>Test Time</a:t>
                      </a:r>
                    </a:p>
                  </a:txBody>
                  <a:tcPr marL="36576" marR="36576">
                    <a:solidFill>
                      <a:srgbClr val="EAF2FD"/>
                    </a:solidFill>
                  </a:tcPr>
                </a:tc>
              </a:tr>
              <a:tr h="457200">
                <a:tc>
                  <a:txBody>
                    <a:bodyPr/>
                    <a:lstStyle/>
                    <a:p>
                      <a:pPr>
                        <a:defRPr sz="850">
                          <a:solidFill>
                            <a:srgbClr val="18202F"/>
                          </a:solidFill>
                          <a:latin typeface="Arial"/>
                        </a:defRPr>
                      </a:pPr>
                      <a:r>
                        <a:t>9</a:t>
                      </a:r>
                    </a:p>
                  </a:txBody>
                  <a:tcPr marL="36576" marR="36576">
                    <a:solidFill>
                      <a:srgbClr val="FFFFFF"/>
                    </a:solidFill>
                  </a:tcPr>
                </a:tc>
                <a:tc>
                  <a:txBody>
                    <a:bodyPr/>
                    <a:lstStyle/>
                    <a:p>
                      <a:pPr>
                        <a:defRPr sz="850">
                          <a:solidFill>
                            <a:srgbClr val="18202F"/>
                          </a:solidFill>
                          <a:latin typeface="Arial"/>
                        </a:defRPr>
                      </a:pPr>
                      <a:r>
                        <a:t>5</a:t>
                      </a:r>
                    </a:p>
                  </a:txBody>
                  <a:tcPr marL="36576" marR="36576">
                    <a:solidFill>
                      <a:srgbClr val="FFFFFF"/>
                    </a:solidFill>
                  </a:tcPr>
                </a:tc>
                <a:tc>
                  <a:txBody>
                    <a:bodyPr/>
                    <a:lstStyle/>
                    <a:p>
                      <a:pPr>
                        <a:defRPr sz="850">
                          <a:solidFill>
                            <a:srgbClr val="18202F"/>
                          </a:solidFill>
                          <a:latin typeface="Arial"/>
                        </a:defRPr>
                      </a:pPr>
                      <a:r>
                        <a:t>0.5882</a:t>
                      </a:r>
                    </a:p>
                  </a:txBody>
                  <a:tcPr marL="36576" marR="36576">
                    <a:solidFill>
                      <a:srgbClr val="FFFFFF"/>
                    </a:solidFill>
                  </a:tcPr>
                </a:tc>
                <a:tc>
                  <a:txBody>
                    <a:bodyPr/>
                    <a:lstStyle/>
                    <a:p>
                      <a:pPr>
                        <a:defRPr sz="850">
                          <a:solidFill>
                            <a:srgbClr val="18202F"/>
                          </a:solidFill>
                          <a:latin typeface="Arial"/>
                        </a:defRPr>
                      </a:pPr>
                      <a:r>
                        <a:t>0.3460</a:t>
                      </a:r>
                    </a:p>
                  </a:txBody>
                  <a:tcPr marL="36576" marR="36576">
                    <a:solidFill>
                      <a:srgbClr val="FFFFFF"/>
                    </a:solidFill>
                  </a:tcPr>
                </a:tc>
                <a:tc>
                  <a:txBody>
                    <a:bodyPr/>
                    <a:lstStyle/>
                    <a:p>
                      <a:pPr>
                        <a:defRPr sz="850">
                          <a:solidFill>
                            <a:srgbClr val="18202F"/>
                          </a:solidFill>
                          <a:latin typeface="Arial"/>
                        </a:defRPr>
                      </a:pPr>
                      <a:r>
                        <a:t>0.3655</a:t>
                      </a:r>
                    </a:p>
                  </a:txBody>
                  <a:tcPr marL="36576" marR="36576">
                    <a:solidFill>
                      <a:srgbClr val="FFFFFF"/>
                    </a:solidFill>
                  </a:tcPr>
                </a:tc>
                <a:tc>
                  <a:txBody>
                    <a:bodyPr/>
                    <a:lstStyle/>
                    <a:p>
                      <a:pPr>
                        <a:defRPr sz="850">
                          <a:solidFill>
                            <a:srgbClr val="18202F"/>
                          </a:solidFill>
                          <a:latin typeface="Arial"/>
                        </a:defRPr>
                      </a:pPr>
                      <a:r>
                        <a:t>0.7976</a:t>
                      </a:r>
                    </a:p>
                  </a:txBody>
                  <a:tcPr marL="36576" marR="36576">
                    <a:solidFill>
                      <a:srgbClr val="FFFFFF"/>
                    </a:solidFill>
                  </a:tcPr>
                </a:tc>
                <a:tc>
                  <a:txBody>
                    <a:bodyPr/>
                    <a:lstStyle/>
                    <a:p>
                      <a:pPr>
                        <a:defRPr sz="850">
                          <a:solidFill>
                            <a:srgbClr val="18202F"/>
                          </a:solidFill>
                          <a:latin typeface="Arial"/>
                        </a:defRPr>
                      </a:pPr>
                      <a:r>
                        <a:t>0.0469</a:t>
                      </a:r>
                    </a:p>
                  </a:txBody>
                  <a:tcPr marL="36576" marR="36576">
                    <a:solidFill>
                      <a:srgbClr val="FFFFFF"/>
                    </a:solidFill>
                  </a:tcPr>
                </a:tc>
              </a:tr>
            </a:tbl>
          </a:graphicData>
        </a:graphic>
      </p:graphicFrame>
      <p:graphicFrame>
        <p:nvGraphicFramePr>
          <p:cNvPr id="14" name="Table 13"/>
          <p:cNvGraphicFramePr>
            <a:graphicFrameLocks noGrp="1"/>
          </p:cNvGraphicFramePr>
          <p:nvPr/>
        </p:nvGraphicFramePr>
        <p:xfrm>
          <a:off x="6492240" y="3474720"/>
          <a:ext cx="4846320" cy="914400"/>
        </p:xfrm>
        <a:graphic>
          <a:graphicData uri="http://schemas.openxmlformats.org/drawingml/2006/table">
            <a:tbl>
              <a:tblPr firstRow="1" bandRow="1">
                <a:tableStyleId>{5C22544A-7EE6-4342-B048-85BDC9FD1C3A}</a:tableStyleId>
              </a:tblPr>
              <a:tblGrid>
                <a:gridCol w="731520"/>
                <a:gridCol w="731520"/>
                <a:gridCol w="640080"/>
                <a:gridCol w="640080"/>
                <a:gridCol w="640080"/>
                <a:gridCol w="731520"/>
                <a:gridCol w="731520"/>
              </a:tblGrid>
              <a:tr h="457200">
                <a:tc>
                  <a:txBody>
                    <a:bodyPr/>
                    <a:lstStyle/>
                    <a:p>
                      <a:pPr>
                        <a:defRPr sz="750" b="1">
                          <a:solidFill>
                            <a:srgbClr val="1A56A0"/>
                          </a:solidFill>
                          <a:latin typeface="Arial"/>
                        </a:defRPr>
                      </a:pPr>
                      <a:r>
                        <a:t>User Clust</a:t>
                      </a:r>
                    </a:p>
                  </a:txBody>
                  <a:tcPr marL="36576" marR="36576">
                    <a:solidFill>
                      <a:srgbClr val="EAF2FD"/>
                    </a:solidFill>
                  </a:tcPr>
                </a:tc>
                <a:tc>
                  <a:txBody>
                    <a:bodyPr/>
                    <a:lstStyle/>
                    <a:p>
                      <a:pPr>
                        <a:defRPr sz="750" b="1">
                          <a:solidFill>
                            <a:srgbClr val="1A56A0"/>
                          </a:solidFill>
                          <a:latin typeface="Arial"/>
                        </a:defRPr>
                      </a:pPr>
                      <a:r>
                        <a:t>Item Clust</a:t>
                      </a:r>
                    </a:p>
                  </a:txBody>
                  <a:tcPr marL="36576" marR="36576">
                    <a:solidFill>
                      <a:srgbClr val="EAF2FD"/>
                    </a:solidFill>
                  </a:tcPr>
                </a:tc>
                <a:tc>
                  <a:txBody>
                    <a:bodyPr/>
                    <a:lstStyle/>
                    <a:p>
                      <a:pPr>
                        <a:defRPr sz="750" b="1">
                          <a:solidFill>
                            <a:srgbClr val="1A56A0"/>
                          </a:solidFill>
                          <a:latin typeface="Arial"/>
                        </a:defRPr>
                      </a:pPr>
                      <a:r>
                        <a:t>RMSE</a:t>
                      </a:r>
                    </a:p>
                  </a:txBody>
                  <a:tcPr marL="36576" marR="36576">
                    <a:solidFill>
                      <a:srgbClr val="EAF2FD"/>
                    </a:solidFill>
                  </a:tcPr>
                </a:tc>
                <a:tc>
                  <a:txBody>
                    <a:bodyPr/>
                    <a:lstStyle/>
                    <a:p>
                      <a:pPr>
                        <a:defRPr sz="750" b="1">
                          <a:solidFill>
                            <a:srgbClr val="1A56A0"/>
                          </a:solidFill>
                          <a:latin typeface="Arial"/>
                        </a:defRPr>
                      </a:pPr>
                      <a:r>
                        <a:t>MSE</a:t>
                      </a:r>
                    </a:p>
                  </a:txBody>
                  <a:tcPr marL="36576" marR="36576">
                    <a:solidFill>
                      <a:srgbClr val="EAF2FD"/>
                    </a:solidFill>
                  </a:tcPr>
                </a:tc>
                <a:tc>
                  <a:txBody>
                    <a:bodyPr/>
                    <a:lstStyle/>
                    <a:p>
                      <a:pPr>
                        <a:defRPr sz="750" b="1">
                          <a:solidFill>
                            <a:srgbClr val="1A56A0"/>
                          </a:solidFill>
                          <a:latin typeface="Arial"/>
                        </a:defRPr>
                      </a:pPr>
                      <a:r>
                        <a:t>MAE</a:t>
                      </a:r>
                    </a:p>
                  </a:txBody>
                  <a:tcPr marL="36576" marR="36576">
                    <a:solidFill>
                      <a:srgbClr val="EAF2FD"/>
                    </a:solidFill>
                  </a:tcPr>
                </a:tc>
                <a:tc>
                  <a:txBody>
                    <a:bodyPr/>
                    <a:lstStyle/>
                    <a:p>
                      <a:pPr>
                        <a:defRPr sz="750" b="1">
                          <a:solidFill>
                            <a:srgbClr val="1A56A0"/>
                          </a:solidFill>
                          <a:latin typeface="Arial"/>
                        </a:defRPr>
                      </a:pPr>
                      <a:r>
                        <a:t>Fit Time</a:t>
                      </a:r>
                    </a:p>
                  </a:txBody>
                  <a:tcPr marL="36576" marR="36576">
                    <a:solidFill>
                      <a:srgbClr val="EAF2FD"/>
                    </a:solidFill>
                  </a:tcPr>
                </a:tc>
                <a:tc>
                  <a:txBody>
                    <a:bodyPr/>
                    <a:lstStyle/>
                    <a:p>
                      <a:pPr>
                        <a:defRPr sz="750" b="1">
                          <a:solidFill>
                            <a:srgbClr val="1A56A0"/>
                          </a:solidFill>
                          <a:latin typeface="Arial"/>
                        </a:defRPr>
                      </a:pPr>
                      <a:r>
                        <a:t>Test Time</a:t>
                      </a:r>
                    </a:p>
                  </a:txBody>
                  <a:tcPr marL="36576" marR="36576">
                    <a:solidFill>
                      <a:srgbClr val="EAF2FD"/>
                    </a:solidFill>
                  </a:tcPr>
                </a:tc>
              </a:tr>
              <a:tr h="457200">
                <a:tc>
                  <a:txBody>
                    <a:bodyPr/>
                    <a:lstStyle/>
                    <a:p>
                      <a:pPr>
                        <a:defRPr sz="850" b="1">
                          <a:solidFill>
                            <a:srgbClr val="107C41"/>
                          </a:solidFill>
                          <a:latin typeface="Arial"/>
                        </a:defRPr>
                      </a:pPr>
                      <a:r>
                        <a:t>2</a:t>
                      </a:r>
                    </a:p>
                  </a:txBody>
                  <a:tcPr marL="36576" marR="36576">
                    <a:solidFill>
                      <a:srgbClr val="E6F7ED"/>
                    </a:solidFill>
                  </a:tcPr>
                </a:tc>
                <a:tc>
                  <a:txBody>
                    <a:bodyPr/>
                    <a:lstStyle/>
                    <a:p>
                      <a:pPr>
                        <a:defRPr sz="850" b="1">
                          <a:solidFill>
                            <a:srgbClr val="107C41"/>
                          </a:solidFill>
                          <a:latin typeface="Arial"/>
                        </a:defRPr>
                      </a:pPr>
                      <a:r>
                        <a:t>2</a:t>
                      </a:r>
                    </a:p>
                  </a:txBody>
                  <a:tcPr marL="36576" marR="36576">
                    <a:solidFill>
                      <a:srgbClr val="E6F7ED"/>
                    </a:solidFill>
                  </a:tcPr>
                </a:tc>
                <a:tc>
                  <a:txBody>
                    <a:bodyPr/>
                    <a:lstStyle/>
                    <a:p>
                      <a:pPr>
                        <a:defRPr sz="850" b="1">
                          <a:solidFill>
                            <a:srgbClr val="107C41"/>
                          </a:solidFill>
                          <a:latin typeface="Arial"/>
                        </a:defRPr>
                      </a:pPr>
                      <a:r>
                        <a:t>0.5489</a:t>
                      </a:r>
                    </a:p>
                  </a:txBody>
                  <a:tcPr marL="36576" marR="36576">
                    <a:solidFill>
                      <a:srgbClr val="E6F7ED"/>
                    </a:solidFill>
                  </a:tcPr>
                </a:tc>
                <a:tc>
                  <a:txBody>
                    <a:bodyPr/>
                    <a:lstStyle/>
                    <a:p>
                      <a:pPr>
                        <a:defRPr sz="850" b="1">
                          <a:solidFill>
                            <a:srgbClr val="107C41"/>
                          </a:solidFill>
                          <a:latin typeface="Arial"/>
                        </a:defRPr>
                      </a:pPr>
                      <a:r>
                        <a:t>0.3014</a:t>
                      </a:r>
                    </a:p>
                  </a:txBody>
                  <a:tcPr marL="36576" marR="36576">
                    <a:solidFill>
                      <a:srgbClr val="E6F7ED"/>
                    </a:solidFill>
                  </a:tcPr>
                </a:tc>
                <a:tc>
                  <a:txBody>
                    <a:bodyPr/>
                    <a:lstStyle/>
                    <a:p>
                      <a:pPr>
                        <a:defRPr sz="850" b="1">
                          <a:solidFill>
                            <a:srgbClr val="107C41"/>
                          </a:solidFill>
                          <a:latin typeface="Arial"/>
                        </a:defRPr>
                      </a:pPr>
                      <a:r>
                        <a:t>0.3513</a:t>
                      </a:r>
                    </a:p>
                  </a:txBody>
                  <a:tcPr marL="36576" marR="36576">
                    <a:solidFill>
                      <a:srgbClr val="E6F7ED"/>
                    </a:solidFill>
                  </a:tcPr>
                </a:tc>
                <a:tc>
                  <a:txBody>
                    <a:bodyPr/>
                    <a:lstStyle/>
                    <a:p>
                      <a:pPr>
                        <a:defRPr sz="850" b="1">
                          <a:solidFill>
                            <a:srgbClr val="107C41"/>
                          </a:solidFill>
                          <a:latin typeface="Arial"/>
                        </a:defRPr>
                      </a:pPr>
                      <a:r>
                        <a:t>0.8157</a:t>
                      </a:r>
                    </a:p>
                  </a:txBody>
                  <a:tcPr marL="36576" marR="36576">
                    <a:solidFill>
                      <a:srgbClr val="E6F7ED"/>
                    </a:solidFill>
                  </a:tcPr>
                </a:tc>
                <a:tc>
                  <a:txBody>
                    <a:bodyPr/>
                    <a:lstStyle/>
                    <a:p>
                      <a:pPr>
                        <a:defRPr sz="850" b="1">
                          <a:solidFill>
                            <a:srgbClr val="107C41"/>
                          </a:solidFill>
                          <a:latin typeface="Arial"/>
                        </a:defRPr>
                      </a:pPr>
                      <a:r>
                        <a:t>0.0433</a:t>
                      </a:r>
                    </a:p>
                  </a:txBody>
                  <a:tcPr marL="36576" marR="36576">
                    <a:solidFill>
                      <a:srgbClr val="E6F7ED"/>
                    </a:solidFill>
                  </a:tcPr>
                </a:tc>
              </a:tr>
            </a:tbl>
          </a:graphicData>
        </a:graphic>
      </p:graphicFrame>
      <p:sp>
        <p:nvSpPr>
          <p:cNvPr id="15" name="TextBox 14"/>
          <p:cNvSpPr txBox="1"/>
          <p:nvPr/>
        </p:nvSpPr>
        <p:spPr>
          <a:xfrm>
            <a:off x="6492240" y="1874519"/>
            <a:ext cx="4572000" cy="228600"/>
          </a:xfrm>
          <a:prstGeom prst="rect">
            <a:avLst/>
          </a:prstGeom>
          <a:noFill/>
        </p:spPr>
        <p:txBody>
          <a:bodyPr wrap="none">
            <a:spAutoFit/>
          </a:bodyPr>
          <a:lstStyle/>
          <a:p>
            <a:pPr>
              <a:defRPr sz="900" b="1">
                <a:solidFill>
                  <a:srgbClr val="18202F"/>
                </a:solidFill>
                <a:latin typeface="Arial"/>
              </a:defRPr>
            </a:pPr>
            <a:r>
              <a:t>CoClustering Best Cluster Sizes (Fixed Range)</a:t>
            </a:r>
          </a:p>
        </p:txBody>
      </p:sp>
      <p:sp>
        <p:nvSpPr>
          <p:cNvPr id="16" name="TextBox 15"/>
          <p:cNvSpPr txBox="1"/>
          <p:nvPr/>
        </p:nvSpPr>
        <p:spPr>
          <a:xfrm>
            <a:off x="6492240" y="3246120"/>
            <a:ext cx="4572000" cy="228600"/>
          </a:xfrm>
          <a:prstGeom prst="rect">
            <a:avLst/>
          </a:prstGeom>
          <a:noFill/>
        </p:spPr>
        <p:txBody>
          <a:bodyPr wrap="none">
            <a:spAutoFit/>
          </a:bodyPr>
          <a:lstStyle/>
          <a:p>
            <a:pPr>
              <a:defRPr sz="900" b="1">
                <a:solidFill>
                  <a:srgbClr val="107C41"/>
                </a:solidFill>
                <a:latin typeface="Arial"/>
              </a:defRPr>
            </a:pPr>
            <a:r>
              <a:t>CoClustering GridSearch Best Parameters</a:t>
            </a:r>
          </a:p>
        </p:txBody>
      </p:sp>
      <p:sp>
        <p:nvSpPr>
          <p:cNvPr id="17" name="Rounded Rectangle 16"/>
          <p:cNvSpPr/>
          <p:nvPr/>
        </p:nvSpPr>
        <p:spPr>
          <a:xfrm>
            <a:off x="731520" y="4892040"/>
            <a:ext cx="10728655" cy="137160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892040"/>
            <a:ext cx="10728655" cy="54864"/>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65192"/>
            <a:ext cx="10362895" cy="1261872"/>
          </a:xfrm>
          <a:prstGeom prst="rect">
            <a:avLst/>
          </a:prstGeom>
          <a:noFill/>
        </p:spPr>
        <p:txBody>
          <a:bodyPr wrap="square">
            <a:spAutoFit/>
          </a:bodyPr>
          <a:lstStyle/>
          <a:p>
            <a:pPr>
              <a:defRPr sz="1100" b="1">
                <a:solidFill>
                  <a:srgbClr val="18202F"/>
                </a:solidFill>
                <a:latin typeface="Arial"/>
              </a:defRPr>
            </a:pPr>
            <a:r>
              <a:t>CoClustering Convergence Analysis</a:t>
            </a:r>
          </a:p>
          <a:p>
            <a:pPr>
              <a:spcBef>
                <a:spcPts val="300"/>
              </a:spcBef>
              <a:defRPr sz="900">
                <a:solidFill>
                  <a:srgbClr val="5A6978"/>
                </a:solidFill>
                <a:latin typeface="Arial"/>
              </a:defRPr>
            </a:pPr>
            <a:r>
              <a:t>In my analysis, testing cluster counts from 1 to 9 for users and 2 to 15 for recipes revealed that while error stabilized near 0.35, the computational overhead of simultaneous optimization grew rapidly. Simpler neighborhood models achieved equal or lower MAE with significantly lower training latency.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DISTANCE METRIC COMPARISON</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Determining User and Item Clusters</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08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3474720" cy="320040"/>
          </a:xfrm>
          <a:prstGeom prst="roundRect">
            <a:avLst/>
          </a:prstGeom>
          <a:solidFill>
            <a:srgbClr val="FEEEF0"/>
          </a:solidFill>
          <a:ln w="12700">
            <a:solidFill>
              <a:srgbClr val="B4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4283C"/>
                </a:solidFill>
                <a:latin typeface="Arial"/>
              </a:defRPr>
            </a:pPr>
            <a:r>
              <a:t>Euclidean Distance: Fails in Sparse Space</a:t>
            </a:r>
          </a:p>
        </p:txBody>
      </p:sp>
      <p:sp>
        <p:nvSpPr>
          <p:cNvPr id="10" name="Rounded Rectangle 9"/>
          <p:cNvSpPr/>
          <p:nvPr/>
        </p:nvSpPr>
        <p:spPr>
          <a:xfrm>
            <a:off x="4389120" y="1325880"/>
            <a:ext cx="7071055" cy="320040"/>
          </a:xfrm>
          <a:prstGeom prst="roundRect">
            <a:avLst/>
          </a:prstGeom>
          <a:solidFill>
            <a:srgbClr val="E6F7ED"/>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07C41"/>
                </a:solidFill>
                <a:latin typeface="Arial"/>
              </a:defRPr>
            </a:pPr>
            <a:r>
              <a:t>Cosine Similarity: Clear Elbow Plots and Separation</a:t>
            </a:r>
          </a:p>
        </p:txBody>
      </p:sp>
      <p:sp>
        <p:nvSpPr>
          <p:cNvPr id="11" name="Rounded Rectangle 10"/>
          <p:cNvSpPr/>
          <p:nvPr/>
        </p:nvSpPr>
        <p:spPr>
          <a:xfrm>
            <a:off x="731520" y="1737360"/>
            <a:ext cx="10728655" cy="379476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ell_35_out_0.png"/>
          <p:cNvPicPr>
            <a:picLocks noChangeAspect="1"/>
          </p:cNvPicPr>
          <p:nvPr/>
        </p:nvPicPr>
        <p:blipFill>
          <a:blip r:embed="rId3"/>
          <a:stretch>
            <a:fillRect/>
          </a:stretch>
        </p:blipFill>
        <p:spPr>
          <a:xfrm>
            <a:off x="822960" y="1792224"/>
            <a:ext cx="10545775" cy="3657600"/>
          </a:xfrm>
          <a:prstGeom prst="rect">
            <a:avLst/>
          </a:prstGeom>
        </p:spPr>
      </p:pic>
      <p:sp>
        <p:nvSpPr>
          <p:cNvPr id="13" name="Rounded Rectangle 12"/>
          <p:cNvSpPr/>
          <p:nvPr/>
        </p:nvSpPr>
        <p:spPr>
          <a:xfrm>
            <a:off x="731520" y="5623560"/>
            <a:ext cx="10728655" cy="80467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623560"/>
            <a:ext cx="10728655" cy="54864"/>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96712"/>
            <a:ext cx="10362895" cy="694944"/>
          </a:xfrm>
          <a:prstGeom prst="rect">
            <a:avLst/>
          </a:prstGeom>
          <a:noFill/>
        </p:spPr>
        <p:txBody>
          <a:bodyPr wrap="square">
            <a:spAutoFit/>
          </a:bodyPr>
          <a:lstStyle/>
          <a:p>
            <a:pPr>
              <a:defRPr sz="1100" b="1">
                <a:solidFill>
                  <a:srgbClr val="18202F"/>
                </a:solidFill>
                <a:latin typeface="Arial"/>
              </a:defRPr>
            </a:pPr>
            <a:r>
              <a:t>Empirical Metric Takeaway</a:t>
            </a:r>
          </a:p>
          <a:p>
            <a:pPr>
              <a:spcBef>
                <a:spcPts val="300"/>
              </a:spcBef>
              <a:defRPr sz="900">
                <a:solidFill>
                  <a:srgbClr val="5A6978"/>
                </a:solidFill>
                <a:latin typeface="Arial"/>
              </a:defRPr>
            </a:pPr>
            <a:r>
              <a:t>Scikit Learn KMeans uses Euclidean distance, which fails to separate sparse vectors. NLTK Cosine KMeans provides much sharper inflection points and meaningful clusters.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NEIGHBORHOOD BENCHMARKS</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Cluster Based Neighborhood Collaborative Filtering</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09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10728655" cy="365760"/>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A56A0"/>
                </a:solidFill>
                <a:latin typeface="Arial"/>
              </a:defRPr>
            </a:pPr>
            <a:r>
              <a:t>User based models perform better on User Clusters; Item based models perform better on Recipe Clusters.</a:t>
            </a:r>
          </a:p>
        </p:txBody>
      </p:sp>
      <p:sp>
        <p:nvSpPr>
          <p:cNvPr id="10" name="Rounded Rectangle 9"/>
          <p:cNvSpPr/>
          <p:nvPr/>
        </p:nvSpPr>
        <p:spPr>
          <a:xfrm>
            <a:off x="731520" y="1783080"/>
            <a:ext cx="10728655" cy="388620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822960" y="1847088"/>
          <a:ext cx="10332720" cy="3749039"/>
        </p:xfrm>
        <a:graphic>
          <a:graphicData uri="http://schemas.openxmlformats.org/drawingml/2006/table">
            <a:tbl>
              <a:tblPr firstRow="1" bandRow="1">
                <a:tableStyleId>{5C22544A-7EE6-4342-B048-85BDC9FD1C3A}</a:tableStyleId>
              </a:tblPr>
              <a:tblGrid>
                <a:gridCol w="2103120"/>
                <a:gridCol w="1645920"/>
                <a:gridCol w="1097280"/>
                <a:gridCol w="1097280"/>
                <a:gridCol w="1097280"/>
                <a:gridCol w="1645920"/>
                <a:gridCol w="1645920"/>
              </a:tblGrid>
              <a:tr h="220531">
                <a:tc>
                  <a:txBody>
                    <a:bodyPr/>
                    <a:lstStyle/>
                    <a:p>
                      <a:pPr>
                        <a:defRPr sz="800" b="1">
                          <a:solidFill>
                            <a:srgbClr val="1A56A0"/>
                          </a:solidFill>
                          <a:latin typeface="Arial"/>
                        </a:defRPr>
                      </a:pPr>
                      <a:r>
                        <a:t>Model</a:t>
                      </a:r>
                    </a:p>
                  </a:txBody>
                  <a:tcPr marL="45720" marR="45720">
                    <a:solidFill>
                      <a:srgbClr val="EAF2FD"/>
                    </a:solidFill>
                  </a:tcPr>
                </a:tc>
                <a:tc>
                  <a:txBody>
                    <a:bodyPr/>
                    <a:lstStyle/>
                    <a:p>
                      <a:pPr>
                        <a:defRPr sz="800" b="1">
                          <a:solidFill>
                            <a:srgbClr val="1A56A0"/>
                          </a:solidFill>
                          <a:latin typeface="Arial"/>
                        </a:defRPr>
                      </a:pPr>
                      <a:r>
                        <a:t>Cluster Basis</a:t>
                      </a:r>
                    </a:p>
                  </a:txBody>
                  <a:tcPr marL="45720" marR="45720">
                    <a:solidFill>
                      <a:srgbClr val="EAF2FD"/>
                    </a:solidFill>
                  </a:tcPr>
                </a:tc>
                <a:tc>
                  <a:txBody>
                    <a:bodyPr/>
                    <a:lstStyle/>
                    <a:p>
                      <a:pPr>
                        <a:defRPr sz="800" b="1">
                          <a:solidFill>
                            <a:srgbClr val="1A56A0"/>
                          </a:solidFill>
                          <a:latin typeface="Arial"/>
                        </a:defRPr>
                      </a:pPr>
                      <a:r>
                        <a:t>RMSE</a:t>
                      </a:r>
                    </a:p>
                  </a:txBody>
                  <a:tcPr marL="45720" marR="45720">
                    <a:solidFill>
                      <a:srgbClr val="EAF2FD"/>
                    </a:solidFill>
                  </a:tcPr>
                </a:tc>
                <a:tc>
                  <a:txBody>
                    <a:bodyPr/>
                    <a:lstStyle/>
                    <a:p>
                      <a:pPr>
                        <a:defRPr sz="800" b="1">
                          <a:solidFill>
                            <a:srgbClr val="1A56A0"/>
                          </a:solidFill>
                          <a:latin typeface="Arial"/>
                        </a:defRPr>
                      </a:pPr>
                      <a:r>
                        <a:t>MSE</a:t>
                      </a:r>
                    </a:p>
                  </a:txBody>
                  <a:tcPr marL="45720" marR="45720">
                    <a:solidFill>
                      <a:srgbClr val="EAF2FD"/>
                    </a:solidFill>
                  </a:tcPr>
                </a:tc>
                <a:tc>
                  <a:txBody>
                    <a:bodyPr/>
                    <a:lstStyle/>
                    <a:p>
                      <a:pPr>
                        <a:defRPr sz="800" b="1">
                          <a:solidFill>
                            <a:srgbClr val="1A56A0"/>
                          </a:solidFill>
                          <a:latin typeface="Arial"/>
                        </a:defRPr>
                      </a:pPr>
                      <a:r>
                        <a:t>MAE</a:t>
                      </a:r>
                    </a:p>
                  </a:txBody>
                  <a:tcPr marL="45720" marR="45720">
                    <a:solidFill>
                      <a:srgbClr val="EAF2FD"/>
                    </a:solidFill>
                  </a:tcPr>
                </a:tc>
                <a:tc>
                  <a:txBody>
                    <a:bodyPr/>
                    <a:lstStyle/>
                    <a:p>
                      <a:pPr>
                        <a:defRPr sz="800" b="1">
                          <a:solidFill>
                            <a:srgbClr val="1A56A0"/>
                          </a:solidFill>
                          <a:latin typeface="Arial"/>
                        </a:defRPr>
                      </a:pPr>
                      <a:r>
                        <a:t>Fit Time</a:t>
                      </a:r>
                    </a:p>
                  </a:txBody>
                  <a:tcPr marL="45720" marR="45720">
                    <a:solidFill>
                      <a:srgbClr val="EAF2FD"/>
                    </a:solidFill>
                  </a:tcPr>
                </a:tc>
                <a:tc>
                  <a:txBody>
                    <a:bodyPr/>
                    <a:lstStyle/>
                    <a:p>
                      <a:pPr>
                        <a:defRPr sz="800" b="1">
                          <a:solidFill>
                            <a:srgbClr val="1A56A0"/>
                          </a:solidFill>
                          <a:latin typeface="Arial"/>
                        </a:defRPr>
                      </a:pPr>
                      <a:r>
                        <a:t>Test Time</a:t>
                      </a:r>
                    </a:p>
                  </a:txBody>
                  <a:tcPr marL="45720" marR="45720">
                    <a:solidFill>
                      <a:srgbClr val="EAF2FD"/>
                    </a:solidFill>
                  </a:tcPr>
                </a:tc>
              </a:tr>
              <a:tr h="220531">
                <a:tc>
                  <a:txBody>
                    <a:bodyPr/>
                    <a:lstStyle/>
                    <a:p>
                      <a:pPr>
                        <a:defRPr sz="750">
                          <a:solidFill>
                            <a:srgbClr val="18202F"/>
                          </a:solidFill>
                          <a:latin typeface="Arial"/>
                        </a:defRPr>
                      </a:pPr>
                      <a:r>
                        <a:t>KNNBasic (User)</a:t>
                      </a:r>
                    </a:p>
                  </a:txBody>
                  <a:tcPr marL="45720" marR="45720">
                    <a:solidFill>
                      <a:srgbClr val="FFFFFF"/>
                    </a:solidFill>
                  </a:tcPr>
                </a:tc>
                <a:tc>
                  <a:txBody>
                    <a:bodyPr/>
                    <a:lstStyle/>
                    <a:p>
                      <a:pPr>
                        <a:defRPr sz="750">
                          <a:solidFill>
                            <a:srgbClr val="18202F"/>
                          </a:solidFill>
                          <a:latin typeface="Arial"/>
                        </a:defRPr>
                      </a:pPr>
                      <a:r>
                        <a:t>User Clusters</a:t>
                      </a:r>
                    </a:p>
                  </a:txBody>
                  <a:tcPr marL="45720" marR="45720">
                    <a:solidFill>
                      <a:srgbClr val="FFFFFF"/>
                    </a:solidFill>
                  </a:tcPr>
                </a:tc>
                <a:tc>
                  <a:txBody>
                    <a:bodyPr/>
                    <a:lstStyle/>
                    <a:p>
                      <a:pPr>
                        <a:defRPr sz="750">
                          <a:solidFill>
                            <a:srgbClr val="18202F"/>
                          </a:solidFill>
                          <a:latin typeface="Arial"/>
                        </a:defRPr>
                      </a:pPr>
                      <a:r>
                        <a:t>0.5843</a:t>
                      </a:r>
                    </a:p>
                  </a:txBody>
                  <a:tcPr marL="45720" marR="45720">
                    <a:solidFill>
                      <a:srgbClr val="FFFFFF"/>
                    </a:solidFill>
                  </a:tcPr>
                </a:tc>
                <a:tc>
                  <a:txBody>
                    <a:bodyPr/>
                    <a:lstStyle/>
                    <a:p>
                      <a:pPr>
                        <a:defRPr sz="750">
                          <a:solidFill>
                            <a:srgbClr val="18202F"/>
                          </a:solidFill>
                          <a:latin typeface="Arial"/>
                        </a:defRPr>
                      </a:pPr>
                      <a:r>
                        <a:t>0.3414</a:t>
                      </a:r>
                    </a:p>
                  </a:txBody>
                  <a:tcPr marL="45720" marR="45720">
                    <a:solidFill>
                      <a:srgbClr val="FFFFFF"/>
                    </a:solidFill>
                  </a:tcPr>
                </a:tc>
                <a:tc>
                  <a:txBody>
                    <a:bodyPr/>
                    <a:lstStyle/>
                    <a:p>
                      <a:pPr>
                        <a:defRPr sz="750">
                          <a:solidFill>
                            <a:srgbClr val="18202F"/>
                          </a:solidFill>
                          <a:latin typeface="Arial"/>
                        </a:defRPr>
                      </a:pPr>
                      <a:r>
                        <a:t>0.3463</a:t>
                      </a:r>
                    </a:p>
                  </a:txBody>
                  <a:tcPr marL="45720" marR="45720">
                    <a:solidFill>
                      <a:srgbClr val="FFFFFF"/>
                    </a:solidFill>
                  </a:tcPr>
                </a:tc>
                <a:tc>
                  <a:txBody>
                    <a:bodyPr/>
                    <a:lstStyle/>
                    <a:p>
                      <a:pPr>
                        <a:defRPr sz="750">
                          <a:solidFill>
                            <a:srgbClr val="18202F"/>
                          </a:solidFill>
                          <a:latin typeface="Arial"/>
                        </a:defRPr>
                      </a:pPr>
                      <a:r>
                        <a:t>0.0078</a:t>
                      </a:r>
                    </a:p>
                  </a:txBody>
                  <a:tcPr marL="45720" marR="45720">
                    <a:solidFill>
                      <a:srgbClr val="FFFFFF"/>
                    </a:solidFill>
                  </a:tcPr>
                </a:tc>
                <a:tc>
                  <a:txBody>
                    <a:bodyPr/>
                    <a:lstStyle/>
                    <a:p>
                      <a:pPr>
                        <a:defRPr sz="750">
                          <a:solidFill>
                            <a:srgbClr val="18202F"/>
                          </a:solidFill>
                          <a:latin typeface="Arial"/>
                        </a:defRPr>
                      </a:pPr>
                      <a:r>
                        <a:t>0.0381</a:t>
                      </a:r>
                    </a:p>
                  </a:txBody>
                  <a:tcPr marL="45720" marR="45720">
                    <a:solidFill>
                      <a:srgbClr val="FFFFFF"/>
                    </a:solidFill>
                  </a:tcPr>
                </a:tc>
              </a:tr>
              <a:tr h="220531">
                <a:tc>
                  <a:txBody>
                    <a:bodyPr/>
                    <a:lstStyle/>
                    <a:p>
                      <a:pPr>
                        <a:defRPr sz="750">
                          <a:solidFill>
                            <a:srgbClr val="18202F"/>
                          </a:solidFill>
                          <a:latin typeface="Arial"/>
                        </a:defRPr>
                      </a:pPr>
                      <a:r>
                        <a:t>KNNBasic (Item)</a:t>
                      </a:r>
                    </a:p>
                  </a:txBody>
                  <a:tcPr marL="45720" marR="45720">
                    <a:solidFill>
                      <a:srgbClr val="F8FAFC"/>
                    </a:solidFill>
                  </a:tcPr>
                </a:tc>
                <a:tc>
                  <a:txBody>
                    <a:bodyPr/>
                    <a:lstStyle/>
                    <a:p>
                      <a:pPr>
                        <a:defRPr sz="750">
                          <a:solidFill>
                            <a:srgbClr val="18202F"/>
                          </a:solidFill>
                          <a:latin typeface="Arial"/>
                        </a:defRPr>
                      </a:pPr>
                      <a:r>
                        <a:t>User Clusters</a:t>
                      </a:r>
                    </a:p>
                  </a:txBody>
                  <a:tcPr marL="45720" marR="45720">
                    <a:solidFill>
                      <a:srgbClr val="F8FAFC"/>
                    </a:solidFill>
                  </a:tcPr>
                </a:tc>
                <a:tc>
                  <a:txBody>
                    <a:bodyPr/>
                    <a:lstStyle/>
                    <a:p>
                      <a:pPr>
                        <a:defRPr sz="750">
                          <a:solidFill>
                            <a:srgbClr val="18202F"/>
                          </a:solidFill>
                          <a:latin typeface="Arial"/>
                        </a:defRPr>
                      </a:pPr>
                      <a:r>
                        <a:t>0.5980</a:t>
                      </a:r>
                    </a:p>
                  </a:txBody>
                  <a:tcPr marL="45720" marR="45720">
                    <a:solidFill>
                      <a:srgbClr val="F8FAFC"/>
                    </a:solidFill>
                  </a:tcPr>
                </a:tc>
                <a:tc>
                  <a:txBody>
                    <a:bodyPr/>
                    <a:lstStyle/>
                    <a:p>
                      <a:pPr>
                        <a:defRPr sz="750">
                          <a:solidFill>
                            <a:srgbClr val="18202F"/>
                          </a:solidFill>
                          <a:latin typeface="Arial"/>
                        </a:defRPr>
                      </a:pPr>
                      <a:r>
                        <a:t>0.3577</a:t>
                      </a:r>
                    </a:p>
                  </a:txBody>
                  <a:tcPr marL="45720" marR="45720">
                    <a:solidFill>
                      <a:srgbClr val="F8FAFC"/>
                    </a:solidFill>
                  </a:tcPr>
                </a:tc>
                <a:tc>
                  <a:txBody>
                    <a:bodyPr/>
                    <a:lstStyle/>
                    <a:p>
                      <a:pPr>
                        <a:defRPr sz="750">
                          <a:solidFill>
                            <a:srgbClr val="18202F"/>
                          </a:solidFill>
                          <a:latin typeface="Arial"/>
                        </a:defRPr>
                      </a:pPr>
                      <a:r>
                        <a:t>0.3499</a:t>
                      </a:r>
                    </a:p>
                  </a:txBody>
                  <a:tcPr marL="45720" marR="45720">
                    <a:solidFill>
                      <a:srgbClr val="F8FAFC"/>
                    </a:solidFill>
                  </a:tcPr>
                </a:tc>
                <a:tc>
                  <a:txBody>
                    <a:bodyPr/>
                    <a:lstStyle/>
                    <a:p>
                      <a:pPr>
                        <a:defRPr sz="750">
                          <a:solidFill>
                            <a:srgbClr val="18202F"/>
                          </a:solidFill>
                          <a:latin typeface="Arial"/>
                        </a:defRPr>
                      </a:pPr>
                      <a:r>
                        <a:t>0.0125</a:t>
                      </a:r>
                    </a:p>
                  </a:txBody>
                  <a:tcPr marL="45720" marR="45720">
                    <a:solidFill>
                      <a:srgbClr val="F8FAFC"/>
                    </a:solidFill>
                  </a:tcPr>
                </a:tc>
                <a:tc>
                  <a:txBody>
                    <a:bodyPr/>
                    <a:lstStyle/>
                    <a:p>
                      <a:pPr>
                        <a:defRPr sz="750">
                          <a:solidFill>
                            <a:srgbClr val="18202F"/>
                          </a:solidFill>
                          <a:latin typeface="Arial"/>
                        </a:defRPr>
                      </a:pPr>
                      <a:r>
                        <a:t>0.0156</a:t>
                      </a:r>
                    </a:p>
                  </a:txBody>
                  <a:tcPr marL="45720" marR="45720">
                    <a:solidFill>
                      <a:srgbClr val="F8FAFC"/>
                    </a:solidFill>
                  </a:tcPr>
                </a:tc>
              </a:tr>
              <a:tr h="220531">
                <a:tc>
                  <a:txBody>
                    <a:bodyPr/>
                    <a:lstStyle/>
                    <a:p>
                      <a:pPr>
                        <a:defRPr sz="750">
                          <a:solidFill>
                            <a:srgbClr val="18202F"/>
                          </a:solidFill>
                          <a:latin typeface="Arial"/>
                        </a:defRPr>
                      </a:pPr>
                      <a:r>
                        <a:t>KNNWithMeans (User)</a:t>
                      </a:r>
                    </a:p>
                  </a:txBody>
                  <a:tcPr marL="45720" marR="45720">
                    <a:solidFill>
                      <a:srgbClr val="FFFFFF"/>
                    </a:solidFill>
                  </a:tcPr>
                </a:tc>
                <a:tc>
                  <a:txBody>
                    <a:bodyPr/>
                    <a:lstStyle/>
                    <a:p>
                      <a:pPr>
                        <a:defRPr sz="750">
                          <a:solidFill>
                            <a:srgbClr val="18202F"/>
                          </a:solidFill>
                          <a:latin typeface="Arial"/>
                        </a:defRPr>
                      </a:pPr>
                      <a:r>
                        <a:t>User Clusters</a:t>
                      </a:r>
                    </a:p>
                  </a:txBody>
                  <a:tcPr marL="45720" marR="45720">
                    <a:solidFill>
                      <a:srgbClr val="FFFFFF"/>
                    </a:solidFill>
                  </a:tcPr>
                </a:tc>
                <a:tc>
                  <a:txBody>
                    <a:bodyPr/>
                    <a:lstStyle/>
                    <a:p>
                      <a:pPr>
                        <a:defRPr sz="750">
                          <a:solidFill>
                            <a:srgbClr val="18202F"/>
                          </a:solidFill>
                          <a:latin typeface="Arial"/>
                        </a:defRPr>
                      </a:pPr>
                      <a:r>
                        <a:t>0.5695</a:t>
                      </a:r>
                    </a:p>
                  </a:txBody>
                  <a:tcPr marL="45720" marR="45720">
                    <a:solidFill>
                      <a:srgbClr val="FFFFFF"/>
                    </a:solidFill>
                  </a:tcPr>
                </a:tc>
                <a:tc>
                  <a:txBody>
                    <a:bodyPr/>
                    <a:lstStyle/>
                    <a:p>
                      <a:pPr>
                        <a:defRPr sz="750">
                          <a:solidFill>
                            <a:srgbClr val="18202F"/>
                          </a:solidFill>
                          <a:latin typeface="Arial"/>
                        </a:defRPr>
                      </a:pPr>
                      <a:r>
                        <a:t>0.3243</a:t>
                      </a:r>
                    </a:p>
                  </a:txBody>
                  <a:tcPr marL="45720" marR="45720">
                    <a:solidFill>
                      <a:srgbClr val="FFFFFF"/>
                    </a:solidFill>
                  </a:tcPr>
                </a:tc>
                <a:tc>
                  <a:txBody>
                    <a:bodyPr/>
                    <a:lstStyle/>
                    <a:p>
                      <a:pPr>
                        <a:defRPr sz="750">
                          <a:solidFill>
                            <a:srgbClr val="18202F"/>
                          </a:solidFill>
                          <a:latin typeface="Arial"/>
                        </a:defRPr>
                      </a:pPr>
                      <a:r>
                        <a:t>0.3503</a:t>
                      </a:r>
                    </a:p>
                  </a:txBody>
                  <a:tcPr marL="45720" marR="45720">
                    <a:solidFill>
                      <a:srgbClr val="FFFFFF"/>
                    </a:solidFill>
                  </a:tcPr>
                </a:tc>
                <a:tc>
                  <a:txBody>
                    <a:bodyPr/>
                    <a:lstStyle/>
                    <a:p>
                      <a:pPr>
                        <a:defRPr sz="750">
                          <a:solidFill>
                            <a:srgbClr val="18202F"/>
                          </a:solidFill>
                          <a:latin typeface="Arial"/>
                        </a:defRPr>
                      </a:pPr>
                      <a:r>
                        <a:t>0.0062</a:t>
                      </a:r>
                    </a:p>
                  </a:txBody>
                  <a:tcPr marL="45720" marR="45720">
                    <a:solidFill>
                      <a:srgbClr val="FFFFFF"/>
                    </a:solidFill>
                  </a:tcPr>
                </a:tc>
                <a:tc>
                  <a:txBody>
                    <a:bodyPr/>
                    <a:lstStyle/>
                    <a:p>
                      <a:pPr>
                        <a:defRPr sz="750">
                          <a:solidFill>
                            <a:srgbClr val="18202F"/>
                          </a:solidFill>
                          <a:latin typeface="Arial"/>
                        </a:defRPr>
                      </a:pPr>
                      <a:r>
                        <a:t>0.0312</a:t>
                      </a:r>
                    </a:p>
                  </a:txBody>
                  <a:tcPr marL="45720" marR="45720">
                    <a:solidFill>
                      <a:srgbClr val="FFFFFF"/>
                    </a:solidFill>
                  </a:tcPr>
                </a:tc>
              </a:tr>
              <a:tr h="220531">
                <a:tc>
                  <a:txBody>
                    <a:bodyPr/>
                    <a:lstStyle/>
                    <a:p>
                      <a:pPr>
                        <a:defRPr sz="750">
                          <a:solidFill>
                            <a:srgbClr val="18202F"/>
                          </a:solidFill>
                          <a:latin typeface="Arial"/>
                        </a:defRPr>
                      </a:pPr>
                      <a:r>
                        <a:t>KNNWithMeans (Item)</a:t>
                      </a:r>
                    </a:p>
                  </a:txBody>
                  <a:tcPr marL="45720" marR="45720">
                    <a:solidFill>
                      <a:srgbClr val="F8FAFC"/>
                    </a:solidFill>
                  </a:tcPr>
                </a:tc>
                <a:tc>
                  <a:txBody>
                    <a:bodyPr/>
                    <a:lstStyle/>
                    <a:p>
                      <a:pPr>
                        <a:defRPr sz="750">
                          <a:solidFill>
                            <a:srgbClr val="18202F"/>
                          </a:solidFill>
                          <a:latin typeface="Arial"/>
                        </a:defRPr>
                      </a:pPr>
                      <a:r>
                        <a:t>User Clusters</a:t>
                      </a:r>
                    </a:p>
                  </a:txBody>
                  <a:tcPr marL="45720" marR="45720">
                    <a:solidFill>
                      <a:srgbClr val="F8FAFC"/>
                    </a:solidFill>
                  </a:tcPr>
                </a:tc>
                <a:tc>
                  <a:txBody>
                    <a:bodyPr/>
                    <a:lstStyle/>
                    <a:p>
                      <a:pPr>
                        <a:defRPr sz="750">
                          <a:solidFill>
                            <a:srgbClr val="18202F"/>
                          </a:solidFill>
                          <a:latin typeface="Arial"/>
                        </a:defRPr>
                      </a:pPr>
                      <a:r>
                        <a:t>0.5896</a:t>
                      </a:r>
                    </a:p>
                  </a:txBody>
                  <a:tcPr marL="45720" marR="45720">
                    <a:solidFill>
                      <a:srgbClr val="F8FAFC"/>
                    </a:solidFill>
                  </a:tcPr>
                </a:tc>
                <a:tc>
                  <a:txBody>
                    <a:bodyPr/>
                    <a:lstStyle/>
                    <a:p>
                      <a:pPr>
                        <a:defRPr sz="750">
                          <a:solidFill>
                            <a:srgbClr val="18202F"/>
                          </a:solidFill>
                          <a:latin typeface="Arial"/>
                        </a:defRPr>
                      </a:pPr>
                      <a:r>
                        <a:t>0.3476</a:t>
                      </a:r>
                    </a:p>
                  </a:txBody>
                  <a:tcPr marL="45720" marR="45720">
                    <a:solidFill>
                      <a:srgbClr val="F8FAFC"/>
                    </a:solidFill>
                  </a:tcPr>
                </a:tc>
                <a:tc>
                  <a:txBody>
                    <a:bodyPr/>
                    <a:lstStyle/>
                    <a:p>
                      <a:pPr>
                        <a:defRPr sz="750">
                          <a:solidFill>
                            <a:srgbClr val="18202F"/>
                          </a:solidFill>
                          <a:latin typeface="Arial"/>
                        </a:defRPr>
                      </a:pPr>
                      <a:r>
                        <a:t>0.3533</a:t>
                      </a:r>
                    </a:p>
                  </a:txBody>
                  <a:tcPr marL="45720" marR="45720">
                    <a:solidFill>
                      <a:srgbClr val="F8FAFC"/>
                    </a:solidFill>
                  </a:tcPr>
                </a:tc>
                <a:tc>
                  <a:txBody>
                    <a:bodyPr/>
                    <a:lstStyle/>
                    <a:p>
                      <a:pPr>
                        <a:defRPr sz="750">
                          <a:solidFill>
                            <a:srgbClr val="18202F"/>
                          </a:solidFill>
                          <a:latin typeface="Arial"/>
                        </a:defRPr>
                      </a:pPr>
                      <a:r>
                        <a:t>0.0094</a:t>
                      </a:r>
                    </a:p>
                  </a:txBody>
                  <a:tcPr marL="45720" marR="45720">
                    <a:solidFill>
                      <a:srgbClr val="F8FAFC"/>
                    </a:solidFill>
                  </a:tcPr>
                </a:tc>
                <a:tc>
                  <a:txBody>
                    <a:bodyPr/>
                    <a:lstStyle/>
                    <a:p>
                      <a:pPr>
                        <a:defRPr sz="750">
                          <a:solidFill>
                            <a:srgbClr val="18202F"/>
                          </a:solidFill>
                          <a:latin typeface="Arial"/>
                        </a:defRPr>
                      </a:pPr>
                      <a:r>
                        <a:t>0.0156</a:t>
                      </a:r>
                    </a:p>
                  </a:txBody>
                  <a:tcPr marL="45720" marR="45720">
                    <a:solidFill>
                      <a:srgbClr val="F8FAFC"/>
                    </a:solidFill>
                  </a:tcPr>
                </a:tc>
              </a:tr>
              <a:tr h="220531">
                <a:tc>
                  <a:txBody>
                    <a:bodyPr/>
                    <a:lstStyle/>
                    <a:p>
                      <a:pPr>
                        <a:defRPr sz="750" b="1">
                          <a:solidFill>
                            <a:srgbClr val="107C41"/>
                          </a:solidFill>
                          <a:latin typeface="Arial"/>
                        </a:defRPr>
                      </a:pPr>
                      <a:r>
                        <a:t>KNNWithZScore (User)</a:t>
                      </a:r>
                    </a:p>
                  </a:txBody>
                  <a:tcPr marL="45720" marR="45720">
                    <a:solidFill>
                      <a:srgbClr val="E6F7ED"/>
                    </a:solidFill>
                  </a:tcPr>
                </a:tc>
                <a:tc>
                  <a:txBody>
                    <a:bodyPr/>
                    <a:lstStyle/>
                    <a:p>
                      <a:pPr>
                        <a:defRPr sz="750" b="1">
                          <a:solidFill>
                            <a:srgbClr val="107C41"/>
                          </a:solidFill>
                          <a:latin typeface="Arial"/>
                        </a:defRPr>
                      </a:pPr>
                      <a:r>
                        <a:t>User Clusters</a:t>
                      </a:r>
                    </a:p>
                  </a:txBody>
                  <a:tcPr marL="45720" marR="45720">
                    <a:solidFill>
                      <a:srgbClr val="E6F7ED"/>
                    </a:solidFill>
                  </a:tcPr>
                </a:tc>
                <a:tc>
                  <a:txBody>
                    <a:bodyPr/>
                    <a:lstStyle/>
                    <a:p>
                      <a:pPr>
                        <a:defRPr sz="750" b="1">
                          <a:solidFill>
                            <a:srgbClr val="107C41"/>
                          </a:solidFill>
                          <a:latin typeface="Arial"/>
                        </a:defRPr>
                      </a:pPr>
                      <a:r>
                        <a:t>0.5643</a:t>
                      </a:r>
                    </a:p>
                  </a:txBody>
                  <a:tcPr marL="45720" marR="45720">
                    <a:solidFill>
                      <a:srgbClr val="E6F7ED"/>
                    </a:solidFill>
                  </a:tcPr>
                </a:tc>
                <a:tc>
                  <a:txBody>
                    <a:bodyPr/>
                    <a:lstStyle/>
                    <a:p>
                      <a:pPr>
                        <a:defRPr sz="750" b="1">
                          <a:solidFill>
                            <a:srgbClr val="107C41"/>
                          </a:solidFill>
                          <a:latin typeface="Arial"/>
                        </a:defRPr>
                      </a:pPr>
                      <a:r>
                        <a:t>0.3185</a:t>
                      </a:r>
                    </a:p>
                  </a:txBody>
                  <a:tcPr marL="45720" marR="45720">
                    <a:solidFill>
                      <a:srgbClr val="E6F7ED"/>
                    </a:solidFill>
                  </a:tcPr>
                </a:tc>
                <a:tc>
                  <a:txBody>
                    <a:bodyPr/>
                    <a:lstStyle/>
                    <a:p>
                      <a:pPr>
                        <a:defRPr sz="750" b="1">
                          <a:solidFill>
                            <a:srgbClr val="107C41"/>
                          </a:solidFill>
                          <a:latin typeface="Arial"/>
                        </a:defRPr>
                      </a:pPr>
                      <a:r>
                        <a:t>0.3451</a:t>
                      </a:r>
                    </a:p>
                  </a:txBody>
                  <a:tcPr marL="45720" marR="45720">
                    <a:solidFill>
                      <a:srgbClr val="E6F7ED"/>
                    </a:solidFill>
                  </a:tcPr>
                </a:tc>
                <a:tc>
                  <a:txBody>
                    <a:bodyPr/>
                    <a:lstStyle/>
                    <a:p>
                      <a:pPr>
                        <a:defRPr sz="750" b="1">
                          <a:solidFill>
                            <a:srgbClr val="107C41"/>
                          </a:solidFill>
                          <a:latin typeface="Arial"/>
                        </a:defRPr>
                      </a:pPr>
                      <a:r>
                        <a:t>0.0078</a:t>
                      </a:r>
                    </a:p>
                  </a:txBody>
                  <a:tcPr marL="45720" marR="45720">
                    <a:solidFill>
                      <a:srgbClr val="E6F7ED"/>
                    </a:solidFill>
                  </a:tcPr>
                </a:tc>
                <a:tc>
                  <a:txBody>
                    <a:bodyPr/>
                    <a:lstStyle/>
                    <a:p>
                      <a:pPr>
                        <a:defRPr sz="750" b="1">
                          <a:solidFill>
                            <a:srgbClr val="107C41"/>
                          </a:solidFill>
                          <a:latin typeface="Arial"/>
                        </a:defRPr>
                      </a:pPr>
                      <a:r>
                        <a:t>0.0375</a:t>
                      </a:r>
                    </a:p>
                  </a:txBody>
                  <a:tcPr marL="45720" marR="45720">
                    <a:solidFill>
                      <a:srgbClr val="E6F7ED"/>
                    </a:solidFill>
                  </a:tcPr>
                </a:tc>
              </a:tr>
              <a:tr h="220531">
                <a:tc>
                  <a:txBody>
                    <a:bodyPr/>
                    <a:lstStyle/>
                    <a:p>
                      <a:pPr>
                        <a:defRPr sz="750">
                          <a:solidFill>
                            <a:srgbClr val="18202F"/>
                          </a:solidFill>
                          <a:latin typeface="Arial"/>
                        </a:defRPr>
                      </a:pPr>
                      <a:r>
                        <a:t>KNNWithZScore (Item)</a:t>
                      </a:r>
                    </a:p>
                  </a:txBody>
                  <a:tcPr marL="45720" marR="45720">
                    <a:solidFill>
                      <a:srgbClr val="F8FAFC"/>
                    </a:solidFill>
                  </a:tcPr>
                </a:tc>
                <a:tc>
                  <a:txBody>
                    <a:bodyPr/>
                    <a:lstStyle/>
                    <a:p>
                      <a:pPr>
                        <a:defRPr sz="750">
                          <a:solidFill>
                            <a:srgbClr val="18202F"/>
                          </a:solidFill>
                          <a:latin typeface="Arial"/>
                        </a:defRPr>
                      </a:pPr>
                      <a:r>
                        <a:t>User Clusters</a:t>
                      </a:r>
                    </a:p>
                  </a:txBody>
                  <a:tcPr marL="45720" marR="45720">
                    <a:solidFill>
                      <a:srgbClr val="F8FAFC"/>
                    </a:solidFill>
                  </a:tcPr>
                </a:tc>
                <a:tc>
                  <a:txBody>
                    <a:bodyPr/>
                    <a:lstStyle/>
                    <a:p>
                      <a:pPr>
                        <a:defRPr sz="750">
                          <a:solidFill>
                            <a:srgbClr val="18202F"/>
                          </a:solidFill>
                          <a:latin typeface="Arial"/>
                        </a:defRPr>
                      </a:pPr>
                      <a:r>
                        <a:t>0.5891</a:t>
                      </a:r>
                    </a:p>
                  </a:txBody>
                  <a:tcPr marL="45720" marR="45720">
                    <a:solidFill>
                      <a:srgbClr val="F8FAFC"/>
                    </a:solidFill>
                  </a:tcPr>
                </a:tc>
                <a:tc>
                  <a:txBody>
                    <a:bodyPr/>
                    <a:lstStyle/>
                    <a:p>
                      <a:pPr>
                        <a:defRPr sz="750">
                          <a:solidFill>
                            <a:srgbClr val="18202F"/>
                          </a:solidFill>
                          <a:latin typeface="Arial"/>
                        </a:defRPr>
                      </a:pPr>
                      <a:r>
                        <a:t>0.3470</a:t>
                      </a:r>
                    </a:p>
                  </a:txBody>
                  <a:tcPr marL="45720" marR="45720">
                    <a:solidFill>
                      <a:srgbClr val="F8FAFC"/>
                    </a:solidFill>
                  </a:tcPr>
                </a:tc>
                <a:tc>
                  <a:txBody>
                    <a:bodyPr/>
                    <a:lstStyle/>
                    <a:p>
                      <a:pPr>
                        <a:defRPr sz="750">
                          <a:solidFill>
                            <a:srgbClr val="18202F"/>
                          </a:solidFill>
                          <a:latin typeface="Arial"/>
                        </a:defRPr>
                      </a:pPr>
                      <a:r>
                        <a:t>0.3524</a:t>
                      </a:r>
                    </a:p>
                  </a:txBody>
                  <a:tcPr marL="45720" marR="45720">
                    <a:solidFill>
                      <a:srgbClr val="F8FAFC"/>
                    </a:solidFill>
                  </a:tcPr>
                </a:tc>
                <a:tc>
                  <a:txBody>
                    <a:bodyPr/>
                    <a:lstStyle/>
                    <a:p>
                      <a:pPr>
                        <a:defRPr sz="750">
                          <a:solidFill>
                            <a:srgbClr val="18202F"/>
                          </a:solidFill>
                          <a:latin typeface="Arial"/>
                        </a:defRPr>
                      </a:pPr>
                      <a:r>
                        <a:t>0.0094</a:t>
                      </a:r>
                    </a:p>
                  </a:txBody>
                  <a:tcPr marL="45720" marR="45720">
                    <a:solidFill>
                      <a:srgbClr val="F8FAFC"/>
                    </a:solidFill>
                  </a:tcPr>
                </a:tc>
                <a:tc>
                  <a:txBody>
                    <a:bodyPr/>
                    <a:lstStyle/>
                    <a:p>
                      <a:pPr>
                        <a:defRPr sz="750">
                          <a:solidFill>
                            <a:srgbClr val="18202F"/>
                          </a:solidFill>
                          <a:latin typeface="Arial"/>
                        </a:defRPr>
                      </a:pPr>
                      <a:r>
                        <a:t>0.0187</a:t>
                      </a:r>
                    </a:p>
                  </a:txBody>
                  <a:tcPr marL="45720" marR="45720">
                    <a:solidFill>
                      <a:srgbClr val="F8FAFC"/>
                    </a:solidFill>
                  </a:tcPr>
                </a:tc>
              </a:tr>
              <a:tr h="220531">
                <a:tc>
                  <a:txBody>
                    <a:bodyPr/>
                    <a:lstStyle/>
                    <a:p>
                      <a:pPr>
                        <a:defRPr sz="750">
                          <a:solidFill>
                            <a:srgbClr val="18202F"/>
                          </a:solidFill>
                          <a:latin typeface="Arial"/>
                        </a:defRPr>
                      </a:pPr>
                      <a:r>
                        <a:t>KNNBaseline (User)</a:t>
                      </a:r>
                    </a:p>
                  </a:txBody>
                  <a:tcPr marL="45720" marR="45720">
                    <a:solidFill>
                      <a:srgbClr val="FFFFFF"/>
                    </a:solidFill>
                  </a:tcPr>
                </a:tc>
                <a:tc>
                  <a:txBody>
                    <a:bodyPr/>
                    <a:lstStyle/>
                    <a:p>
                      <a:pPr>
                        <a:defRPr sz="750">
                          <a:solidFill>
                            <a:srgbClr val="18202F"/>
                          </a:solidFill>
                          <a:latin typeface="Arial"/>
                        </a:defRPr>
                      </a:pPr>
                      <a:r>
                        <a:t>User Clusters</a:t>
                      </a:r>
                    </a:p>
                  </a:txBody>
                  <a:tcPr marL="45720" marR="45720">
                    <a:solidFill>
                      <a:srgbClr val="FFFFFF"/>
                    </a:solidFill>
                  </a:tcPr>
                </a:tc>
                <a:tc>
                  <a:txBody>
                    <a:bodyPr/>
                    <a:lstStyle/>
                    <a:p>
                      <a:pPr>
                        <a:defRPr sz="750">
                          <a:solidFill>
                            <a:srgbClr val="18202F"/>
                          </a:solidFill>
                          <a:latin typeface="Arial"/>
                        </a:defRPr>
                      </a:pPr>
                      <a:r>
                        <a:t>0.5540</a:t>
                      </a:r>
                    </a:p>
                  </a:txBody>
                  <a:tcPr marL="45720" marR="45720">
                    <a:solidFill>
                      <a:srgbClr val="FFFFFF"/>
                    </a:solidFill>
                  </a:tcPr>
                </a:tc>
                <a:tc>
                  <a:txBody>
                    <a:bodyPr/>
                    <a:lstStyle/>
                    <a:p>
                      <a:pPr>
                        <a:defRPr sz="750">
                          <a:solidFill>
                            <a:srgbClr val="18202F"/>
                          </a:solidFill>
                          <a:latin typeface="Arial"/>
                        </a:defRPr>
                      </a:pPr>
                      <a:r>
                        <a:t>0.3069</a:t>
                      </a:r>
                    </a:p>
                  </a:txBody>
                  <a:tcPr marL="45720" marR="45720">
                    <a:solidFill>
                      <a:srgbClr val="FFFFFF"/>
                    </a:solidFill>
                  </a:tcPr>
                </a:tc>
                <a:tc>
                  <a:txBody>
                    <a:bodyPr/>
                    <a:lstStyle/>
                    <a:p>
                      <a:pPr>
                        <a:defRPr sz="750">
                          <a:solidFill>
                            <a:srgbClr val="18202F"/>
                          </a:solidFill>
                          <a:latin typeface="Arial"/>
                        </a:defRPr>
                      </a:pPr>
                      <a:r>
                        <a:t>0.3467</a:t>
                      </a:r>
                    </a:p>
                  </a:txBody>
                  <a:tcPr marL="45720" marR="45720">
                    <a:solidFill>
                      <a:srgbClr val="FFFFFF"/>
                    </a:solidFill>
                  </a:tcPr>
                </a:tc>
                <a:tc>
                  <a:txBody>
                    <a:bodyPr/>
                    <a:lstStyle/>
                    <a:p>
                      <a:pPr>
                        <a:defRPr sz="750">
                          <a:solidFill>
                            <a:srgbClr val="18202F"/>
                          </a:solidFill>
                          <a:latin typeface="Arial"/>
                        </a:defRPr>
                      </a:pPr>
                      <a:r>
                        <a:t>0.0094</a:t>
                      </a:r>
                    </a:p>
                  </a:txBody>
                  <a:tcPr marL="45720" marR="45720">
                    <a:solidFill>
                      <a:srgbClr val="FFFFFF"/>
                    </a:solidFill>
                  </a:tcPr>
                </a:tc>
                <a:tc>
                  <a:txBody>
                    <a:bodyPr/>
                    <a:lstStyle/>
                    <a:p>
                      <a:pPr>
                        <a:defRPr sz="750">
                          <a:solidFill>
                            <a:srgbClr val="18202F"/>
                          </a:solidFill>
                          <a:latin typeface="Arial"/>
                        </a:defRPr>
                      </a:pPr>
                      <a:r>
                        <a:t>0.0344</a:t>
                      </a:r>
                    </a:p>
                  </a:txBody>
                  <a:tcPr marL="45720" marR="45720">
                    <a:solidFill>
                      <a:srgbClr val="FFFFFF"/>
                    </a:solidFill>
                  </a:tcPr>
                </a:tc>
              </a:tr>
              <a:tr h="220531">
                <a:tc>
                  <a:txBody>
                    <a:bodyPr/>
                    <a:lstStyle/>
                    <a:p>
                      <a:pPr>
                        <a:defRPr sz="750">
                          <a:solidFill>
                            <a:srgbClr val="18202F"/>
                          </a:solidFill>
                          <a:latin typeface="Arial"/>
                        </a:defRPr>
                      </a:pPr>
                      <a:r>
                        <a:t>KNNBaseline (Item)</a:t>
                      </a:r>
                    </a:p>
                  </a:txBody>
                  <a:tcPr marL="45720" marR="45720">
                    <a:solidFill>
                      <a:srgbClr val="F8FAFC"/>
                    </a:solidFill>
                  </a:tcPr>
                </a:tc>
                <a:tc>
                  <a:txBody>
                    <a:bodyPr/>
                    <a:lstStyle/>
                    <a:p>
                      <a:pPr>
                        <a:defRPr sz="750">
                          <a:solidFill>
                            <a:srgbClr val="18202F"/>
                          </a:solidFill>
                          <a:latin typeface="Arial"/>
                        </a:defRPr>
                      </a:pPr>
                      <a:r>
                        <a:t>User Clusters</a:t>
                      </a:r>
                    </a:p>
                  </a:txBody>
                  <a:tcPr marL="45720" marR="45720">
                    <a:solidFill>
                      <a:srgbClr val="F8FAFC"/>
                    </a:solidFill>
                  </a:tcPr>
                </a:tc>
                <a:tc>
                  <a:txBody>
                    <a:bodyPr/>
                    <a:lstStyle/>
                    <a:p>
                      <a:pPr>
                        <a:defRPr sz="750">
                          <a:solidFill>
                            <a:srgbClr val="18202F"/>
                          </a:solidFill>
                          <a:latin typeface="Arial"/>
                        </a:defRPr>
                      </a:pPr>
                      <a:r>
                        <a:t>0.5750</a:t>
                      </a:r>
                    </a:p>
                  </a:txBody>
                  <a:tcPr marL="45720" marR="45720">
                    <a:solidFill>
                      <a:srgbClr val="F8FAFC"/>
                    </a:solidFill>
                  </a:tcPr>
                </a:tc>
                <a:tc>
                  <a:txBody>
                    <a:bodyPr/>
                    <a:lstStyle/>
                    <a:p>
                      <a:pPr>
                        <a:defRPr sz="750">
                          <a:solidFill>
                            <a:srgbClr val="18202F"/>
                          </a:solidFill>
                          <a:latin typeface="Arial"/>
                        </a:defRPr>
                      </a:pPr>
                      <a:r>
                        <a:t>0.3306</a:t>
                      </a:r>
                    </a:p>
                  </a:txBody>
                  <a:tcPr marL="45720" marR="45720">
                    <a:solidFill>
                      <a:srgbClr val="F8FAFC"/>
                    </a:solidFill>
                  </a:tcPr>
                </a:tc>
                <a:tc>
                  <a:txBody>
                    <a:bodyPr/>
                    <a:lstStyle/>
                    <a:p>
                      <a:pPr>
                        <a:defRPr sz="750">
                          <a:solidFill>
                            <a:srgbClr val="18202F"/>
                          </a:solidFill>
                          <a:latin typeface="Arial"/>
                        </a:defRPr>
                      </a:pPr>
                      <a:r>
                        <a:t>0.3512</a:t>
                      </a:r>
                    </a:p>
                  </a:txBody>
                  <a:tcPr marL="45720" marR="45720">
                    <a:solidFill>
                      <a:srgbClr val="F8FAFC"/>
                    </a:solidFill>
                  </a:tcPr>
                </a:tc>
                <a:tc>
                  <a:txBody>
                    <a:bodyPr/>
                    <a:lstStyle/>
                    <a:p>
                      <a:pPr>
                        <a:defRPr sz="750">
                          <a:solidFill>
                            <a:srgbClr val="18202F"/>
                          </a:solidFill>
                          <a:latin typeface="Arial"/>
                        </a:defRPr>
                      </a:pPr>
                      <a:r>
                        <a:t>0.0125</a:t>
                      </a:r>
                    </a:p>
                  </a:txBody>
                  <a:tcPr marL="45720" marR="45720">
                    <a:solidFill>
                      <a:srgbClr val="F8FAFC"/>
                    </a:solidFill>
                  </a:tcPr>
                </a:tc>
                <a:tc>
                  <a:txBody>
                    <a:bodyPr/>
                    <a:lstStyle/>
                    <a:p>
                      <a:pPr>
                        <a:defRPr sz="750">
                          <a:solidFill>
                            <a:srgbClr val="18202F"/>
                          </a:solidFill>
                          <a:latin typeface="Arial"/>
                        </a:defRPr>
                      </a:pPr>
                      <a:r>
                        <a:t>0.0156</a:t>
                      </a:r>
                    </a:p>
                  </a:txBody>
                  <a:tcPr marL="45720" marR="45720">
                    <a:solidFill>
                      <a:srgbClr val="F8FAFC"/>
                    </a:solidFill>
                  </a:tcPr>
                </a:tc>
              </a:tr>
              <a:tr h="220531">
                <a:tc>
                  <a:txBody>
                    <a:bodyPr/>
                    <a:lstStyle/>
                    <a:p>
                      <a:pPr>
                        <a:defRPr sz="750">
                          <a:solidFill>
                            <a:srgbClr val="18202F"/>
                          </a:solidFill>
                          <a:latin typeface="Arial"/>
                        </a:defRPr>
                      </a:pPr>
                      <a:r>
                        <a:t>KNNBasic (User)</a:t>
                      </a:r>
                    </a:p>
                  </a:txBody>
                  <a:tcPr marL="45720" marR="45720">
                    <a:solidFill>
                      <a:srgbClr val="FFFFFF"/>
                    </a:solidFill>
                  </a:tcPr>
                </a:tc>
                <a:tc>
                  <a:txBody>
                    <a:bodyPr/>
                    <a:lstStyle/>
                    <a:p>
                      <a:pPr>
                        <a:defRPr sz="750">
                          <a:solidFill>
                            <a:srgbClr val="18202F"/>
                          </a:solidFill>
                          <a:latin typeface="Arial"/>
                        </a:defRPr>
                      </a:pPr>
                      <a:r>
                        <a:t>Recipe Clusters</a:t>
                      </a:r>
                    </a:p>
                  </a:txBody>
                  <a:tcPr marL="45720" marR="45720">
                    <a:solidFill>
                      <a:srgbClr val="FFFFFF"/>
                    </a:solidFill>
                  </a:tcPr>
                </a:tc>
                <a:tc>
                  <a:txBody>
                    <a:bodyPr/>
                    <a:lstStyle/>
                    <a:p>
                      <a:pPr>
                        <a:defRPr sz="750">
                          <a:solidFill>
                            <a:srgbClr val="18202F"/>
                          </a:solidFill>
                          <a:latin typeface="Arial"/>
                        </a:defRPr>
                      </a:pPr>
                      <a:r>
                        <a:t>0.5888</a:t>
                      </a:r>
                    </a:p>
                  </a:txBody>
                  <a:tcPr marL="45720" marR="45720">
                    <a:solidFill>
                      <a:srgbClr val="FFFFFF"/>
                    </a:solidFill>
                  </a:tcPr>
                </a:tc>
                <a:tc>
                  <a:txBody>
                    <a:bodyPr/>
                    <a:lstStyle/>
                    <a:p>
                      <a:pPr>
                        <a:defRPr sz="750">
                          <a:solidFill>
                            <a:srgbClr val="18202F"/>
                          </a:solidFill>
                          <a:latin typeface="Arial"/>
                        </a:defRPr>
                      </a:pPr>
                      <a:r>
                        <a:t>0.3467</a:t>
                      </a:r>
                    </a:p>
                  </a:txBody>
                  <a:tcPr marL="45720" marR="45720">
                    <a:solidFill>
                      <a:srgbClr val="FFFFFF"/>
                    </a:solidFill>
                  </a:tcPr>
                </a:tc>
                <a:tc>
                  <a:txBody>
                    <a:bodyPr/>
                    <a:lstStyle/>
                    <a:p>
                      <a:pPr>
                        <a:defRPr sz="750">
                          <a:solidFill>
                            <a:srgbClr val="18202F"/>
                          </a:solidFill>
                          <a:latin typeface="Arial"/>
                        </a:defRPr>
                      </a:pPr>
                      <a:r>
                        <a:t>0.3486</a:t>
                      </a:r>
                    </a:p>
                  </a:txBody>
                  <a:tcPr marL="45720" marR="45720">
                    <a:solidFill>
                      <a:srgbClr val="FFFFFF"/>
                    </a:solidFill>
                  </a:tcPr>
                </a:tc>
                <a:tc>
                  <a:txBody>
                    <a:bodyPr/>
                    <a:lstStyle/>
                    <a:p>
                      <a:pPr>
                        <a:defRPr sz="750">
                          <a:solidFill>
                            <a:srgbClr val="18202F"/>
                          </a:solidFill>
                          <a:latin typeface="Arial"/>
                        </a:defRPr>
                      </a:pPr>
                      <a:r>
                        <a:t>0.0094</a:t>
                      </a:r>
                    </a:p>
                  </a:txBody>
                  <a:tcPr marL="45720" marR="45720">
                    <a:solidFill>
                      <a:srgbClr val="FFFFFF"/>
                    </a:solidFill>
                  </a:tcPr>
                </a:tc>
                <a:tc>
                  <a:txBody>
                    <a:bodyPr/>
                    <a:lstStyle/>
                    <a:p>
                      <a:pPr>
                        <a:defRPr sz="750">
                          <a:solidFill>
                            <a:srgbClr val="18202F"/>
                          </a:solidFill>
                          <a:latin typeface="Arial"/>
                        </a:defRPr>
                      </a:pPr>
                      <a:r>
                        <a:t>0.0344</a:t>
                      </a:r>
                    </a:p>
                  </a:txBody>
                  <a:tcPr marL="45720" marR="45720">
                    <a:solidFill>
                      <a:srgbClr val="FFFFFF"/>
                    </a:solidFill>
                  </a:tcPr>
                </a:tc>
              </a:tr>
              <a:tr h="220531">
                <a:tc>
                  <a:txBody>
                    <a:bodyPr/>
                    <a:lstStyle/>
                    <a:p>
                      <a:pPr>
                        <a:defRPr sz="750">
                          <a:solidFill>
                            <a:srgbClr val="18202F"/>
                          </a:solidFill>
                          <a:latin typeface="Arial"/>
                        </a:defRPr>
                      </a:pPr>
                      <a:r>
                        <a:t>KNNBasic (Item)</a:t>
                      </a:r>
                    </a:p>
                  </a:txBody>
                  <a:tcPr marL="45720" marR="45720">
                    <a:solidFill>
                      <a:srgbClr val="F8FAFC"/>
                    </a:solidFill>
                  </a:tcPr>
                </a:tc>
                <a:tc>
                  <a:txBody>
                    <a:bodyPr/>
                    <a:lstStyle/>
                    <a:p>
                      <a:pPr>
                        <a:defRPr sz="750">
                          <a:solidFill>
                            <a:srgbClr val="18202F"/>
                          </a:solidFill>
                          <a:latin typeface="Arial"/>
                        </a:defRPr>
                      </a:pPr>
                      <a:r>
                        <a:t>Recipe Clusters</a:t>
                      </a:r>
                    </a:p>
                  </a:txBody>
                  <a:tcPr marL="45720" marR="45720">
                    <a:solidFill>
                      <a:srgbClr val="F8FAFC"/>
                    </a:solidFill>
                  </a:tcPr>
                </a:tc>
                <a:tc>
                  <a:txBody>
                    <a:bodyPr/>
                    <a:lstStyle/>
                    <a:p>
                      <a:pPr>
                        <a:defRPr sz="750">
                          <a:solidFill>
                            <a:srgbClr val="18202F"/>
                          </a:solidFill>
                          <a:latin typeface="Arial"/>
                        </a:defRPr>
                      </a:pPr>
                      <a:r>
                        <a:t>0.5878</a:t>
                      </a:r>
                    </a:p>
                  </a:txBody>
                  <a:tcPr marL="45720" marR="45720">
                    <a:solidFill>
                      <a:srgbClr val="F8FAFC"/>
                    </a:solidFill>
                  </a:tcPr>
                </a:tc>
                <a:tc>
                  <a:txBody>
                    <a:bodyPr/>
                    <a:lstStyle/>
                    <a:p>
                      <a:pPr>
                        <a:defRPr sz="750">
                          <a:solidFill>
                            <a:srgbClr val="18202F"/>
                          </a:solidFill>
                          <a:latin typeface="Arial"/>
                        </a:defRPr>
                      </a:pPr>
                      <a:r>
                        <a:t>0.3456</a:t>
                      </a:r>
                    </a:p>
                  </a:txBody>
                  <a:tcPr marL="45720" marR="45720">
                    <a:solidFill>
                      <a:srgbClr val="F8FAFC"/>
                    </a:solidFill>
                  </a:tcPr>
                </a:tc>
                <a:tc>
                  <a:txBody>
                    <a:bodyPr/>
                    <a:lstStyle/>
                    <a:p>
                      <a:pPr>
                        <a:defRPr sz="750">
                          <a:solidFill>
                            <a:srgbClr val="18202F"/>
                          </a:solidFill>
                          <a:latin typeface="Arial"/>
                        </a:defRPr>
                      </a:pPr>
                      <a:r>
                        <a:t>0.3474</a:t>
                      </a:r>
                    </a:p>
                  </a:txBody>
                  <a:tcPr marL="45720" marR="45720">
                    <a:solidFill>
                      <a:srgbClr val="F8FAFC"/>
                    </a:solidFill>
                  </a:tcPr>
                </a:tc>
                <a:tc>
                  <a:txBody>
                    <a:bodyPr/>
                    <a:lstStyle/>
                    <a:p>
                      <a:pPr>
                        <a:defRPr sz="750">
                          <a:solidFill>
                            <a:srgbClr val="18202F"/>
                          </a:solidFill>
                          <a:latin typeface="Arial"/>
                        </a:defRPr>
                      </a:pPr>
                      <a:r>
                        <a:t>0.0094</a:t>
                      </a:r>
                    </a:p>
                  </a:txBody>
                  <a:tcPr marL="45720" marR="45720">
                    <a:solidFill>
                      <a:srgbClr val="F8FAFC"/>
                    </a:solidFill>
                  </a:tcPr>
                </a:tc>
                <a:tc>
                  <a:txBody>
                    <a:bodyPr/>
                    <a:lstStyle/>
                    <a:p>
                      <a:pPr>
                        <a:defRPr sz="750">
                          <a:solidFill>
                            <a:srgbClr val="18202F"/>
                          </a:solidFill>
                          <a:latin typeface="Arial"/>
                        </a:defRPr>
                      </a:pPr>
                      <a:r>
                        <a:t>0.0125</a:t>
                      </a:r>
                    </a:p>
                  </a:txBody>
                  <a:tcPr marL="45720" marR="45720">
                    <a:solidFill>
                      <a:srgbClr val="F8FAFC"/>
                    </a:solidFill>
                  </a:tcPr>
                </a:tc>
              </a:tr>
              <a:tr h="220531">
                <a:tc>
                  <a:txBody>
                    <a:bodyPr/>
                    <a:lstStyle/>
                    <a:p>
                      <a:pPr>
                        <a:defRPr sz="750">
                          <a:solidFill>
                            <a:srgbClr val="18202F"/>
                          </a:solidFill>
                          <a:latin typeface="Arial"/>
                        </a:defRPr>
                      </a:pPr>
                      <a:r>
                        <a:t>KNNWithMeans (User)</a:t>
                      </a:r>
                    </a:p>
                  </a:txBody>
                  <a:tcPr marL="45720" marR="45720">
                    <a:solidFill>
                      <a:srgbClr val="FFFFFF"/>
                    </a:solidFill>
                  </a:tcPr>
                </a:tc>
                <a:tc>
                  <a:txBody>
                    <a:bodyPr/>
                    <a:lstStyle/>
                    <a:p>
                      <a:pPr>
                        <a:defRPr sz="750">
                          <a:solidFill>
                            <a:srgbClr val="18202F"/>
                          </a:solidFill>
                          <a:latin typeface="Arial"/>
                        </a:defRPr>
                      </a:pPr>
                      <a:r>
                        <a:t>Recipe Clusters</a:t>
                      </a:r>
                    </a:p>
                  </a:txBody>
                  <a:tcPr marL="45720" marR="45720">
                    <a:solidFill>
                      <a:srgbClr val="FFFFFF"/>
                    </a:solidFill>
                  </a:tcPr>
                </a:tc>
                <a:tc>
                  <a:txBody>
                    <a:bodyPr/>
                    <a:lstStyle/>
                    <a:p>
                      <a:pPr>
                        <a:defRPr sz="750">
                          <a:solidFill>
                            <a:srgbClr val="18202F"/>
                          </a:solidFill>
                          <a:latin typeface="Arial"/>
                        </a:defRPr>
                      </a:pPr>
                      <a:r>
                        <a:t>0.5760</a:t>
                      </a:r>
                    </a:p>
                  </a:txBody>
                  <a:tcPr marL="45720" marR="45720">
                    <a:solidFill>
                      <a:srgbClr val="FFFFFF"/>
                    </a:solidFill>
                  </a:tcPr>
                </a:tc>
                <a:tc>
                  <a:txBody>
                    <a:bodyPr/>
                    <a:lstStyle/>
                    <a:p>
                      <a:pPr>
                        <a:defRPr sz="750">
                          <a:solidFill>
                            <a:srgbClr val="18202F"/>
                          </a:solidFill>
                          <a:latin typeface="Arial"/>
                        </a:defRPr>
                      </a:pPr>
                      <a:r>
                        <a:t>0.3318</a:t>
                      </a:r>
                    </a:p>
                  </a:txBody>
                  <a:tcPr marL="45720" marR="45720">
                    <a:solidFill>
                      <a:srgbClr val="FFFFFF"/>
                    </a:solidFill>
                  </a:tcPr>
                </a:tc>
                <a:tc>
                  <a:txBody>
                    <a:bodyPr/>
                    <a:lstStyle/>
                    <a:p>
                      <a:pPr>
                        <a:defRPr sz="750">
                          <a:solidFill>
                            <a:srgbClr val="18202F"/>
                          </a:solidFill>
                          <a:latin typeface="Arial"/>
                        </a:defRPr>
                      </a:pPr>
                      <a:r>
                        <a:t>0.3517</a:t>
                      </a:r>
                    </a:p>
                  </a:txBody>
                  <a:tcPr marL="45720" marR="45720">
                    <a:solidFill>
                      <a:srgbClr val="FFFFFF"/>
                    </a:solidFill>
                  </a:tcPr>
                </a:tc>
                <a:tc>
                  <a:txBody>
                    <a:bodyPr/>
                    <a:lstStyle/>
                    <a:p>
                      <a:pPr>
                        <a:defRPr sz="750">
                          <a:solidFill>
                            <a:srgbClr val="18202F"/>
                          </a:solidFill>
                          <a:latin typeface="Arial"/>
                        </a:defRPr>
                      </a:pPr>
                      <a:r>
                        <a:t>0.0094</a:t>
                      </a:r>
                    </a:p>
                  </a:txBody>
                  <a:tcPr marL="45720" marR="45720">
                    <a:solidFill>
                      <a:srgbClr val="FFFFFF"/>
                    </a:solidFill>
                  </a:tcPr>
                </a:tc>
                <a:tc>
                  <a:txBody>
                    <a:bodyPr/>
                    <a:lstStyle/>
                    <a:p>
                      <a:pPr>
                        <a:defRPr sz="750">
                          <a:solidFill>
                            <a:srgbClr val="18202F"/>
                          </a:solidFill>
                          <a:latin typeface="Arial"/>
                        </a:defRPr>
                      </a:pPr>
                      <a:r>
                        <a:t>0.0344</a:t>
                      </a:r>
                    </a:p>
                  </a:txBody>
                  <a:tcPr marL="45720" marR="45720">
                    <a:solidFill>
                      <a:srgbClr val="FFFFFF"/>
                    </a:solidFill>
                  </a:tcPr>
                </a:tc>
              </a:tr>
              <a:tr h="220531">
                <a:tc>
                  <a:txBody>
                    <a:bodyPr/>
                    <a:lstStyle/>
                    <a:p>
                      <a:pPr>
                        <a:defRPr sz="750">
                          <a:solidFill>
                            <a:srgbClr val="18202F"/>
                          </a:solidFill>
                          <a:latin typeface="Arial"/>
                        </a:defRPr>
                      </a:pPr>
                      <a:r>
                        <a:t>KNNWithMeans (Item)</a:t>
                      </a:r>
                    </a:p>
                  </a:txBody>
                  <a:tcPr marL="45720" marR="45720">
                    <a:solidFill>
                      <a:srgbClr val="F8FAFC"/>
                    </a:solidFill>
                  </a:tcPr>
                </a:tc>
                <a:tc>
                  <a:txBody>
                    <a:bodyPr/>
                    <a:lstStyle/>
                    <a:p>
                      <a:pPr>
                        <a:defRPr sz="750">
                          <a:solidFill>
                            <a:srgbClr val="18202F"/>
                          </a:solidFill>
                          <a:latin typeface="Arial"/>
                        </a:defRPr>
                      </a:pPr>
                      <a:r>
                        <a:t>Recipe Clusters</a:t>
                      </a:r>
                    </a:p>
                  </a:txBody>
                  <a:tcPr marL="45720" marR="45720">
                    <a:solidFill>
                      <a:srgbClr val="F8FAFC"/>
                    </a:solidFill>
                  </a:tcPr>
                </a:tc>
                <a:tc>
                  <a:txBody>
                    <a:bodyPr/>
                    <a:lstStyle/>
                    <a:p>
                      <a:pPr>
                        <a:defRPr sz="750">
                          <a:solidFill>
                            <a:srgbClr val="18202F"/>
                          </a:solidFill>
                          <a:latin typeface="Arial"/>
                        </a:defRPr>
                      </a:pPr>
                      <a:r>
                        <a:t>0.5746</a:t>
                      </a:r>
                    </a:p>
                  </a:txBody>
                  <a:tcPr marL="45720" marR="45720">
                    <a:solidFill>
                      <a:srgbClr val="F8FAFC"/>
                    </a:solidFill>
                  </a:tcPr>
                </a:tc>
                <a:tc>
                  <a:txBody>
                    <a:bodyPr/>
                    <a:lstStyle/>
                    <a:p>
                      <a:pPr>
                        <a:defRPr sz="750">
                          <a:solidFill>
                            <a:srgbClr val="18202F"/>
                          </a:solidFill>
                          <a:latin typeface="Arial"/>
                        </a:defRPr>
                      </a:pPr>
                      <a:r>
                        <a:t>0.3302</a:t>
                      </a:r>
                    </a:p>
                  </a:txBody>
                  <a:tcPr marL="45720" marR="45720">
                    <a:solidFill>
                      <a:srgbClr val="F8FAFC"/>
                    </a:solidFill>
                  </a:tcPr>
                </a:tc>
                <a:tc>
                  <a:txBody>
                    <a:bodyPr/>
                    <a:lstStyle/>
                    <a:p>
                      <a:pPr>
                        <a:defRPr sz="750">
                          <a:solidFill>
                            <a:srgbClr val="18202F"/>
                          </a:solidFill>
                          <a:latin typeface="Arial"/>
                        </a:defRPr>
                      </a:pPr>
                      <a:r>
                        <a:t>0.3486</a:t>
                      </a:r>
                    </a:p>
                  </a:txBody>
                  <a:tcPr marL="45720" marR="45720">
                    <a:solidFill>
                      <a:srgbClr val="F8FAFC"/>
                    </a:solidFill>
                  </a:tcPr>
                </a:tc>
                <a:tc>
                  <a:txBody>
                    <a:bodyPr/>
                    <a:lstStyle/>
                    <a:p>
                      <a:pPr>
                        <a:defRPr sz="750">
                          <a:solidFill>
                            <a:srgbClr val="18202F"/>
                          </a:solidFill>
                          <a:latin typeface="Arial"/>
                        </a:defRPr>
                      </a:pPr>
                      <a:r>
                        <a:t>0.0094</a:t>
                      </a:r>
                    </a:p>
                  </a:txBody>
                  <a:tcPr marL="45720" marR="45720">
                    <a:solidFill>
                      <a:srgbClr val="F8FAFC"/>
                    </a:solidFill>
                  </a:tcPr>
                </a:tc>
                <a:tc>
                  <a:txBody>
                    <a:bodyPr/>
                    <a:lstStyle/>
                    <a:p>
                      <a:pPr>
                        <a:defRPr sz="750">
                          <a:solidFill>
                            <a:srgbClr val="18202F"/>
                          </a:solidFill>
                          <a:latin typeface="Arial"/>
                        </a:defRPr>
                      </a:pPr>
                      <a:r>
                        <a:t>0.0125</a:t>
                      </a:r>
                    </a:p>
                  </a:txBody>
                  <a:tcPr marL="45720" marR="45720">
                    <a:solidFill>
                      <a:srgbClr val="F8FAFC"/>
                    </a:solidFill>
                  </a:tcPr>
                </a:tc>
              </a:tr>
              <a:tr h="220531">
                <a:tc>
                  <a:txBody>
                    <a:bodyPr/>
                    <a:lstStyle/>
                    <a:p>
                      <a:pPr>
                        <a:defRPr sz="750">
                          <a:solidFill>
                            <a:srgbClr val="18202F"/>
                          </a:solidFill>
                          <a:latin typeface="Arial"/>
                        </a:defRPr>
                      </a:pPr>
                      <a:r>
                        <a:t>KNNWithZScore (User)</a:t>
                      </a:r>
                    </a:p>
                  </a:txBody>
                  <a:tcPr marL="45720" marR="45720">
                    <a:solidFill>
                      <a:srgbClr val="FFFFFF"/>
                    </a:solidFill>
                  </a:tcPr>
                </a:tc>
                <a:tc>
                  <a:txBody>
                    <a:bodyPr/>
                    <a:lstStyle/>
                    <a:p>
                      <a:pPr>
                        <a:defRPr sz="750">
                          <a:solidFill>
                            <a:srgbClr val="18202F"/>
                          </a:solidFill>
                          <a:latin typeface="Arial"/>
                        </a:defRPr>
                      </a:pPr>
                      <a:r>
                        <a:t>Recipe Clusters</a:t>
                      </a:r>
                    </a:p>
                  </a:txBody>
                  <a:tcPr marL="45720" marR="45720">
                    <a:solidFill>
                      <a:srgbClr val="FFFFFF"/>
                    </a:solidFill>
                  </a:tcPr>
                </a:tc>
                <a:tc>
                  <a:txBody>
                    <a:bodyPr/>
                    <a:lstStyle/>
                    <a:p>
                      <a:pPr>
                        <a:defRPr sz="750">
                          <a:solidFill>
                            <a:srgbClr val="18202F"/>
                          </a:solidFill>
                          <a:latin typeface="Arial"/>
                        </a:defRPr>
                      </a:pPr>
                      <a:r>
                        <a:t>0.5709</a:t>
                      </a:r>
                    </a:p>
                  </a:txBody>
                  <a:tcPr marL="45720" marR="45720">
                    <a:solidFill>
                      <a:srgbClr val="FFFFFF"/>
                    </a:solidFill>
                  </a:tcPr>
                </a:tc>
                <a:tc>
                  <a:txBody>
                    <a:bodyPr/>
                    <a:lstStyle/>
                    <a:p>
                      <a:pPr>
                        <a:defRPr sz="750">
                          <a:solidFill>
                            <a:srgbClr val="18202F"/>
                          </a:solidFill>
                          <a:latin typeface="Arial"/>
                        </a:defRPr>
                      </a:pPr>
                      <a:r>
                        <a:t>0.3259</a:t>
                      </a:r>
                    </a:p>
                  </a:txBody>
                  <a:tcPr marL="45720" marR="45720">
                    <a:solidFill>
                      <a:srgbClr val="FFFFFF"/>
                    </a:solidFill>
                  </a:tcPr>
                </a:tc>
                <a:tc>
                  <a:txBody>
                    <a:bodyPr/>
                    <a:lstStyle/>
                    <a:p>
                      <a:pPr>
                        <a:defRPr sz="750">
                          <a:solidFill>
                            <a:srgbClr val="18202F"/>
                          </a:solidFill>
                          <a:latin typeface="Arial"/>
                        </a:defRPr>
                      </a:pPr>
                      <a:r>
                        <a:t>0.3471</a:t>
                      </a:r>
                    </a:p>
                  </a:txBody>
                  <a:tcPr marL="45720" marR="45720">
                    <a:solidFill>
                      <a:srgbClr val="FFFFFF"/>
                    </a:solidFill>
                  </a:tcPr>
                </a:tc>
                <a:tc>
                  <a:txBody>
                    <a:bodyPr/>
                    <a:lstStyle/>
                    <a:p>
                      <a:pPr>
                        <a:defRPr sz="750">
                          <a:solidFill>
                            <a:srgbClr val="18202F"/>
                          </a:solidFill>
                          <a:latin typeface="Arial"/>
                        </a:defRPr>
                      </a:pPr>
                      <a:r>
                        <a:t>0.0094</a:t>
                      </a:r>
                    </a:p>
                  </a:txBody>
                  <a:tcPr marL="45720" marR="45720">
                    <a:solidFill>
                      <a:srgbClr val="FFFFFF"/>
                    </a:solidFill>
                  </a:tcPr>
                </a:tc>
                <a:tc>
                  <a:txBody>
                    <a:bodyPr/>
                    <a:lstStyle/>
                    <a:p>
                      <a:pPr>
                        <a:defRPr sz="750">
                          <a:solidFill>
                            <a:srgbClr val="18202F"/>
                          </a:solidFill>
                          <a:latin typeface="Arial"/>
                        </a:defRPr>
                      </a:pPr>
                      <a:r>
                        <a:t>0.0344</a:t>
                      </a:r>
                    </a:p>
                  </a:txBody>
                  <a:tcPr marL="45720" marR="45720">
                    <a:solidFill>
                      <a:srgbClr val="FFFFFF"/>
                    </a:solidFill>
                  </a:tcPr>
                </a:tc>
              </a:tr>
              <a:tr h="220531">
                <a:tc>
                  <a:txBody>
                    <a:bodyPr/>
                    <a:lstStyle/>
                    <a:p>
                      <a:pPr>
                        <a:defRPr sz="750">
                          <a:solidFill>
                            <a:srgbClr val="18202F"/>
                          </a:solidFill>
                          <a:latin typeface="Arial"/>
                        </a:defRPr>
                      </a:pPr>
                      <a:r>
                        <a:t>KNNWithZScore (Item)</a:t>
                      </a:r>
                    </a:p>
                  </a:txBody>
                  <a:tcPr marL="45720" marR="45720">
                    <a:solidFill>
                      <a:srgbClr val="F8FAFC"/>
                    </a:solidFill>
                  </a:tcPr>
                </a:tc>
                <a:tc>
                  <a:txBody>
                    <a:bodyPr/>
                    <a:lstStyle/>
                    <a:p>
                      <a:pPr>
                        <a:defRPr sz="750">
                          <a:solidFill>
                            <a:srgbClr val="18202F"/>
                          </a:solidFill>
                          <a:latin typeface="Arial"/>
                        </a:defRPr>
                      </a:pPr>
                      <a:r>
                        <a:t>Recipe Clusters</a:t>
                      </a:r>
                    </a:p>
                  </a:txBody>
                  <a:tcPr marL="45720" marR="45720">
                    <a:solidFill>
                      <a:srgbClr val="F8FAFC"/>
                    </a:solidFill>
                  </a:tcPr>
                </a:tc>
                <a:tc>
                  <a:txBody>
                    <a:bodyPr/>
                    <a:lstStyle/>
                    <a:p>
                      <a:pPr>
                        <a:defRPr sz="750">
                          <a:solidFill>
                            <a:srgbClr val="18202F"/>
                          </a:solidFill>
                          <a:latin typeface="Arial"/>
                        </a:defRPr>
                      </a:pPr>
                      <a:r>
                        <a:t>0.5739</a:t>
                      </a:r>
                    </a:p>
                  </a:txBody>
                  <a:tcPr marL="45720" marR="45720">
                    <a:solidFill>
                      <a:srgbClr val="F8FAFC"/>
                    </a:solidFill>
                  </a:tcPr>
                </a:tc>
                <a:tc>
                  <a:txBody>
                    <a:bodyPr/>
                    <a:lstStyle/>
                    <a:p>
                      <a:pPr>
                        <a:defRPr sz="750">
                          <a:solidFill>
                            <a:srgbClr val="18202F"/>
                          </a:solidFill>
                          <a:latin typeface="Arial"/>
                        </a:defRPr>
                      </a:pPr>
                      <a:r>
                        <a:t>0.3294</a:t>
                      </a:r>
                    </a:p>
                  </a:txBody>
                  <a:tcPr marL="45720" marR="45720">
                    <a:solidFill>
                      <a:srgbClr val="F8FAFC"/>
                    </a:solidFill>
                  </a:tcPr>
                </a:tc>
                <a:tc>
                  <a:txBody>
                    <a:bodyPr/>
                    <a:lstStyle/>
                    <a:p>
                      <a:pPr>
                        <a:defRPr sz="750">
                          <a:solidFill>
                            <a:srgbClr val="18202F"/>
                          </a:solidFill>
                          <a:latin typeface="Arial"/>
                        </a:defRPr>
                      </a:pPr>
                      <a:r>
                        <a:t>0.3480</a:t>
                      </a:r>
                    </a:p>
                  </a:txBody>
                  <a:tcPr marL="45720" marR="45720">
                    <a:solidFill>
                      <a:srgbClr val="F8FAFC"/>
                    </a:solidFill>
                  </a:tcPr>
                </a:tc>
                <a:tc>
                  <a:txBody>
                    <a:bodyPr/>
                    <a:lstStyle/>
                    <a:p>
                      <a:pPr>
                        <a:defRPr sz="750">
                          <a:solidFill>
                            <a:srgbClr val="18202F"/>
                          </a:solidFill>
                          <a:latin typeface="Arial"/>
                        </a:defRPr>
                      </a:pPr>
                      <a:r>
                        <a:t>0.0094</a:t>
                      </a:r>
                    </a:p>
                  </a:txBody>
                  <a:tcPr marL="45720" marR="45720">
                    <a:solidFill>
                      <a:srgbClr val="F8FAFC"/>
                    </a:solidFill>
                  </a:tcPr>
                </a:tc>
                <a:tc>
                  <a:txBody>
                    <a:bodyPr/>
                    <a:lstStyle/>
                    <a:p>
                      <a:pPr>
                        <a:defRPr sz="750">
                          <a:solidFill>
                            <a:srgbClr val="18202F"/>
                          </a:solidFill>
                          <a:latin typeface="Arial"/>
                        </a:defRPr>
                      </a:pPr>
                      <a:r>
                        <a:t>0.0156</a:t>
                      </a:r>
                    </a:p>
                  </a:txBody>
                  <a:tcPr marL="45720" marR="45720">
                    <a:solidFill>
                      <a:srgbClr val="F8FAFC"/>
                    </a:solidFill>
                  </a:tcPr>
                </a:tc>
              </a:tr>
              <a:tr h="220531">
                <a:tc>
                  <a:txBody>
                    <a:bodyPr/>
                    <a:lstStyle/>
                    <a:p>
                      <a:pPr>
                        <a:defRPr sz="750">
                          <a:solidFill>
                            <a:srgbClr val="18202F"/>
                          </a:solidFill>
                          <a:latin typeface="Arial"/>
                        </a:defRPr>
                      </a:pPr>
                      <a:r>
                        <a:t>KNNBaseline (User)</a:t>
                      </a:r>
                    </a:p>
                  </a:txBody>
                  <a:tcPr marL="45720" marR="45720">
                    <a:solidFill>
                      <a:srgbClr val="FFFFFF"/>
                    </a:solidFill>
                  </a:tcPr>
                </a:tc>
                <a:tc>
                  <a:txBody>
                    <a:bodyPr/>
                    <a:lstStyle/>
                    <a:p>
                      <a:pPr>
                        <a:defRPr sz="750">
                          <a:solidFill>
                            <a:srgbClr val="18202F"/>
                          </a:solidFill>
                          <a:latin typeface="Arial"/>
                        </a:defRPr>
                      </a:pPr>
                      <a:r>
                        <a:t>Recipe Clusters</a:t>
                      </a:r>
                    </a:p>
                  </a:txBody>
                  <a:tcPr marL="45720" marR="45720">
                    <a:solidFill>
                      <a:srgbClr val="FFFFFF"/>
                    </a:solidFill>
                  </a:tcPr>
                </a:tc>
                <a:tc>
                  <a:txBody>
                    <a:bodyPr/>
                    <a:lstStyle/>
                    <a:p>
                      <a:pPr>
                        <a:defRPr sz="750">
                          <a:solidFill>
                            <a:srgbClr val="18202F"/>
                          </a:solidFill>
                          <a:latin typeface="Arial"/>
                        </a:defRPr>
                      </a:pPr>
                      <a:r>
                        <a:t>0.5581</a:t>
                      </a:r>
                    </a:p>
                  </a:txBody>
                  <a:tcPr marL="45720" marR="45720">
                    <a:solidFill>
                      <a:srgbClr val="FFFFFF"/>
                    </a:solidFill>
                  </a:tcPr>
                </a:tc>
                <a:tc>
                  <a:txBody>
                    <a:bodyPr/>
                    <a:lstStyle/>
                    <a:p>
                      <a:pPr>
                        <a:defRPr sz="750">
                          <a:solidFill>
                            <a:srgbClr val="18202F"/>
                          </a:solidFill>
                          <a:latin typeface="Arial"/>
                        </a:defRPr>
                      </a:pPr>
                      <a:r>
                        <a:t>0.3115</a:t>
                      </a:r>
                    </a:p>
                  </a:txBody>
                  <a:tcPr marL="45720" marR="45720">
                    <a:solidFill>
                      <a:srgbClr val="FFFFFF"/>
                    </a:solidFill>
                  </a:tcPr>
                </a:tc>
                <a:tc>
                  <a:txBody>
                    <a:bodyPr/>
                    <a:lstStyle/>
                    <a:p>
                      <a:pPr>
                        <a:defRPr sz="750">
                          <a:solidFill>
                            <a:srgbClr val="18202F"/>
                          </a:solidFill>
                          <a:latin typeface="Arial"/>
                        </a:defRPr>
                      </a:pPr>
                      <a:r>
                        <a:t>0.3475</a:t>
                      </a:r>
                    </a:p>
                  </a:txBody>
                  <a:tcPr marL="45720" marR="45720">
                    <a:solidFill>
                      <a:srgbClr val="FFFFFF"/>
                    </a:solidFill>
                  </a:tcPr>
                </a:tc>
                <a:tc>
                  <a:txBody>
                    <a:bodyPr/>
                    <a:lstStyle/>
                    <a:p>
                      <a:pPr>
                        <a:defRPr sz="750">
                          <a:solidFill>
                            <a:srgbClr val="18202F"/>
                          </a:solidFill>
                          <a:latin typeface="Arial"/>
                        </a:defRPr>
                      </a:pPr>
                      <a:r>
                        <a:t>0.0094</a:t>
                      </a:r>
                    </a:p>
                  </a:txBody>
                  <a:tcPr marL="45720" marR="45720">
                    <a:solidFill>
                      <a:srgbClr val="FFFFFF"/>
                    </a:solidFill>
                  </a:tcPr>
                </a:tc>
                <a:tc>
                  <a:txBody>
                    <a:bodyPr/>
                    <a:lstStyle/>
                    <a:p>
                      <a:pPr>
                        <a:defRPr sz="750">
                          <a:solidFill>
                            <a:srgbClr val="18202F"/>
                          </a:solidFill>
                          <a:latin typeface="Arial"/>
                        </a:defRPr>
                      </a:pPr>
                      <a:r>
                        <a:t>0.0344</a:t>
                      </a:r>
                    </a:p>
                  </a:txBody>
                  <a:tcPr marL="45720" marR="45720">
                    <a:solidFill>
                      <a:srgbClr val="FFFFFF"/>
                    </a:solidFill>
                  </a:tcPr>
                </a:tc>
              </a:tr>
              <a:tr h="220543">
                <a:tc>
                  <a:txBody>
                    <a:bodyPr/>
                    <a:lstStyle/>
                    <a:p>
                      <a:pPr>
                        <a:defRPr sz="750">
                          <a:solidFill>
                            <a:srgbClr val="18202F"/>
                          </a:solidFill>
                          <a:latin typeface="Arial"/>
                        </a:defRPr>
                      </a:pPr>
                      <a:r>
                        <a:t>KNNBaseline (Item)</a:t>
                      </a:r>
                    </a:p>
                  </a:txBody>
                  <a:tcPr marL="45720" marR="45720">
                    <a:solidFill>
                      <a:srgbClr val="F8FAFC"/>
                    </a:solidFill>
                  </a:tcPr>
                </a:tc>
                <a:tc>
                  <a:txBody>
                    <a:bodyPr/>
                    <a:lstStyle/>
                    <a:p>
                      <a:pPr>
                        <a:defRPr sz="750">
                          <a:solidFill>
                            <a:srgbClr val="18202F"/>
                          </a:solidFill>
                          <a:latin typeface="Arial"/>
                        </a:defRPr>
                      </a:pPr>
                      <a:r>
                        <a:t>Recipe Clusters</a:t>
                      </a:r>
                    </a:p>
                  </a:txBody>
                  <a:tcPr marL="45720" marR="45720">
                    <a:solidFill>
                      <a:srgbClr val="F8FAFC"/>
                    </a:solidFill>
                  </a:tcPr>
                </a:tc>
                <a:tc>
                  <a:txBody>
                    <a:bodyPr/>
                    <a:lstStyle/>
                    <a:p>
                      <a:pPr>
                        <a:defRPr sz="750">
                          <a:solidFill>
                            <a:srgbClr val="18202F"/>
                          </a:solidFill>
                          <a:latin typeface="Arial"/>
                        </a:defRPr>
                      </a:pPr>
                      <a:r>
                        <a:t>0.5648</a:t>
                      </a:r>
                    </a:p>
                  </a:txBody>
                  <a:tcPr marL="45720" marR="45720">
                    <a:solidFill>
                      <a:srgbClr val="F8FAFC"/>
                    </a:solidFill>
                  </a:tcPr>
                </a:tc>
                <a:tc>
                  <a:txBody>
                    <a:bodyPr/>
                    <a:lstStyle/>
                    <a:p>
                      <a:pPr>
                        <a:defRPr sz="750">
                          <a:solidFill>
                            <a:srgbClr val="18202F"/>
                          </a:solidFill>
                          <a:latin typeface="Arial"/>
                        </a:defRPr>
                      </a:pPr>
                      <a:r>
                        <a:t>0.3190</a:t>
                      </a:r>
                    </a:p>
                  </a:txBody>
                  <a:tcPr marL="45720" marR="45720">
                    <a:solidFill>
                      <a:srgbClr val="F8FAFC"/>
                    </a:solidFill>
                  </a:tcPr>
                </a:tc>
                <a:tc>
                  <a:txBody>
                    <a:bodyPr/>
                    <a:lstStyle/>
                    <a:p>
                      <a:pPr>
                        <a:defRPr sz="750">
                          <a:solidFill>
                            <a:srgbClr val="18202F"/>
                          </a:solidFill>
                          <a:latin typeface="Arial"/>
                        </a:defRPr>
                      </a:pPr>
                      <a:r>
                        <a:t>0.3488</a:t>
                      </a:r>
                    </a:p>
                  </a:txBody>
                  <a:tcPr marL="45720" marR="45720">
                    <a:solidFill>
                      <a:srgbClr val="F8FAFC"/>
                    </a:solidFill>
                  </a:tcPr>
                </a:tc>
                <a:tc>
                  <a:txBody>
                    <a:bodyPr/>
                    <a:lstStyle/>
                    <a:p>
                      <a:pPr>
                        <a:defRPr sz="750">
                          <a:solidFill>
                            <a:srgbClr val="18202F"/>
                          </a:solidFill>
                          <a:latin typeface="Arial"/>
                        </a:defRPr>
                      </a:pPr>
                      <a:r>
                        <a:t>0.0125</a:t>
                      </a:r>
                    </a:p>
                  </a:txBody>
                  <a:tcPr marL="45720" marR="45720">
                    <a:solidFill>
                      <a:srgbClr val="F8FAFC"/>
                    </a:solidFill>
                  </a:tcPr>
                </a:tc>
                <a:tc>
                  <a:txBody>
                    <a:bodyPr/>
                    <a:lstStyle/>
                    <a:p>
                      <a:pPr>
                        <a:defRPr sz="750">
                          <a:solidFill>
                            <a:srgbClr val="18202F"/>
                          </a:solidFill>
                          <a:latin typeface="Arial"/>
                        </a:defRPr>
                      </a:pPr>
                      <a:r>
                        <a:t>0.0156</a:t>
                      </a:r>
                    </a:p>
                  </a:txBody>
                  <a:tcPr marL="45720" marR="45720">
                    <a:solidFill>
                      <a:srgbClr val="F8FAFC"/>
                    </a:solidFill>
                  </a:tcPr>
                </a:tc>
              </a:tr>
            </a:tbl>
          </a:graphicData>
        </a:graphic>
      </p:graphicFrame>
      <p:sp>
        <p:nvSpPr>
          <p:cNvPr id="12" name="Rounded Rectangle 11"/>
          <p:cNvSpPr/>
          <p:nvPr/>
        </p:nvSpPr>
        <p:spPr>
          <a:xfrm>
            <a:off x="731520" y="5623560"/>
            <a:ext cx="10728655" cy="804672"/>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4864"/>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96712"/>
            <a:ext cx="10362895" cy="694944"/>
          </a:xfrm>
          <a:prstGeom prst="rect">
            <a:avLst/>
          </a:prstGeom>
          <a:noFill/>
        </p:spPr>
        <p:txBody>
          <a:bodyPr wrap="square">
            <a:spAutoFit/>
          </a:bodyPr>
          <a:lstStyle/>
          <a:p>
            <a:pPr>
              <a:defRPr sz="1100" b="1">
                <a:solidFill>
                  <a:srgbClr val="18202F"/>
                </a:solidFill>
                <a:latin typeface="Arial"/>
              </a:defRPr>
            </a:pPr>
            <a:r>
              <a:t>Optimal Benchmark</a:t>
            </a:r>
          </a:p>
          <a:p>
            <a:pPr>
              <a:spcBef>
                <a:spcPts val="300"/>
              </a:spcBef>
              <a:defRPr sz="900">
                <a:solidFill>
                  <a:srgbClr val="5A6978"/>
                </a:solidFill>
                <a:latin typeface="Arial"/>
              </a:defRPr>
            </a:pPr>
            <a:r>
              <a:t>User based KNNWithZScore on User Clusters attained the overall best study MAE of 0.3451, proving that within community score normalization optimizes both accuracy and speed.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COMPARATIVE CASE STUDY</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SVD vs Cluster Based Recommendations</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10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5212080" cy="429768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463040"/>
            <a:ext cx="4846320" cy="320040"/>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A56A0"/>
                </a:solidFill>
                <a:latin typeface="Arial"/>
              </a:defRPr>
            </a:pPr>
            <a:r>
              <a:t>Optimized SVD: Mainstream Popularity Bias</a:t>
            </a:r>
          </a:p>
        </p:txBody>
      </p:sp>
      <p:graphicFrame>
        <p:nvGraphicFramePr>
          <p:cNvPr id="11" name="Table 10"/>
          <p:cNvGraphicFramePr>
            <a:graphicFrameLocks noGrp="1"/>
          </p:cNvGraphicFramePr>
          <p:nvPr/>
        </p:nvGraphicFramePr>
        <p:xfrm>
          <a:off x="914400" y="1874519"/>
          <a:ext cx="4846320" cy="3566160"/>
        </p:xfrm>
        <a:graphic>
          <a:graphicData uri="http://schemas.openxmlformats.org/drawingml/2006/table">
            <a:tbl>
              <a:tblPr firstRow="1" bandRow="1">
                <a:tableStyleId>{5C22544A-7EE6-4342-B048-85BDC9FD1C3A}</a:tableStyleId>
              </a:tblPr>
              <a:tblGrid>
                <a:gridCol w="2468880"/>
                <a:gridCol w="1371600"/>
                <a:gridCol w="1005840"/>
              </a:tblGrid>
              <a:tr h="324196">
                <a:tc>
                  <a:txBody>
                    <a:bodyPr/>
                    <a:lstStyle/>
                    <a:p>
                      <a:pPr>
                        <a:defRPr sz="850" b="1">
                          <a:solidFill>
                            <a:srgbClr val="1A56A0"/>
                          </a:solidFill>
                          <a:latin typeface="Arial"/>
                        </a:defRPr>
                      </a:pPr>
                      <a:r>
                        <a:t>Name</a:t>
                      </a:r>
                    </a:p>
                  </a:txBody>
                  <a:tcPr>
                    <a:solidFill>
                      <a:srgbClr val="EAF2FD"/>
                    </a:solidFill>
                  </a:tcPr>
                </a:tc>
                <a:tc>
                  <a:txBody>
                    <a:bodyPr/>
                    <a:lstStyle/>
                    <a:p>
                      <a:pPr>
                        <a:defRPr sz="850" b="1">
                          <a:solidFill>
                            <a:srgbClr val="1A56A0"/>
                          </a:solidFill>
                          <a:latin typeface="Arial"/>
                        </a:defRPr>
                      </a:pPr>
                      <a:r>
                        <a:t>Type</a:t>
                      </a:r>
                    </a:p>
                  </a:txBody>
                  <a:tcPr>
                    <a:solidFill>
                      <a:srgbClr val="EAF2FD"/>
                    </a:solidFill>
                  </a:tcPr>
                </a:tc>
                <a:tc>
                  <a:txBody>
                    <a:bodyPr/>
                    <a:lstStyle/>
                    <a:p>
                      <a:pPr>
                        <a:defRPr sz="850" b="1">
                          <a:solidFill>
                            <a:srgbClr val="1A56A0"/>
                          </a:solidFill>
                          <a:latin typeface="Arial"/>
                        </a:defRPr>
                      </a:pPr>
                      <a:r>
                        <a:t>Rating</a:t>
                      </a:r>
                    </a:p>
                  </a:txBody>
                  <a:tcPr>
                    <a:solidFill>
                      <a:srgbClr val="EAF2FD"/>
                    </a:solidFill>
                  </a:tcPr>
                </a:tc>
              </a:tr>
              <a:tr h="324196">
                <a:tc>
                  <a:txBody>
                    <a:bodyPr/>
                    <a:lstStyle/>
                    <a:p>
                      <a:pPr>
                        <a:defRPr sz="800">
                          <a:solidFill>
                            <a:srgbClr val="18202F"/>
                          </a:solidFill>
                          <a:latin typeface="Arial"/>
                        </a:defRPr>
                      </a:pPr>
                      <a:r>
                        <a:t>50 whole wheat bread</a:t>
                      </a:r>
                    </a:p>
                  </a:txBody>
                  <a:tcPr>
                    <a:solidFill>
                      <a:srgbClr val="FFFFFF"/>
                    </a:solidFill>
                  </a:tcPr>
                </a:tc>
                <a:tc>
                  <a:txBody>
                    <a:bodyPr/>
                    <a:lstStyle/>
                    <a:p>
                      <a:pPr>
                        <a:defRPr sz="800">
                          <a:solidFill>
                            <a:srgbClr val="18202F"/>
                          </a:solidFill>
                          <a:latin typeface="Arial"/>
                        </a:defRPr>
                      </a:pPr>
                      <a:r>
                        <a:t>breads</a:t>
                      </a:r>
                    </a:p>
                  </a:txBody>
                  <a:tcPr>
                    <a:solidFill>
                      <a:srgbClr val="FFFFFF"/>
                    </a:solidFill>
                  </a:tcPr>
                </a:tc>
                <a:tc>
                  <a:txBody>
                    <a:bodyPr/>
                    <a:lstStyle/>
                    <a:p>
                      <a:pPr>
                        <a:defRPr sz="800">
                          <a:solidFill>
                            <a:srgbClr val="18202F"/>
                          </a:solidFill>
                          <a:latin typeface="Arial"/>
                        </a:defRPr>
                      </a:pPr>
                      <a:r>
                        <a:t>4.94</a:t>
                      </a:r>
                    </a:p>
                  </a:txBody>
                  <a:tcPr>
                    <a:solidFill>
                      <a:srgbClr val="FFFFFF"/>
                    </a:solidFill>
                  </a:tcPr>
                </a:tc>
              </a:tr>
              <a:tr h="324196">
                <a:tc>
                  <a:txBody>
                    <a:bodyPr/>
                    <a:lstStyle/>
                    <a:p>
                      <a:pPr>
                        <a:defRPr sz="800">
                          <a:solidFill>
                            <a:srgbClr val="18202F"/>
                          </a:solidFill>
                          <a:latin typeface="Arial"/>
                        </a:defRPr>
                      </a:pPr>
                      <a:r>
                        <a:t>baby pacifiers shower favors</a:t>
                      </a:r>
                    </a:p>
                  </a:txBody>
                  <a:tcPr>
                    <a:solidFill>
                      <a:srgbClr val="FFFFFF"/>
                    </a:solidFill>
                  </a:tcPr>
                </a:tc>
                <a:tc>
                  <a:txBody>
                    <a:bodyPr/>
                    <a:lstStyle/>
                    <a:p>
                      <a:pPr>
                        <a:defRPr sz="800">
                          <a:solidFill>
                            <a:srgbClr val="18202F"/>
                          </a:solidFill>
                          <a:latin typeface="Arial"/>
                        </a:defRPr>
                      </a:pPr>
                      <a:r>
                        <a:t>None</a:t>
                      </a:r>
                    </a:p>
                  </a:txBody>
                  <a:tcPr>
                    <a:solidFill>
                      <a:srgbClr val="FFFFFF"/>
                    </a:solidFill>
                  </a:tcPr>
                </a:tc>
                <a:tc>
                  <a:txBody>
                    <a:bodyPr/>
                    <a:lstStyle/>
                    <a:p>
                      <a:pPr>
                        <a:defRPr sz="800">
                          <a:solidFill>
                            <a:srgbClr val="18202F"/>
                          </a:solidFill>
                          <a:latin typeface="Arial"/>
                        </a:defRPr>
                      </a:pPr>
                      <a:r>
                        <a:t>4.94</a:t>
                      </a:r>
                    </a:p>
                  </a:txBody>
                  <a:tcPr>
                    <a:solidFill>
                      <a:srgbClr val="FFFFFF"/>
                    </a:solidFill>
                  </a:tcPr>
                </a:tc>
              </a:tr>
              <a:tr h="324196">
                <a:tc>
                  <a:txBody>
                    <a:bodyPr/>
                    <a:lstStyle/>
                    <a:p>
                      <a:pPr>
                        <a:defRPr sz="800">
                          <a:solidFill>
                            <a:srgbClr val="18202F"/>
                          </a:solidFill>
                          <a:latin typeface="Arial"/>
                        </a:defRPr>
                      </a:pPr>
                      <a:r>
                        <a:t>grilled balsamic asparagus</a:t>
                      </a:r>
                    </a:p>
                  </a:txBody>
                  <a:tcPr>
                    <a:solidFill>
                      <a:srgbClr val="FFFFFF"/>
                    </a:solidFill>
                  </a:tcPr>
                </a:tc>
                <a:tc>
                  <a:txBody>
                    <a:bodyPr/>
                    <a:lstStyle/>
                    <a:p>
                      <a:pPr>
                        <a:defRPr sz="800">
                          <a:solidFill>
                            <a:srgbClr val="18202F"/>
                          </a:solidFill>
                          <a:latin typeface="Arial"/>
                        </a:defRPr>
                      </a:pPr>
                      <a:r>
                        <a:t>side dishes</a:t>
                      </a:r>
                    </a:p>
                  </a:txBody>
                  <a:tcPr>
                    <a:solidFill>
                      <a:srgbClr val="FFFFFF"/>
                    </a:solidFill>
                  </a:tcPr>
                </a:tc>
                <a:tc>
                  <a:txBody>
                    <a:bodyPr/>
                    <a:lstStyle/>
                    <a:p>
                      <a:pPr>
                        <a:defRPr sz="800">
                          <a:solidFill>
                            <a:srgbClr val="18202F"/>
                          </a:solidFill>
                          <a:latin typeface="Arial"/>
                        </a:defRPr>
                      </a:pPr>
                      <a:r>
                        <a:t>4.94</a:t>
                      </a:r>
                    </a:p>
                  </a:txBody>
                  <a:tcPr>
                    <a:solidFill>
                      <a:srgbClr val="FFFFFF"/>
                    </a:solidFill>
                  </a:tcPr>
                </a:tc>
              </a:tr>
              <a:tr h="324196">
                <a:tc>
                  <a:txBody>
                    <a:bodyPr/>
                    <a:lstStyle/>
                    <a:p>
                      <a:pPr>
                        <a:defRPr sz="800">
                          <a:solidFill>
                            <a:srgbClr val="18202F"/>
                          </a:solidFill>
                          <a:latin typeface="Arial"/>
                        </a:defRPr>
                      </a:pPr>
                      <a:r>
                        <a:t>grilled pork chops marinade</a:t>
                      </a:r>
                    </a:p>
                  </a:txBody>
                  <a:tcPr>
                    <a:solidFill>
                      <a:srgbClr val="FFFFFF"/>
                    </a:solidFill>
                  </a:tcPr>
                </a:tc>
                <a:tc>
                  <a:txBody>
                    <a:bodyPr/>
                    <a:lstStyle/>
                    <a:p>
                      <a:pPr>
                        <a:defRPr sz="800">
                          <a:solidFill>
                            <a:srgbClr val="18202F"/>
                          </a:solidFill>
                          <a:latin typeface="Arial"/>
                        </a:defRPr>
                      </a:pPr>
                      <a:r>
                        <a:t>main dish</a:t>
                      </a:r>
                    </a:p>
                  </a:txBody>
                  <a:tcPr>
                    <a:solidFill>
                      <a:srgbClr val="FFFFFF"/>
                    </a:solidFill>
                  </a:tcPr>
                </a:tc>
                <a:tc>
                  <a:txBody>
                    <a:bodyPr/>
                    <a:lstStyle/>
                    <a:p>
                      <a:pPr>
                        <a:defRPr sz="800">
                          <a:solidFill>
                            <a:srgbClr val="18202F"/>
                          </a:solidFill>
                          <a:latin typeface="Arial"/>
                        </a:defRPr>
                      </a:pPr>
                      <a:r>
                        <a:t>4.92</a:t>
                      </a:r>
                    </a:p>
                  </a:txBody>
                  <a:tcPr>
                    <a:solidFill>
                      <a:srgbClr val="FFFFFF"/>
                    </a:solidFill>
                  </a:tcPr>
                </a:tc>
              </a:tr>
              <a:tr h="324196">
                <a:tc>
                  <a:txBody>
                    <a:bodyPr/>
                    <a:lstStyle/>
                    <a:p>
                      <a:pPr>
                        <a:defRPr sz="800">
                          <a:solidFill>
                            <a:srgbClr val="18202F"/>
                          </a:solidFill>
                          <a:latin typeface="Arial"/>
                        </a:defRPr>
                      </a:pPr>
                      <a:r>
                        <a:t>key west lime cake</a:t>
                      </a:r>
                    </a:p>
                  </a:txBody>
                  <a:tcPr>
                    <a:solidFill>
                      <a:srgbClr val="FFFFFF"/>
                    </a:solidFill>
                  </a:tcPr>
                </a:tc>
                <a:tc>
                  <a:txBody>
                    <a:bodyPr/>
                    <a:lstStyle/>
                    <a:p>
                      <a:pPr>
                        <a:defRPr sz="800">
                          <a:solidFill>
                            <a:srgbClr val="18202F"/>
                          </a:solidFill>
                          <a:latin typeface="Arial"/>
                        </a:defRPr>
                      </a:pPr>
                      <a:r>
                        <a:t>desserts</a:t>
                      </a:r>
                    </a:p>
                  </a:txBody>
                  <a:tcPr>
                    <a:solidFill>
                      <a:srgbClr val="FFFFFF"/>
                    </a:solidFill>
                  </a:tcPr>
                </a:tc>
                <a:tc>
                  <a:txBody>
                    <a:bodyPr/>
                    <a:lstStyle/>
                    <a:p>
                      <a:pPr>
                        <a:defRPr sz="800">
                          <a:solidFill>
                            <a:srgbClr val="18202F"/>
                          </a:solidFill>
                          <a:latin typeface="Arial"/>
                        </a:defRPr>
                      </a:pPr>
                      <a:r>
                        <a:t>4.91</a:t>
                      </a:r>
                    </a:p>
                  </a:txBody>
                  <a:tcPr>
                    <a:solidFill>
                      <a:srgbClr val="FFFFFF"/>
                    </a:solidFill>
                  </a:tcPr>
                </a:tc>
              </a:tr>
              <a:tr h="324196">
                <a:tc>
                  <a:txBody>
                    <a:bodyPr/>
                    <a:lstStyle/>
                    <a:p>
                      <a:pPr>
                        <a:defRPr sz="800">
                          <a:solidFill>
                            <a:srgbClr val="18202F"/>
                          </a:solidFill>
                          <a:latin typeface="Arial"/>
                        </a:defRPr>
                      </a:pPr>
                      <a:r>
                        <a:t>kittencal s strawberry shortcake</a:t>
                      </a:r>
                    </a:p>
                  </a:txBody>
                  <a:tcPr>
                    <a:solidFill>
                      <a:srgbClr val="FFFFFF"/>
                    </a:solidFill>
                  </a:tcPr>
                </a:tc>
                <a:tc>
                  <a:txBody>
                    <a:bodyPr/>
                    <a:lstStyle/>
                    <a:p>
                      <a:pPr>
                        <a:defRPr sz="800">
                          <a:solidFill>
                            <a:srgbClr val="18202F"/>
                          </a:solidFill>
                          <a:latin typeface="Arial"/>
                        </a:defRPr>
                      </a:pPr>
                      <a:r>
                        <a:t>desserts</a:t>
                      </a:r>
                    </a:p>
                  </a:txBody>
                  <a:tcPr>
                    <a:solidFill>
                      <a:srgbClr val="FFFFFF"/>
                    </a:solidFill>
                  </a:tcPr>
                </a:tc>
                <a:tc>
                  <a:txBody>
                    <a:bodyPr/>
                    <a:lstStyle/>
                    <a:p>
                      <a:pPr>
                        <a:defRPr sz="800">
                          <a:solidFill>
                            <a:srgbClr val="18202F"/>
                          </a:solidFill>
                          <a:latin typeface="Arial"/>
                        </a:defRPr>
                      </a:pPr>
                      <a:r>
                        <a:t>4.91</a:t>
                      </a:r>
                    </a:p>
                  </a:txBody>
                  <a:tcPr>
                    <a:solidFill>
                      <a:srgbClr val="FFFFFF"/>
                    </a:solidFill>
                  </a:tcPr>
                </a:tc>
              </a:tr>
              <a:tr h="324196">
                <a:tc>
                  <a:txBody>
                    <a:bodyPr/>
                    <a:lstStyle/>
                    <a:p>
                      <a:pPr>
                        <a:defRPr sz="800">
                          <a:solidFill>
                            <a:srgbClr val="18202F"/>
                          </a:solidFill>
                          <a:latin typeface="Arial"/>
                        </a:defRPr>
                      </a:pPr>
                      <a:r>
                        <a:t>melt in your mouth pumpkin bread</a:t>
                      </a:r>
                    </a:p>
                  </a:txBody>
                  <a:tcPr>
                    <a:solidFill>
                      <a:srgbClr val="FFFFFF"/>
                    </a:solidFill>
                  </a:tcPr>
                </a:tc>
                <a:tc>
                  <a:txBody>
                    <a:bodyPr/>
                    <a:lstStyle/>
                    <a:p>
                      <a:pPr>
                        <a:defRPr sz="800">
                          <a:solidFill>
                            <a:srgbClr val="18202F"/>
                          </a:solidFill>
                          <a:latin typeface="Arial"/>
                        </a:defRPr>
                      </a:pPr>
                      <a:r>
                        <a:t>lunch</a:t>
                      </a:r>
                    </a:p>
                  </a:txBody>
                  <a:tcPr>
                    <a:solidFill>
                      <a:srgbClr val="FFFFFF"/>
                    </a:solidFill>
                  </a:tcPr>
                </a:tc>
                <a:tc>
                  <a:txBody>
                    <a:bodyPr/>
                    <a:lstStyle/>
                    <a:p>
                      <a:pPr>
                        <a:defRPr sz="800">
                          <a:solidFill>
                            <a:srgbClr val="18202F"/>
                          </a:solidFill>
                          <a:latin typeface="Arial"/>
                        </a:defRPr>
                      </a:pPr>
                      <a:r>
                        <a:t>4.91</a:t>
                      </a:r>
                    </a:p>
                  </a:txBody>
                  <a:tcPr>
                    <a:solidFill>
                      <a:srgbClr val="FFFFFF"/>
                    </a:solidFill>
                  </a:tcPr>
                </a:tc>
              </a:tr>
              <a:tr h="324196">
                <a:tc>
                  <a:txBody>
                    <a:bodyPr/>
                    <a:lstStyle/>
                    <a:p>
                      <a:pPr>
                        <a:defRPr sz="800">
                          <a:solidFill>
                            <a:srgbClr val="18202F"/>
                          </a:solidFill>
                          <a:latin typeface="Arial"/>
                        </a:defRPr>
                      </a:pPr>
                      <a:r>
                        <a:t>sticky soy wings</a:t>
                      </a:r>
                    </a:p>
                  </a:txBody>
                  <a:tcPr>
                    <a:solidFill>
                      <a:srgbClr val="FFFFFF"/>
                    </a:solidFill>
                  </a:tcPr>
                </a:tc>
                <a:tc>
                  <a:txBody>
                    <a:bodyPr/>
                    <a:lstStyle/>
                    <a:p>
                      <a:pPr>
                        <a:defRPr sz="800">
                          <a:solidFill>
                            <a:srgbClr val="18202F"/>
                          </a:solidFill>
                          <a:latin typeface="Arial"/>
                        </a:defRPr>
                      </a:pPr>
                      <a:r>
                        <a:t>appetizers</a:t>
                      </a:r>
                    </a:p>
                  </a:txBody>
                  <a:tcPr>
                    <a:solidFill>
                      <a:srgbClr val="FFFFFF"/>
                    </a:solidFill>
                  </a:tcPr>
                </a:tc>
                <a:tc>
                  <a:txBody>
                    <a:bodyPr/>
                    <a:lstStyle/>
                    <a:p>
                      <a:pPr>
                        <a:defRPr sz="800">
                          <a:solidFill>
                            <a:srgbClr val="18202F"/>
                          </a:solidFill>
                          <a:latin typeface="Arial"/>
                        </a:defRPr>
                      </a:pPr>
                      <a:r>
                        <a:t>4.89</a:t>
                      </a:r>
                    </a:p>
                  </a:txBody>
                  <a:tcPr>
                    <a:solidFill>
                      <a:srgbClr val="FFFFFF"/>
                    </a:solidFill>
                  </a:tcPr>
                </a:tc>
              </a:tr>
              <a:tr h="324196">
                <a:tc>
                  <a:txBody>
                    <a:bodyPr/>
                    <a:lstStyle/>
                    <a:p>
                      <a:pPr>
                        <a:defRPr sz="800">
                          <a:solidFill>
                            <a:srgbClr val="18202F"/>
                          </a:solidFill>
                          <a:latin typeface="Arial"/>
                        </a:defRPr>
                      </a:pPr>
                      <a:r>
                        <a:t>stove top mac n cheese by alton brown</a:t>
                      </a:r>
                    </a:p>
                  </a:txBody>
                  <a:tcPr>
                    <a:solidFill>
                      <a:srgbClr val="FFFFFF"/>
                    </a:solidFill>
                  </a:tcPr>
                </a:tc>
                <a:tc>
                  <a:txBody>
                    <a:bodyPr/>
                    <a:lstStyle/>
                    <a:p>
                      <a:pPr>
                        <a:defRPr sz="800">
                          <a:solidFill>
                            <a:srgbClr val="18202F"/>
                          </a:solidFill>
                          <a:latin typeface="Arial"/>
                        </a:defRPr>
                      </a:pPr>
                      <a:r>
                        <a:t>side dishes</a:t>
                      </a:r>
                    </a:p>
                  </a:txBody>
                  <a:tcPr>
                    <a:solidFill>
                      <a:srgbClr val="FFFFFF"/>
                    </a:solidFill>
                  </a:tcPr>
                </a:tc>
                <a:tc>
                  <a:txBody>
                    <a:bodyPr/>
                    <a:lstStyle/>
                    <a:p>
                      <a:pPr>
                        <a:defRPr sz="800">
                          <a:solidFill>
                            <a:srgbClr val="18202F"/>
                          </a:solidFill>
                          <a:latin typeface="Arial"/>
                        </a:defRPr>
                      </a:pPr>
                      <a:r>
                        <a:t>4.89</a:t>
                      </a:r>
                    </a:p>
                  </a:txBody>
                  <a:tcPr>
                    <a:solidFill>
                      <a:srgbClr val="FFFFFF"/>
                    </a:solidFill>
                  </a:tcPr>
                </a:tc>
              </a:tr>
              <a:tr h="324200">
                <a:tc>
                  <a:txBody>
                    <a:bodyPr/>
                    <a:lstStyle/>
                    <a:p>
                      <a:pPr>
                        <a:defRPr sz="800">
                          <a:solidFill>
                            <a:srgbClr val="18202F"/>
                          </a:solidFill>
                          <a:latin typeface="Arial"/>
                        </a:defRPr>
                      </a:pPr>
                      <a:r>
                        <a:t>the ultimate lemon meringue pie</a:t>
                      </a:r>
                    </a:p>
                  </a:txBody>
                  <a:tcPr>
                    <a:solidFill>
                      <a:srgbClr val="FFFFFF"/>
                    </a:solidFill>
                  </a:tcPr>
                </a:tc>
                <a:tc>
                  <a:txBody>
                    <a:bodyPr/>
                    <a:lstStyle/>
                    <a:p>
                      <a:pPr>
                        <a:defRPr sz="800">
                          <a:solidFill>
                            <a:srgbClr val="18202F"/>
                          </a:solidFill>
                          <a:latin typeface="Arial"/>
                        </a:defRPr>
                      </a:pPr>
                      <a:r>
                        <a:t>desserts</a:t>
                      </a:r>
                    </a:p>
                  </a:txBody>
                  <a:tcPr>
                    <a:solidFill>
                      <a:srgbClr val="FFFFFF"/>
                    </a:solidFill>
                  </a:tcPr>
                </a:tc>
                <a:tc>
                  <a:txBody>
                    <a:bodyPr/>
                    <a:lstStyle/>
                    <a:p>
                      <a:pPr>
                        <a:defRPr sz="800">
                          <a:solidFill>
                            <a:srgbClr val="18202F"/>
                          </a:solidFill>
                          <a:latin typeface="Arial"/>
                        </a:defRPr>
                      </a:pPr>
                      <a:r>
                        <a:t>4.89</a:t>
                      </a:r>
                    </a:p>
                  </a:txBody>
                  <a:tcPr>
                    <a:solidFill>
                      <a:srgbClr val="FFFFFF"/>
                    </a:solidFill>
                  </a:tcPr>
                </a:tc>
              </a:tr>
            </a:tbl>
          </a:graphicData>
        </a:graphic>
      </p:graphicFrame>
      <p:sp>
        <p:nvSpPr>
          <p:cNvPr id="12" name="Rounded Rectangle 11"/>
          <p:cNvSpPr/>
          <p:nvPr/>
        </p:nvSpPr>
        <p:spPr>
          <a:xfrm>
            <a:off x="6217920" y="1325880"/>
            <a:ext cx="5242255" cy="429768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1463040"/>
            <a:ext cx="4876495" cy="320040"/>
          </a:xfrm>
          <a:prstGeom prst="roundRect">
            <a:avLst/>
          </a:prstGeom>
          <a:solidFill>
            <a:srgbClr val="E6F7ED"/>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7C41"/>
                </a:solidFill>
                <a:latin typeface="Arial"/>
              </a:defRPr>
            </a:pPr>
            <a:r>
              <a:t>Cluster Based Approach: Diverse Personalization</a:t>
            </a:r>
          </a:p>
        </p:txBody>
      </p:sp>
      <p:graphicFrame>
        <p:nvGraphicFramePr>
          <p:cNvPr id="14" name="Table 13"/>
          <p:cNvGraphicFramePr>
            <a:graphicFrameLocks noGrp="1"/>
          </p:cNvGraphicFramePr>
          <p:nvPr/>
        </p:nvGraphicFramePr>
        <p:xfrm>
          <a:off x="6400800" y="1874519"/>
          <a:ext cx="4876495" cy="3566160"/>
        </p:xfrm>
        <a:graphic>
          <a:graphicData uri="http://schemas.openxmlformats.org/drawingml/2006/table">
            <a:tbl>
              <a:tblPr firstRow="1" bandRow="1">
                <a:tableStyleId>{5C22544A-7EE6-4342-B048-85BDC9FD1C3A}</a:tableStyleId>
              </a:tblPr>
              <a:tblGrid>
                <a:gridCol w="3291840"/>
                <a:gridCol w="1584655"/>
              </a:tblGrid>
              <a:tr h="324196">
                <a:tc>
                  <a:txBody>
                    <a:bodyPr/>
                    <a:lstStyle/>
                    <a:p>
                      <a:pPr>
                        <a:defRPr sz="850" b="1">
                          <a:solidFill>
                            <a:srgbClr val="107C41"/>
                          </a:solidFill>
                          <a:latin typeface="Arial"/>
                        </a:defRPr>
                      </a:pPr>
                      <a:r>
                        <a:t>Name</a:t>
                      </a:r>
                    </a:p>
                  </a:txBody>
                  <a:tcPr>
                    <a:solidFill>
                      <a:srgbClr val="E6F7ED"/>
                    </a:solidFill>
                  </a:tcPr>
                </a:tc>
                <a:tc>
                  <a:txBody>
                    <a:bodyPr/>
                    <a:lstStyle/>
                    <a:p>
                      <a:pPr>
                        <a:defRPr sz="850" b="1">
                          <a:solidFill>
                            <a:srgbClr val="107C41"/>
                          </a:solidFill>
                          <a:latin typeface="Arial"/>
                        </a:defRPr>
                      </a:pPr>
                      <a:r>
                        <a:t>Meal Type</a:t>
                      </a:r>
                    </a:p>
                  </a:txBody>
                  <a:tcPr>
                    <a:solidFill>
                      <a:srgbClr val="E6F7ED"/>
                    </a:solidFill>
                  </a:tcPr>
                </a:tc>
              </a:tr>
              <a:tr h="324196">
                <a:tc>
                  <a:txBody>
                    <a:bodyPr/>
                    <a:lstStyle/>
                    <a:p>
                      <a:pPr>
                        <a:defRPr sz="800">
                          <a:solidFill>
                            <a:srgbClr val="18202F"/>
                          </a:solidFill>
                          <a:latin typeface="Arial"/>
                        </a:defRPr>
                      </a:pPr>
                      <a:r>
                        <a:t>bacon parmesan brussels sprouts</a:t>
                      </a:r>
                    </a:p>
                  </a:txBody>
                  <a:tcPr>
                    <a:solidFill>
                      <a:srgbClr val="FFFFFF"/>
                    </a:solidFill>
                  </a:tcPr>
                </a:tc>
                <a:tc>
                  <a:txBody>
                    <a:bodyPr/>
                    <a:lstStyle/>
                    <a:p>
                      <a:pPr>
                        <a:defRPr sz="800">
                          <a:solidFill>
                            <a:srgbClr val="18202F"/>
                          </a:solidFill>
                          <a:latin typeface="Arial"/>
                        </a:defRPr>
                      </a:pPr>
                      <a:r>
                        <a:t>vegetables</a:t>
                      </a:r>
                    </a:p>
                  </a:txBody>
                  <a:tcPr>
                    <a:solidFill>
                      <a:srgbClr val="FFFFFF"/>
                    </a:solidFill>
                  </a:tcPr>
                </a:tc>
              </a:tr>
              <a:tr h="324196">
                <a:tc>
                  <a:txBody>
                    <a:bodyPr/>
                    <a:lstStyle/>
                    <a:p>
                      <a:pPr>
                        <a:defRPr sz="800">
                          <a:solidFill>
                            <a:srgbClr val="18202F"/>
                          </a:solidFill>
                          <a:latin typeface="Arial"/>
                        </a:defRPr>
                      </a:pPr>
                      <a:r>
                        <a:t>baklava salmon with honey butter walnuts</a:t>
                      </a:r>
                    </a:p>
                  </a:txBody>
                  <a:tcPr>
                    <a:solidFill>
                      <a:srgbClr val="FFFFFF"/>
                    </a:solidFill>
                  </a:tcPr>
                </a:tc>
                <a:tc>
                  <a:txBody>
                    <a:bodyPr/>
                    <a:lstStyle/>
                    <a:p>
                      <a:pPr>
                        <a:defRPr sz="800">
                          <a:solidFill>
                            <a:srgbClr val="18202F"/>
                          </a:solidFill>
                          <a:latin typeface="Arial"/>
                        </a:defRPr>
                      </a:pPr>
                      <a:r>
                        <a:t>main dish</a:t>
                      </a:r>
                    </a:p>
                  </a:txBody>
                  <a:tcPr>
                    <a:solidFill>
                      <a:srgbClr val="FFFFFF"/>
                    </a:solidFill>
                  </a:tcPr>
                </a:tc>
              </a:tr>
              <a:tr h="324196">
                <a:tc>
                  <a:txBody>
                    <a:bodyPr/>
                    <a:lstStyle/>
                    <a:p>
                      <a:pPr>
                        <a:defRPr sz="800">
                          <a:solidFill>
                            <a:srgbClr val="18202F"/>
                          </a:solidFill>
                          <a:latin typeface="Arial"/>
                        </a:defRPr>
                      </a:pPr>
                      <a:r>
                        <a:t>calzone bread machine</a:t>
                      </a:r>
                    </a:p>
                  </a:txBody>
                  <a:tcPr>
                    <a:solidFill>
                      <a:srgbClr val="FFFFFF"/>
                    </a:solidFill>
                  </a:tcPr>
                </a:tc>
                <a:tc>
                  <a:txBody>
                    <a:bodyPr/>
                    <a:lstStyle/>
                    <a:p>
                      <a:pPr>
                        <a:defRPr sz="800">
                          <a:solidFill>
                            <a:srgbClr val="18202F"/>
                          </a:solidFill>
                          <a:latin typeface="Arial"/>
                        </a:defRPr>
                      </a:pPr>
                      <a:r>
                        <a:t>main dish</a:t>
                      </a:r>
                    </a:p>
                  </a:txBody>
                  <a:tcPr>
                    <a:solidFill>
                      <a:srgbClr val="FFFFFF"/>
                    </a:solidFill>
                  </a:tcPr>
                </a:tc>
              </a:tr>
              <a:tr h="324196">
                <a:tc>
                  <a:txBody>
                    <a:bodyPr/>
                    <a:lstStyle/>
                    <a:p>
                      <a:pPr>
                        <a:defRPr sz="800">
                          <a:solidFill>
                            <a:srgbClr val="18202F"/>
                          </a:solidFill>
                          <a:latin typeface="Arial"/>
                        </a:defRPr>
                      </a:pPr>
                      <a:r>
                        <a:t>country sausage gravy</a:t>
                      </a:r>
                    </a:p>
                  </a:txBody>
                  <a:tcPr>
                    <a:solidFill>
                      <a:srgbClr val="FFFFFF"/>
                    </a:solidFill>
                  </a:tcPr>
                </a:tc>
                <a:tc>
                  <a:txBody>
                    <a:bodyPr/>
                    <a:lstStyle/>
                    <a:p>
                      <a:pPr>
                        <a:defRPr sz="800">
                          <a:solidFill>
                            <a:srgbClr val="18202F"/>
                          </a:solidFill>
                          <a:latin typeface="Arial"/>
                        </a:defRPr>
                      </a:pPr>
                      <a:r>
                        <a:t>lunch</a:t>
                      </a:r>
                    </a:p>
                  </a:txBody>
                  <a:tcPr>
                    <a:solidFill>
                      <a:srgbClr val="FFFFFF"/>
                    </a:solidFill>
                  </a:tcPr>
                </a:tc>
              </a:tr>
              <a:tr h="324196">
                <a:tc>
                  <a:txBody>
                    <a:bodyPr/>
                    <a:lstStyle/>
                    <a:p>
                      <a:pPr>
                        <a:defRPr sz="800">
                          <a:solidFill>
                            <a:srgbClr val="18202F"/>
                          </a:solidFill>
                          <a:latin typeface="Arial"/>
                        </a:defRPr>
                      </a:pPr>
                      <a:r>
                        <a:t>edna s apple crumble aka apple crisp</a:t>
                      </a:r>
                    </a:p>
                  </a:txBody>
                  <a:tcPr>
                    <a:solidFill>
                      <a:srgbClr val="FFFFFF"/>
                    </a:solidFill>
                  </a:tcPr>
                </a:tc>
                <a:tc>
                  <a:txBody>
                    <a:bodyPr/>
                    <a:lstStyle/>
                    <a:p>
                      <a:pPr>
                        <a:defRPr sz="800">
                          <a:solidFill>
                            <a:srgbClr val="18202F"/>
                          </a:solidFill>
                          <a:latin typeface="Arial"/>
                        </a:defRPr>
                      </a:pPr>
                      <a:r>
                        <a:t>desserts</a:t>
                      </a:r>
                    </a:p>
                  </a:txBody>
                  <a:tcPr>
                    <a:solidFill>
                      <a:srgbClr val="FFFFFF"/>
                    </a:solidFill>
                  </a:tcPr>
                </a:tc>
              </a:tr>
              <a:tr h="324196">
                <a:tc>
                  <a:txBody>
                    <a:bodyPr/>
                    <a:lstStyle/>
                    <a:p>
                      <a:pPr>
                        <a:defRPr sz="800">
                          <a:solidFill>
                            <a:srgbClr val="18202F"/>
                          </a:solidFill>
                          <a:latin typeface="Arial"/>
                        </a:defRPr>
                      </a:pPr>
                      <a:r>
                        <a:t>parmesan crusted broiled scallops</a:t>
                      </a:r>
                    </a:p>
                  </a:txBody>
                  <a:tcPr>
                    <a:solidFill>
                      <a:srgbClr val="FFFFFF"/>
                    </a:solidFill>
                  </a:tcPr>
                </a:tc>
                <a:tc>
                  <a:txBody>
                    <a:bodyPr/>
                    <a:lstStyle/>
                    <a:p>
                      <a:pPr>
                        <a:defRPr sz="800">
                          <a:solidFill>
                            <a:srgbClr val="18202F"/>
                          </a:solidFill>
                          <a:latin typeface="Arial"/>
                        </a:defRPr>
                      </a:pPr>
                      <a:r>
                        <a:t>main dish</a:t>
                      </a:r>
                    </a:p>
                  </a:txBody>
                  <a:tcPr>
                    <a:solidFill>
                      <a:srgbClr val="FFFFFF"/>
                    </a:solidFill>
                  </a:tcPr>
                </a:tc>
              </a:tr>
              <a:tr h="324196">
                <a:tc>
                  <a:txBody>
                    <a:bodyPr/>
                    <a:lstStyle/>
                    <a:p>
                      <a:pPr>
                        <a:defRPr sz="800">
                          <a:solidFill>
                            <a:srgbClr val="18202F"/>
                          </a:solidFill>
                          <a:latin typeface="Arial"/>
                        </a:defRPr>
                      </a:pPr>
                      <a:r>
                        <a:t>quick and easy salsa with black beans</a:t>
                      </a:r>
                    </a:p>
                  </a:txBody>
                  <a:tcPr>
                    <a:solidFill>
                      <a:srgbClr val="FFFFFF"/>
                    </a:solidFill>
                  </a:tcPr>
                </a:tc>
                <a:tc>
                  <a:txBody>
                    <a:bodyPr/>
                    <a:lstStyle/>
                    <a:p>
                      <a:pPr>
                        <a:defRPr sz="800">
                          <a:solidFill>
                            <a:srgbClr val="18202F"/>
                          </a:solidFill>
                          <a:latin typeface="Arial"/>
                        </a:defRPr>
                      </a:pPr>
                      <a:r>
                        <a:t>condiments etc</a:t>
                      </a:r>
                    </a:p>
                  </a:txBody>
                  <a:tcPr>
                    <a:solidFill>
                      <a:srgbClr val="FFFFFF"/>
                    </a:solidFill>
                  </a:tcPr>
                </a:tc>
              </a:tr>
              <a:tr h="324196">
                <a:tc>
                  <a:txBody>
                    <a:bodyPr/>
                    <a:lstStyle/>
                    <a:p>
                      <a:pPr>
                        <a:defRPr sz="800">
                          <a:solidFill>
                            <a:srgbClr val="18202F"/>
                          </a:solidFill>
                          <a:latin typeface="Arial"/>
                        </a:defRPr>
                      </a:pPr>
                      <a:r>
                        <a:t>romano s macaroni grill rosemary bread</a:t>
                      </a:r>
                    </a:p>
                  </a:txBody>
                  <a:tcPr>
                    <a:solidFill>
                      <a:srgbClr val="FFFFFF"/>
                    </a:solidFill>
                  </a:tcPr>
                </a:tc>
                <a:tc>
                  <a:txBody>
                    <a:bodyPr/>
                    <a:lstStyle/>
                    <a:p>
                      <a:pPr>
                        <a:defRPr sz="800">
                          <a:solidFill>
                            <a:srgbClr val="18202F"/>
                          </a:solidFill>
                          <a:latin typeface="Arial"/>
                        </a:defRPr>
                      </a:pPr>
                      <a:r>
                        <a:t>other</a:t>
                      </a:r>
                    </a:p>
                  </a:txBody>
                  <a:tcPr>
                    <a:solidFill>
                      <a:srgbClr val="FFFFFF"/>
                    </a:solidFill>
                  </a:tcPr>
                </a:tc>
              </a:tr>
              <a:tr h="324196">
                <a:tc>
                  <a:txBody>
                    <a:bodyPr/>
                    <a:lstStyle/>
                    <a:p>
                      <a:pPr>
                        <a:defRPr sz="800">
                          <a:solidFill>
                            <a:srgbClr val="18202F"/>
                          </a:solidFill>
                          <a:latin typeface="Arial"/>
                        </a:defRPr>
                      </a:pPr>
                      <a:r>
                        <a:t>salmon and asparagus in foil</a:t>
                      </a:r>
                    </a:p>
                  </a:txBody>
                  <a:tcPr>
                    <a:solidFill>
                      <a:srgbClr val="FFFFFF"/>
                    </a:solidFill>
                  </a:tcPr>
                </a:tc>
                <a:tc>
                  <a:txBody>
                    <a:bodyPr/>
                    <a:lstStyle/>
                    <a:p>
                      <a:pPr>
                        <a:defRPr sz="800">
                          <a:solidFill>
                            <a:srgbClr val="18202F"/>
                          </a:solidFill>
                          <a:latin typeface="Arial"/>
                        </a:defRPr>
                      </a:pPr>
                      <a:r>
                        <a:t>main dish</a:t>
                      </a:r>
                    </a:p>
                  </a:txBody>
                  <a:tcPr>
                    <a:solidFill>
                      <a:srgbClr val="FFFFFF"/>
                    </a:solidFill>
                  </a:tcPr>
                </a:tc>
              </a:tr>
              <a:tr h="324200">
                <a:tc>
                  <a:txBody>
                    <a:bodyPr/>
                    <a:lstStyle/>
                    <a:p>
                      <a:pPr>
                        <a:defRPr sz="800">
                          <a:solidFill>
                            <a:srgbClr val="18202F"/>
                          </a:solidFill>
                          <a:latin typeface="Arial"/>
                        </a:defRPr>
                      </a:pPr>
                      <a:r>
                        <a:t>the best blueberry buttermilk pancakes</a:t>
                      </a:r>
                    </a:p>
                  </a:txBody>
                  <a:tcPr>
                    <a:solidFill>
                      <a:srgbClr val="FFFFFF"/>
                    </a:solidFill>
                  </a:tcPr>
                </a:tc>
                <a:tc>
                  <a:txBody>
                    <a:bodyPr/>
                    <a:lstStyle/>
                    <a:p>
                      <a:pPr>
                        <a:defRPr sz="800">
                          <a:solidFill>
                            <a:srgbClr val="18202F"/>
                          </a:solidFill>
                          <a:latin typeface="Arial"/>
                        </a:defRPr>
                      </a:pPr>
                      <a:r>
                        <a:t>brunch</a:t>
                      </a:r>
                    </a:p>
                  </a:txBody>
                  <a:tcPr>
                    <a:solidFill>
                      <a:srgbClr val="FFFFFF"/>
                    </a:solidFill>
                  </a:tcPr>
                </a:tc>
              </a:tr>
            </a:tbl>
          </a:graphicData>
        </a:graphic>
      </p:graphicFrame>
      <p:sp>
        <p:nvSpPr>
          <p:cNvPr id="15" name="Rounded Rectangle 14"/>
          <p:cNvSpPr/>
          <p:nvPr/>
        </p:nvSpPr>
        <p:spPr>
          <a:xfrm>
            <a:off x="731520" y="5650992"/>
            <a:ext cx="10728655" cy="77724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650992"/>
            <a:ext cx="10728655" cy="54864"/>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24144"/>
            <a:ext cx="10362895" cy="667512"/>
          </a:xfrm>
          <a:prstGeom prst="rect">
            <a:avLst/>
          </a:prstGeom>
          <a:noFill/>
        </p:spPr>
        <p:txBody>
          <a:bodyPr wrap="square">
            <a:spAutoFit/>
          </a:bodyPr>
          <a:lstStyle/>
          <a:p>
            <a:pPr>
              <a:defRPr sz="1100" b="1">
                <a:solidFill>
                  <a:srgbClr val="18202F"/>
                </a:solidFill>
                <a:latin typeface="Arial"/>
              </a:defRPr>
            </a:pPr>
            <a:r>
              <a:t>Qualitative Audit Takeaway</a:t>
            </a:r>
          </a:p>
          <a:p>
            <a:pPr>
              <a:spcBef>
                <a:spcPts val="300"/>
              </a:spcBef>
              <a:defRPr sz="900">
                <a:solidFill>
                  <a:srgbClr val="5A6978"/>
                </a:solidFill>
                <a:latin typeface="Arial"/>
              </a:defRPr>
            </a:pPr>
            <a:r>
              <a:t>SVD predicts universally high rated staple recipes (popularity bias), whereas Cluster Based filtering recommends distinctive, diverse dishes matching the user specific taste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METHODOLOGY &amp; FORMULATION</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Description of Approach: Content Based</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11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417320"/>
            <a:ext cx="5212080" cy="73152"/>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81912"/>
            <a:ext cx="4846320" cy="2075688"/>
          </a:xfrm>
          <a:prstGeom prst="rect">
            <a:avLst/>
          </a:prstGeom>
          <a:noFill/>
        </p:spPr>
        <p:txBody>
          <a:bodyPr wrap="square">
            <a:spAutoFit/>
          </a:bodyPr>
          <a:lstStyle/>
          <a:p>
            <a:pPr>
              <a:defRPr sz="1300" b="1">
                <a:solidFill>
                  <a:srgbClr val="18202F"/>
                </a:solidFill>
                <a:latin typeface="Arial"/>
              </a:defRPr>
            </a:pPr>
            <a:r>
              <a:t>01  TF IDF Recipe Representation</a:t>
            </a:r>
          </a:p>
          <a:p>
            <a:pPr>
              <a:spcBef>
                <a:spcPts val="800"/>
              </a:spcBef>
              <a:defRPr sz="1050">
                <a:solidFill>
                  <a:srgbClr val="18202F"/>
                </a:solidFill>
                <a:latin typeface="Arial"/>
              </a:defRPr>
            </a:pPr>
            <a:r>
              <a:t>I extracted textual recipe descriptions and transformed them into high dimensional numerical vectors using Term Frequency Inverse Document Frequency (TF IDF). Stop words were stripped, and word weights reflect recipe specific terminology across the culinary corpus.</a:t>
            </a:r>
          </a:p>
        </p:txBody>
      </p:sp>
      <p:sp>
        <p:nvSpPr>
          <p:cNvPr id="12" name="Rounded Rectangle 11"/>
          <p:cNvSpPr/>
          <p:nvPr/>
        </p:nvSpPr>
        <p:spPr>
          <a:xfrm>
            <a:off x="62179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212080" cy="73152"/>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4846320" cy="2075688"/>
          </a:xfrm>
          <a:prstGeom prst="rect">
            <a:avLst/>
          </a:prstGeom>
          <a:noFill/>
        </p:spPr>
        <p:txBody>
          <a:bodyPr wrap="square">
            <a:spAutoFit/>
          </a:bodyPr>
          <a:lstStyle/>
          <a:p>
            <a:pPr>
              <a:defRPr sz="1300" b="1">
                <a:solidFill>
                  <a:srgbClr val="18202F"/>
                </a:solidFill>
                <a:latin typeface="Arial"/>
              </a:defRPr>
            </a:pPr>
            <a:r>
              <a:t>02  User Preference Vector Synthesis</a:t>
            </a:r>
          </a:p>
          <a:p>
            <a:pPr>
              <a:spcBef>
                <a:spcPts val="800"/>
              </a:spcBef>
              <a:defRPr sz="1050">
                <a:solidFill>
                  <a:srgbClr val="18202F"/>
                </a:solidFill>
                <a:latin typeface="Arial"/>
              </a:defRPr>
            </a:pPr>
            <a:r>
              <a:t>For each target user, I aggregated the TF IDF vectors of all recipes they had previously rated 4 or 5 stars into a composite preference vector. This vector captures the user unique culinary vocabulary and taste preferences.</a:t>
            </a:r>
          </a:p>
        </p:txBody>
      </p:sp>
      <p:sp>
        <p:nvSpPr>
          <p:cNvPr id="15" name="Rounded Rectangle 14"/>
          <p:cNvSpPr/>
          <p:nvPr/>
        </p:nvSpPr>
        <p:spPr>
          <a:xfrm>
            <a:off x="7315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931920"/>
            <a:ext cx="5212080" cy="7315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96512"/>
            <a:ext cx="4846320" cy="2075688"/>
          </a:xfrm>
          <a:prstGeom prst="rect">
            <a:avLst/>
          </a:prstGeom>
          <a:noFill/>
        </p:spPr>
        <p:txBody>
          <a:bodyPr wrap="square">
            <a:spAutoFit/>
          </a:bodyPr>
          <a:lstStyle/>
          <a:p>
            <a:pPr>
              <a:defRPr sz="1300" b="1">
                <a:solidFill>
                  <a:srgbClr val="18202F"/>
                </a:solidFill>
                <a:latin typeface="Arial"/>
              </a:defRPr>
            </a:pPr>
            <a:r>
              <a:t>03  Cosine Similarity Candidate Ranking</a:t>
            </a:r>
          </a:p>
          <a:p>
            <a:pPr>
              <a:spcBef>
                <a:spcPts val="800"/>
              </a:spcBef>
              <a:defRPr sz="1050">
                <a:solidFill>
                  <a:srgbClr val="18202F"/>
                </a:solidFill>
                <a:latin typeface="Arial"/>
              </a:defRPr>
            </a:pPr>
            <a:r>
              <a:t>Cosine similarity was computed between candidate recipe descriptions and the user composite preference vector. The candidate space was ranked by descending similarity score to surface the Top N most relevant dishes.</a:t>
            </a:r>
          </a:p>
        </p:txBody>
      </p:sp>
      <p:sp>
        <p:nvSpPr>
          <p:cNvPr id="18" name="Rounded Rectangle 17"/>
          <p:cNvSpPr/>
          <p:nvPr/>
        </p:nvSpPr>
        <p:spPr>
          <a:xfrm>
            <a:off x="62179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3931920"/>
            <a:ext cx="5212080" cy="73152"/>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96512"/>
            <a:ext cx="4846320" cy="2075688"/>
          </a:xfrm>
          <a:prstGeom prst="rect">
            <a:avLst/>
          </a:prstGeom>
          <a:noFill/>
        </p:spPr>
        <p:txBody>
          <a:bodyPr wrap="square">
            <a:spAutoFit/>
          </a:bodyPr>
          <a:lstStyle/>
          <a:p>
            <a:pPr>
              <a:defRPr sz="1300" b="1">
                <a:solidFill>
                  <a:srgbClr val="18202F"/>
                </a:solidFill>
                <a:latin typeface="Arial"/>
              </a:defRPr>
            </a:pPr>
            <a:r>
              <a:t>04  Precision and Recall Evaluation</a:t>
            </a:r>
          </a:p>
          <a:p>
            <a:pPr>
              <a:spcBef>
                <a:spcPts val="800"/>
              </a:spcBef>
              <a:defRPr sz="1050">
                <a:solidFill>
                  <a:srgbClr val="18202F"/>
                </a:solidFill>
                <a:latin typeface="Arial"/>
              </a:defRPr>
            </a:pPr>
            <a:r>
              <a:t>To rigorously evaluate recommendation utility beyond point ratings, I tested Top K recommendation sets from K = 1.0 to K = 10.0 across test users, calculating Precision at K and Recall at K against their ground truth liked recipes.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QUALITATIVE CASE STUDY</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Content Based Recommendations</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12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25880"/>
            <a:ext cx="10728655" cy="320040"/>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A56A0"/>
                </a:solidFill>
                <a:latin typeface="Arial"/>
              </a:defRPr>
            </a:pPr>
            <a:r>
              <a:t>Target User Profile: High Rated Recipes (Ratings of 4 or 5)</a:t>
            </a:r>
          </a:p>
        </p:txBody>
      </p:sp>
      <p:graphicFrame>
        <p:nvGraphicFramePr>
          <p:cNvPr id="10" name="Table 9"/>
          <p:cNvGraphicFramePr>
            <a:graphicFrameLocks noGrp="1"/>
          </p:cNvGraphicFramePr>
          <p:nvPr/>
        </p:nvGraphicFramePr>
        <p:xfrm>
          <a:off x="731520" y="1691640"/>
          <a:ext cx="10728655" cy="1371600"/>
        </p:xfrm>
        <a:graphic>
          <a:graphicData uri="http://schemas.openxmlformats.org/drawingml/2006/table">
            <a:tbl>
              <a:tblPr firstRow="1" bandRow="1">
                <a:tableStyleId>{5C22544A-7EE6-4342-B048-85BDC9FD1C3A}</a:tableStyleId>
              </a:tblPr>
              <a:tblGrid>
                <a:gridCol w="2468880"/>
                <a:gridCol w="8259775"/>
              </a:tblGrid>
              <a:tr h="457200">
                <a:tc>
                  <a:txBody>
                    <a:bodyPr/>
                    <a:lstStyle/>
                    <a:p>
                      <a:pPr>
                        <a:defRPr sz="900" b="1">
                          <a:solidFill>
                            <a:srgbClr val="1A56A0"/>
                          </a:solidFill>
                          <a:latin typeface="Arial"/>
                        </a:defRPr>
                      </a:pPr>
                      <a:r>
                        <a:t>name</a:t>
                      </a:r>
                    </a:p>
                  </a:txBody>
                  <a:tcPr marL="73152" marR="73152">
                    <a:solidFill>
                      <a:srgbClr val="EAF2FD"/>
                    </a:solidFill>
                  </a:tcPr>
                </a:tc>
                <a:tc>
                  <a:txBody>
                    <a:bodyPr/>
                    <a:lstStyle/>
                    <a:p>
                      <a:pPr>
                        <a:defRPr sz="900" b="1">
                          <a:solidFill>
                            <a:srgbClr val="1A56A0"/>
                          </a:solidFill>
                          <a:latin typeface="Arial"/>
                        </a:defRPr>
                      </a:pPr>
                      <a:r>
                        <a:t>description</a:t>
                      </a:r>
                    </a:p>
                  </a:txBody>
                  <a:tcPr marL="73152" marR="73152">
                    <a:solidFill>
                      <a:srgbClr val="EAF2FD"/>
                    </a:solidFill>
                  </a:tcPr>
                </a:tc>
              </a:tr>
              <a:tr h="457200">
                <a:tc>
                  <a:txBody>
                    <a:bodyPr/>
                    <a:lstStyle/>
                    <a:p>
                      <a:pPr>
                        <a:defRPr sz="850">
                          <a:solidFill>
                            <a:srgbClr val="18202F"/>
                          </a:solidFill>
                          <a:latin typeface="Arial"/>
                        </a:defRPr>
                      </a:pPr>
                      <a:r>
                        <a:t>land of nod cinnamon buns</a:t>
                      </a:r>
                    </a:p>
                  </a:txBody>
                  <a:tcPr marL="73152" marR="73152">
                    <a:solidFill>
                      <a:srgbClr val="FFFFFF"/>
                    </a:solidFill>
                  </a:tcPr>
                </a:tc>
                <a:tc>
                  <a:txBody>
                    <a:bodyPr/>
                    <a:lstStyle/>
                    <a:p>
                      <a:pPr>
                        <a:defRPr sz="850">
                          <a:solidFill>
                            <a:srgbClr val="18202F"/>
                          </a:solidFill>
                          <a:latin typeface="Arial"/>
                        </a:defRPr>
                      </a:pPr>
                      <a:r>
                        <a:t>i have made this several times and it is dead easy. if you have overnight guests, what could be easier for breakfast? i have made it on special occasions, too, such as easter morning and christmas morning, etc. this recipe comes from the best of bridge series.</a:t>
                      </a:r>
                    </a:p>
                  </a:txBody>
                  <a:tcPr marL="73152" marR="73152">
                    <a:solidFill>
                      <a:srgbClr val="FFFFFF"/>
                    </a:solidFill>
                  </a:tcPr>
                </a:tc>
              </a:tr>
              <a:tr h="457200">
                <a:tc>
                  <a:txBody>
                    <a:bodyPr/>
                    <a:lstStyle/>
                    <a:p>
                      <a:pPr>
                        <a:defRPr sz="850">
                          <a:solidFill>
                            <a:srgbClr val="18202F"/>
                          </a:solidFill>
                          <a:latin typeface="Arial"/>
                        </a:defRPr>
                      </a:pPr>
                      <a:r>
                        <a:t>put down your fork tuna and bean salad</a:t>
                      </a:r>
                    </a:p>
                  </a:txBody>
                  <a:tcPr marL="73152" marR="73152">
                    <a:solidFill>
                      <a:srgbClr val="FFFFFF"/>
                    </a:solidFill>
                  </a:tcPr>
                </a:tc>
                <a:tc>
                  <a:txBody>
                    <a:bodyPr/>
                    <a:lstStyle/>
                    <a:p>
                      <a:pPr>
                        <a:defRPr sz="850">
                          <a:solidFill>
                            <a:srgbClr val="18202F"/>
                          </a:solidFill>
                          <a:latin typeface="Arial"/>
                        </a:defRPr>
                      </a:pPr>
                      <a:r>
                        <a:t>the story behind this comes from a simple recipe i had found, then made changes to personalize it. my husband loved it so much the first time i made it i literally had to say to him</a:t>
                      </a:r>
                    </a:p>
                  </a:txBody>
                  <a:tcPr marL="73152" marR="73152">
                    <a:solidFill>
                      <a:srgbClr val="FFFFFF"/>
                    </a:solidFill>
                  </a:tcPr>
                </a:tc>
              </a:tr>
            </a:tbl>
          </a:graphicData>
        </a:graphic>
      </p:graphicFrame>
      <p:sp>
        <p:nvSpPr>
          <p:cNvPr id="11" name="Rounded Rectangle 10"/>
          <p:cNvSpPr/>
          <p:nvPr/>
        </p:nvSpPr>
        <p:spPr>
          <a:xfrm>
            <a:off x="731520" y="3200400"/>
            <a:ext cx="10728655" cy="320040"/>
          </a:xfrm>
          <a:prstGeom prst="roundRect">
            <a:avLst/>
          </a:prstGeom>
          <a:solidFill>
            <a:srgbClr val="E6F7ED"/>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7C41"/>
                </a:solidFill>
                <a:latin typeface="Arial"/>
              </a:defRPr>
            </a:pPr>
            <a:r>
              <a:t>Top 5 Recommended Recipes via TF IDF Cosine Similarity</a:t>
            </a:r>
          </a:p>
        </p:txBody>
      </p:sp>
      <p:graphicFrame>
        <p:nvGraphicFramePr>
          <p:cNvPr id="12" name="Table 11"/>
          <p:cNvGraphicFramePr>
            <a:graphicFrameLocks noGrp="1"/>
          </p:cNvGraphicFramePr>
          <p:nvPr/>
        </p:nvGraphicFramePr>
        <p:xfrm>
          <a:off x="731520" y="3566160"/>
          <a:ext cx="10728655" cy="2743200"/>
        </p:xfrm>
        <a:graphic>
          <a:graphicData uri="http://schemas.openxmlformats.org/drawingml/2006/table">
            <a:tbl>
              <a:tblPr firstRow="1" bandRow="1">
                <a:tableStyleId>{5C22544A-7EE6-4342-B048-85BDC9FD1C3A}</a:tableStyleId>
              </a:tblPr>
              <a:tblGrid>
                <a:gridCol w="2468880"/>
                <a:gridCol w="8259775"/>
              </a:tblGrid>
              <a:tr h="457200">
                <a:tc>
                  <a:txBody>
                    <a:bodyPr/>
                    <a:lstStyle/>
                    <a:p>
                      <a:pPr>
                        <a:defRPr sz="900" b="1">
                          <a:solidFill>
                            <a:srgbClr val="107C41"/>
                          </a:solidFill>
                          <a:latin typeface="Arial"/>
                        </a:defRPr>
                      </a:pPr>
                      <a:r>
                        <a:t>name</a:t>
                      </a:r>
                    </a:p>
                  </a:txBody>
                  <a:tcPr marL="73152" marR="73152">
                    <a:solidFill>
                      <a:srgbClr val="E6F7ED"/>
                    </a:solidFill>
                  </a:tcPr>
                </a:tc>
                <a:tc>
                  <a:txBody>
                    <a:bodyPr/>
                    <a:lstStyle/>
                    <a:p>
                      <a:pPr>
                        <a:defRPr sz="900" b="1">
                          <a:solidFill>
                            <a:srgbClr val="107C41"/>
                          </a:solidFill>
                          <a:latin typeface="Arial"/>
                        </a:defRPr>
                      </a:pPr>
                      <a:r>
                        <a:t>description</a:t>
                      </a:r>
                    </a:p>
                  </a:txBody>
                  <a:tcPr marL="73152" marR="73152">
                    <a:solidFill>
                      <a:srgbClr val="E6F7ED"/>
                    </a:solidFill>
                  </a:tcPr>
                </a:tc>
              </a:tr>
              <a:tr h="457200">
                <a:tc>
                  <a:txBody>
                    <a:bodyPr/>
                    <a:lstStyle/>
                    <a:p>
                      <a:pPr>
                        <a:defRPr sz="850">
                          <a:solidFill>
                            <a:srgbClr val="18202F"/>
                          </a:solidFill>
                          <a:latin typeface="Arial"/>
                        </a:defRPr>
                      </a:pPr>
                      <a:r>
                        <a:t>chile rellenos</a:t>
                      </a:r>
                    </a:p>
                  </a:txBody>
                  <a:tcPr marL="73152" marR="73152">
                    <a:solidFill>
                      <a:srgbClr val="FFFFFF"/>
                    </a:solidFill>
                  </a:tcPr>
                </a:tc>
                <a:tc>
                  <a:txBody>
                    <a:bodyPr/>
                    <a:lstStyle/>
                    <a:p>
                      <a:pPr>
                        <a:defRPr sz="850">
                          <a:solidFill>
                            <a:srgbClr val="18202F"/>
                          </a:solidFill>
                          <a:latin typeface="Arial"/>
                        </a:defRPr>
                      </a:pPr>
                      <a:r>
                        <a:t>a favorite from a local restaurant no longer in business. not an authentic mexican chile relleno, but a crispy, flaky version.</a:t>
                      </a:r>
                    </a:p>
                  </a:txBody>
                  <a:tcPr marL="73152" marR="73152">
                    <a:solidFill>
                      <a:srgbClr val="FFFFFF"/>
                    </a:solidFill>
                  </a:tcPr>
                </a:tc>
              </a:tr>
              <a:tr h="457200">
                <a:tc>
                  <a:txBody>
                    <a:bodyPr/>
                    <a:lstStyle/>
                    <a:p>
                      <a:pPr>
                        <a:defRPr sz="850">
                          <a:solidFill>
                            <a:srgbClr val="18202F"/>
                          </a:solidFill>
                          <a:latin typeface="Arial"/>
                        </a:defRPr>
                      </a:pPr>
                      <a:r>
                        <a:t>chinese candy</a:t>
                      </a:r>
                    </a:p>
                  </a:txBody>
                  <a:tcPr marL="73152" marR="73152">
                    <a:solidFill>
                      <a:srgbClr val="FFFFFF"/>
                    </a:solidFill>
                  </a:tcPr>
                </a:tc>
                <a:tc>
                  <a:txBody>
                    <a:bodyPr/>
                    <a:lstStyle/>
                    <a:p>
                      <a:pPr>
                        <a:defRPr sz="850">
                          <a:solidFill>
                            <a:srgbClr val="18202F"/>
                          </a:solidFill>
                          <a:latin typeface="Arial"/>
                        </a:defRPr>
                      </a:pPr>
                      <a:r>
                        <a:t>a little different, and oh so good. i include these when making up candy trays, as gifts, at christmas time.</a:t>
                      </a:r>
                    </a:p>
                  </a:txBody>
                  <a:tcPr marL="73152" marR="73152">
                    <a:solidFill>
                      <a:srgbClr val="FFFFFF"/>
                    </a:solidFill>
                  </a:tcPr>
                </a:tc>
              </a:tr>
              <a:tr h="457200">
                <a:tc>
                  <a:txBody>
                    <a:bodyPr/>
                    <a:lstStyle/>
                    <a:p>
                      <a:pPr>
                        <a:defRPr sz="850">
                          <a:solidFill>
                            <a:srgbClr val="18202F"/>
                          </a:solidFill>
                          <a:latin typeface="Arial"/>
                        </a:defRPr>
                      </a:pPr>
                      <a:r>
                        <a:t>ant kelly s london broil marinade</a:t>
                      </a:r>
                    </a:p>
                  </a:txBody>
                  <a:tcPr marL="73152" marR="73152">
                    <a:solidFill>
                      <a:srgbClr val="FFFFFF"/>
                    </a:solidFill>
                  </a:tcPr>
                </a:tc>
                <a:tc>
                  <a:txBody>
                    <a:bodyPr/>
                    <a:lstStyle/>
                    <a:p>
                      <a:pPr>
                        <a:defRPr sz="850">
                          <a:solidFill>
                            <a:srgbClr val="18202F"/>
                          </a:solidFill>
                          <a:latin typeface="Arial"/>
                        </a:defRPr>
                      </a:pPr>
                      <a:r>
                        <a:t>my niece shwana loves this! she always writes my name ant kelly during family games started when she was little and stuck. i always make this during vacation trips in wisconsin. prep time includes does not include time to marinate.</a:t>
                      </a:r>
                    </a:p>
                  </a:txBody>
                  <a:tcPr marL="73152" marR="73152">
                    <a:solidFill>
                      <a:srgbClr val="FFFFFF"/>
                    </a:solidFill>
                  </a:tcPr>
                </a:tc>
              </a:tr>
              <a:tr h="457200">
                <a:tc>
                  <a:txBody>
                    <a:bodyPr/>
                    <a:lstStyle/>
                    <a:p>
                      <a:pPr>
                        <a:defRPr sz="850">
                          <a:solidFill>
                            <a:srgbClr val="18202F"/>
                          </a:solidFill>
                          <a:latin typeface="Arial"/>
                        </a:defRPr>
                      </a:pPr>
                      <a:r>
                        <a:t>i don t feel like cooking tonight casserole</a:t>
                      </a:r>
                    </a:p>
                  </a:txBody>
                  <a:tcPr marL="73152" marR="73152">
                    <a:solidFill>
                      <a:srgbClr val="FFFFFF"/>
                    </a:solidFill>
                  </a:tcPr>
                </a:tc>
                <a:tc>
                  <a:txBody>
                    <a:bodyPr/>
                    <a:lstStyle/>
                    <a:p>
                      <a:pPr>
                        <a:defRPr sz="850">
                          <a:solidFill>
                            <a:srgbClr val="18202F"/>
                          </a:solidFill>
                          <a:latin typeface="Arial"/>
                        </a:defRPr>
                      </a:pPr>
                      <a:r>
                        <a:t>this is a hearty and filling casserole for those nights when a long time in the kitchen is just out of the question. very tasty and easy to make, my family requests it often. enjoy!</a:t>
                      </a:r>
                    </a:p>
                  </a:txBody>
                  <a:tcPr marL="73152" marR="73152">
                    <a:solidFill>
                      <a:srgbClr val="FFFFFF"/>
                    </a:solidFill>
                  </a:tcPr>
                </a:tc>
              </a:tr>
              <a:tr h="457200">
                <a:tc>
                  <a:txBody>
                    <a:bodyPr/>
                    <a:lstStyle/>
                    <a:p>
                      <a:pPr>
                        <a:defRPr sz="850">
                          <a:solidFill>
                            <a:srgbClr val="18202F"/>
                          </a:solidFill>
                          <a:latin typeface="Arial"/>
                        </a:defRPr>
                      </a:pPr>
                      <a:r>
                        <a:t>better then bush s baked beans</a:t>
                      </a:r>
                    </a:p>
                  </a:txBody>
                  <a:tcPr marL="73152" marR="73152">
                    <a:solidFill>
                      <a:srgbClr val="FFFFFF"/>
                    </a:solidFill>
                  </a:tcPr>
                </a:tc>
                <a:tc>
                  <a:txBody>
                    <a:bodyPr/>
                    <a:lstStyle/>
                    <a:p>
                      <a:pPr>
                        <a:defRPr sz="850">
                          <a:solidFill>
                            <a:srgbClr val="18202F"/>
                          </a:solidFill>
                          <a:latin typeface="Arial"/>
                        </a:defRPr>
                      </a:pPr>
                      <a:r>
                        <a:t>i would have to say that this is a labor of love dish, but i give you my word that this recipe is better than bush s. enjoy! oh, and also this recipe is easily doubled. in fact, i think it turns out better when it is.</a:t>
                      </a:r>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PRECISION &amp; RECALL EVALUATION</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Results: Content Based Precision and Recall</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13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371600"/>
            <a:ext cx="5120640" cy="411480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22960" y="1463040"/>
          <a:ext cx="4937760" cy="3931920"/>
        </p:xfrm>
        <a:graphic>
          <a:graphicData uri="http://schemas.openxmlformats.org/drawingml/2006/table">
            <a:tbl>
              <a:tblPr firstRow="1" bandRow="1">
                <a:tableStyleId>{5C22544A-7EE6-4342-B048-85BDC9FD1C3A}</a:tableStyleId>
              </a:tblPr>
              <a:tblGrid>
                <a:gridCol w="1280160"/>
                <a:gridCol w="1828800"/>
                <a:gridCol w="1828800"/>
              </a:tblGrid>
              <a:tr h="357447">
                <a:tc>
                  <a:txBody>
                    <a:bodyPr/>
                    <a:lstStyle/>
                    <a:p>
                      <a:pPr>
                        <a:defRPr sz="900" b="1">
                          <a:solidFill>
                            <a:srgbClr val="1A56A0"/>
                          </a:solidFill>
                          <a:latin typeface="Arial"/>
                        </a:defRPr>
                      </a:pPr>
                      <a:r>
                        <a:t>K value</a:t>
                      </a:r>
                    </a:p>
                  </a:txBody>
                  <a:tcPr>
                    <a:solidFill>
                      <a:srgbClr val="EAF2FD"/>
                    </a:solidFill>
                  </a:tcPr>
                </a:tc>
                <a:tc>
                  <a:txBody>
                    <a:bodyPr/>
                    <a:lstStyle/>
                    <a:p>
                      <a:pPr>
                        <a:defRPr sz="900" b="1">
                          <a:solidFill>
                            <a:srgbClr val="1A56A0"/>
                          </a:solidFill>
                          <a:latin typeface="Arial"/>
                        </a:defRPr>
                      </a:pPr>
                      <a:r>
                        <a:t>Precision</a:t>
                      </a:r>
                    </a:p>
                  </a:txBody>
                  <a:tcPr>
                    <a:solidFill>
                      <a:srgbClr val="EAF2FD"/>
                    </a:solidFill>
                  </a:tcPr>
                </a:tc>
                <a:tc>
                  <a:txBody>
                    <a:bodyPr/>
                    <a:lstStyle/>
                    <a:p>
                      <a:pPr>
                        <a:defRPr sz="900" b="1">
                          <a:solidFill>
                            <a:srgbClr val="1A56A0"/>
                          </a:solidFill>
                          <a:latin typeface="Arial"/>
                        </a:defRPr>
                      </a:pPr>
                      <a:r>
                        <a:t>Recall</a:t>
                      </a:r>
                    </a:p>
                  </a:txBody>
                  <a:tcPr>
                    <a:solidFill>
                      <a:srgbClr val="EAF2FD"/>
                    </a:solidFill>
                  </a:tcPr>
                </a:tc>
              </a:tr>
              <a:tr h="357447">
                <a:tc>
                  <a:txBody>
                    <a:bodyPr/>
                    <a:lstStyle/>
                    <a:p>
                      <a:pPr>
                        <a:defRPr sz="850">
                          <a:solidFill>
                            <a:srgbClr val="18202F"/>
                          </a:solidFill>
                          <a:latin typeface="Arial"/>
                        </a:defRPr>
                      </a:pPr>
                      <a:r>
                        <a:t>1.0</a:t>
                      </a:r>
                    </a:p>
                  </a:txBody>
                  <a:tcPr>
                    <a:solidFill>
                      <a:srgbClr val="FFFFFF"/>
                    </a:solidFill>
                  </a:tcPr>
                </a:tc>
                <a:tc>
                  <a:txBody>
                    <a:bodyPr/>
                    <a:lstStyle/>
                    <a:p>
                      <a:pPr>
                        <a:defRPr sz="850">
                          <a:solidFill>
                            <a:srgbClr val="18202F"/>
                          </a:solidFill>
                          <a:latin typeface="Arial"/>
                        </a:defRPr>
                      </a:pPr>
                      <a:r>
                        <a:t>0.000000</a:t>
                      </a:r>
                    </a:p>
                  </a:txBody>
                  <a:tcPr>
                    <a:solidFill>
                      <a:srgbClr val="FFFFFF"/>
                    </a:solidFill>
                  </a:tcPr>
                </a:tc>
                <a:tc>
                  <a:txBody>
                    <a:bodyPr/>
                    <a:lstStyle/>
                    <a:p>
                      <a:pPr>
                        <a:defRPr sz="850">
                          <a:solidFill>
                            <a:srgbClr val="18202F"/>
                          </a:solidFill>
                          <a:latin typeface="Arial"/>
                        </a:defRPr>
                      </a:pPr>
                      <a:r>
                        <a:t>0.000000</a:t>
                      </a:r>
                    </a:p>
                  </a:txBody>
                  <a:tcPr>
                    <a:solidFill>
                      <a:srgbClr val="FFFFFF"/>
                    </a:solidFill>
                  </a:tcPr>
                </a:tc>
              </a:tr>
              <a:tr h="357447">
                <a:tc>
                  <a:txBody>
                    <a:bodyPr/>
                    <a:lstStyle/>
                    <a:p>
                      <a:pPr>
                        <a:defRPr sz="850">
                          <a:solidFill>
                            <a:srgbClr val="18202F"/>
                          </a:solidFill>
                          <a:latin typeface="Arial"/>
                        </a:defRPr>
                      </a:pPr>
                      <a:r>
                        <a:t>2.0</a:t>
                      </a:r>
                    </a:p>
                  </a:txBody>
                  <a:tcPr>
                    <a:solidFill>
                      <a:srgbClr val="FFFFFF"/>
                    </a:solidFill>
                  </a:tcPr>
                </a:tc>
                <a:tc>
                  <a:txBody>
                    <a:bodyPr/>
                    <a:lstStyle/>
                    <a:p>
                      <a:pPr>
                        <a:defRPr sz="850">
                          <a:solidFill>
                            <a:srgbClr val="18202F"/>
                          </a:solidFill>
                          <a:latin typeface="Arial"/>
                        </a:defRPr>
                      </a:pPr>
                      <a:r>
                        <a:t>0.000708</a:t>
                      </a:r>
                    </a:p>
                  </a:txBody>
                  <a:tcPr>
                    <a:solidFill>
                      <a:srgbClr val="FFFFFF"/>
                    </a:solidFill>
                  </a:tcPr>
                </a:tc>
                <a:tc>
                  <a:txBody>
                    <a:bodyPr/>
                    <a:lstStyle/>
                    <a:p>
                      <a:pPr>
                        <a:defRPr sz="850">
                          <a:solidFill>
                            <a:srgbClr val="18202F"/>
                          </a:solidFill>
                          <a:latin typeface="Arial"/>
                        </a:defRPr>
                      </a:pPr>
                      <a:r>
                        <a:t>0.001416</a:t>
                      </a:r>
                    </a:p>
                  </a:txBody>
                  <a:tcPr>
                    <a:solidFill>
                      <a:srgbClr val="FFFFFF"/>
                    </a:solidFill>
                  </a:tcPr>
                </a:tc>
              </a:tr>
              <a:tr h="357447">
                <a:tc>
                  <a:txBody>
                    <a:bodyPr/>
                    <a:lstStyle/>
                    <a:p>
                      <a:pPr>
                        <a:defRPr sz="850">
                          <a:solidFill>
                            <a:srgbClr val="18202F"/>
                          </a:solidFill>
                          <a:latin typeface="Arial"/>
                        </a:defRPr>
                      </a:pPr>
                      <a:r>
                        <a:t>3.0</a:t>
                      </a:r>
                    </a:p>
                  </a:txBody>
                  <a:tcPr>
                    <a:solidFill>
                      <a:srgbClr val="FFFFFF"/>
                    </a:solidFill>
                  </a:tcPr>
                </a:tc>
                <a:tc>
                  <a:txBody>
                    <a:bodyPr/>
                    <a:lstStyle/>
                    <a:p>
                      <a:pPr>
                        <a:defRPr sz="850">
                          <a:solidFill>
                            <a:srgbClr val="18202F"/>
                          </a:solidFill>
                          <a:latin typeface="Arial"/>
                        </a:defRPr>
                      </a:pPr>
                      <a:r>
                        <a:t>0.000472</a:t>
                      </a:r>
                    </a:p>
                  </a:txBody>
                  <a:tcPr>
                    <a:solidFill>
                      <a:srgbClr val="FFFFFF"/>
                    </a:solidFill>
                  </a:tcPr>
                </a:tc>
                <a:tc>
                  <a:txBody>
                    <a:bodyPr/>
                    <a:lstStyle/>
                    <a:p>
                      <a:pPr>
                        <a:defRPr sz="850">
                          <a:solidFill>
                            <a:srgbClr val="18202F"/>
                          </a:solidFill>
                          <a:latin typeface="Arial"/>
                        </a:defRPr>
                      </a:pPr>
                      <a:r>
                        <a:t>0.001416</a:t>
                      </a:r>
                    </a:p>
                  </a:txBody>
                  <a:tcPr>
                    <a:solidFill>
                      <a:srgbClr val="FFFFFF"/>
                    </a:solidFill>
                  </a:tcPr>
                </a:tc>
              </a:tr>
              <a:tr h="357447">
                <a:tc>
                  <a:txBody>
                    <a:bodyPr/>
                    <a:lstStyle/>
                    <a:p>
                      <a:pPr>
                        <a:defRPr sz="850">
                          <a:solidFill>
                            <a:srgbClr val="18202F"/>
                          </a:solidFill>
                          <a:latin typeface="Arial"/>
                        </a:defRPr>
                      </a:pPr>
                      <a:r>
                        <a:t>4.0</a:t>
                      </a:r>
                    </a:p>
                  </a:txBody>
                  <a:tcPr>
                    <a:solidFill>
                      <a:srgbClr val="FFFFFF"/>
                    </a:solidFill>
                  </a:tcPr>
                </a:tc>
                <a:tc>
                  <a:txBody>
                    <a:bodyPr/>
                    <a:lstStyle/>
                    <a:p>
                      <a:pPr>
                        <a:defRPr sz="850">
                          <a:solidFill>
                            <a:srgbClr val="18202F"/>
                          </a:solidFill>
                          <a:latin typeface="Arial"/>
                        </a:defRPr>
                      </a:pPr>
                      <a:r>
                        <a:t>0.000354</a:t>
                      </a:r>
                    </a:p>
                  </a:txBody>
                  <a:tcPr>
                    <a:solidFill>
                      <a:srgbClr val="FFFFFF"/>
                    </a:solidFill>
                  </a:tcPr>
                </a:tc>
                <a:tc>
                  <a:txBody>
                    <a:bodyPr/>
                    <a:lstStyle/>
                    <a:p>
                      <a:pPr>
                        <a:defRPr sz="850">
                          <a:solidFill>
                            <a:srgbClr val="18202F"/>
                          </a:solidFill>
                          <a:latin typeface="Arial"/>
                        </a:defRPr>
                      </a:pPr>
                      <a:r>
                        <a:t>0.001416</a:t>
                      </a:r>
                    </a:p>
                  </a:txBody>
                  <a:tcPr>
                    <a:solidFill>
                      <a:srgbClr val="FFFFFF"/>
                    </a:solidFill>
                  </a:tcPr>
                </a:tc>
              </a:tr>
              <a:tr h="357447">
                <a:tc>
                  <a:txBody>
                    <a:bodyPr/>
                    <a:lstStyle/>
                    <a:p>
                      <a:pPr>
                        <a:defRPr sz="850">
                          <a:solidFill>
                            <a:srgbClr val="18202F"/>
                          </a:solidFill>
                          <a:latin typeface="Arial"/>
                        </a:defRPr>
                      </a:pPr>
                      <a:r>
                        <a:t>5.0</a:t>
                      </a:r>
                    </a:p>
                  </a:txBody>
                  <a:tcPr>
                    <a:solidFill>
                      <a:srgbClr val="FFFFFF"/>
                    </a:solidFill>
                  </a:tcPr>
                </a:tc>
                <a:tc>
                  <a:txBody>
                    <a:bodyPr/>
                    <a:lstStyle/>
                    <a:p>
                      <a:pPr>
                        <a:defRPr sz="850">
                          <a:solidFill>
                            <a:srgbClr val="18202F"/>
                          </a:solidFill>
                          <a:latin typeface="Arial"/>
                        </a:defRPr>
                      </a:pPr>
                      <a:r>
                        <a:t>0.000567</a:t>
                      </a:r>
                    </a:p>
                  </a:txBody>
                  <a:tcPr>
                    <a:solidFill>
                      <a:srgbClr val="FFFFFF"/>
                    </a:solidFill>
                  </a:tcPr>
                </a:tc>
                <a:tc>
                  <a:txBody>
                    <a:bodyPr/>
                    <a:lstStyle/>
                    <a:p>
                      <a:pPr>
                        <a:defRPr sz="850">
                          <a:solidFill>
                            <a:srgbClr val="18202F"/>
                          </a:solidFill>
                          <a:latin typeface="Arial"/>
                        </a:defRPr>
                      </a:pPr>
                      <a:r>
                        <a:t>0.002833</a:t>
                      </a:r>
                    </a:p>
                  </a:txBody>
                  <a:tcPr>
                    <a:solidFill>
                      <a:srgbClr val="FFFFFF"/>
                    </a:solidFill>
                  </a:tcPr>
                </a:tc>
              </a:tr>
              <a:tr h="357447">
                <a:tc>
                  <a:txBody>
                    <a:bodyPr/>
                    <a:lstStyle/>
                    <a:p>
                      <a:pPr>
                        <a:defRPr sz="850">
                          <a:solidFill>
                            <a:srgbClr val="18202F"/>
                          </a:solidFill>
                          <a:latin typeface="Arial"/>
                        </a:defRPr>
                      </a:pPr>
                      <a:r>
                        <a:t>6.0</a:t>
                      </a:r>
                    </a:p>
                  </a:txBody>
                  <a:tcPr>
                    <a:solidFill>
                      <a:srgbClr val="FFFFFF"/>
                    </a:solidFill>
                  </a:tcPr>
                </a:tc>
                <a:tc>
                  <a:txBody>
                    <a:bodyPr/>
                    <a:lstStyle/>
                    <a:p>
                      <a:pPr>
                        <a:defRPr sz="850">
                          <a:solidFill>
                            <a:srgbClr val="18202F"/>
                          </a:solidFill>
                          <a:latin typeface="Arial"/>
                        </a:defRPr>
                      </a:pPr>
                      <a:r>
                        <a:t>0.000472</a:t>
                      </a:r>
                    </a:p>
                  </a:txBody>
                  <a:tcPr>
                    <a:solidFill>
                      <a:srgbClr val="FFFFFF"/>
                    </a:solidFill>
                  </a:tcPr>
                </a:tc>
                <a:tc>
                  <a:txBody>
                    <a:bodyPr/>
                    <a:lstStyle/>
                    <a:p>
                      <a:pPr>
                        <a:defRPr sz="850">
                          <a:solidFill>
                            <a:srgbClr val="18202F"/>
                          </a:solidFill>
                          <a:latin typeface="Arial"/>
                        </a:defRPr>
                      </a:pPr>
                      <a:r>
                        <a:t>0.002833</a:t>
                      </a:r>
                    </a:p>
                  </a:txBody>
                  <a:tcPr>
                    <a:solidFill>
                      <a:srgbClr val="FFFFFF"/>
                    </a:solidFill>
                  </a:tcPr>
                </a:tc>
              </a:tr>
              <a:tr h="357447">
                <a:tc>
                  <a:txBody>
                    <a:bodyPr/>
                    <a:lstStyle/>
                    <a:p>
                      <a:pPr>
                        <a:defRPr sz="850">
                          <a:solidFill>
                            <a:srgbClr val="18202F"/>
                          </a:solidFill>
                          <a:latin typeface="Arial"/>
                        </a:defRPr>
                      </a:pPr>
                      <a:r>
                        <a:t>7.0</a:t>
                      </a:r>
                    </a:p>
                  </a:txBody>
                  <a:tcPr>
                    <a:solidFill>
                      <a:srgbClr val="FFFFFF"/>
                    </a:solidFill>
                  </a:tcPr>
                </a:tc>
                <a:tc>
                  <a:txBody>
                    <a:bodyPr/>
                    <a:lstStyle/>
                    <a:p>
                      <a:pPr>
                        <a:defRPr sz="850">
                          <a:solidFill>
                            <a:srgbClr val="18202F"/>
                          </a:solidFill>
                          <a:latin typeface="Arial"/>
                        </a:defRPr>
                      </a:pPr>
                      <a:r>
                        <a:t>0.000607</a:t>
                      </a:r>
                    </a:p>
                  </a:txBody>
                  <a:tcPr>
                    <a:solidFill>
                      <a:srgbClr val="FFFFFF"/>
                    </a:solidFill>
                  </a:tcPr>
                </a:tc>
                <a:tc>
                  <a:txBody>
                    <a:bodyPr/>
                    <a:lstStyle/>
                    <a:p>
                      <a:pPr>
                        <a:defRPr sz="850">
                          <a:solidFill>
                            <a:srgbClr val="18202F"/>
                          </a:solidFill>
                          <a:latin typeface="Arial"/>
                        </a:defRPr>
                      </a:pPr>
                      <a:r>
                        <a:t>0.004249</a:t>
                      </a:r>
                    </a:p>
                  </a:txBody>
                  <a:tcPr>
                    <a:solidFill>
                      <a:srgbClr val="FFFFFF"/>
                    </a:solidFill>
                  </a:tcPr>
                </a:tc>
              </a:tr>
              <a:tr h="357447">
                <a:tc>
                  <a:txBody>
                    <a:bodyPr/>
                    <a:lstStyle/>
                    <a:p>
                      <a:pPr>
                        <a:defRPr sz="850">
                          <a:solidFill>
                            <a:srgbClr val="18202F"/>
                          </a:solidFill>
                          <a:latin typeface="Arial"/>
                        </a:defRPr>
                      </a:pPr>
                      <a:r>
                        <a:t>8.0</a:t>
                      </a:r>
                    </a:p>
                  </a:txBody>
                  <a:tcPr>
                    <a:solidFill>
                      <a:srgbClr val="FFFFFF"/>
                    </a:solidFill>
                  </a:tcPr>
                </a:tc>
                <a:tc>
                  <a:txBody>
                    <a:bodyPr/>
                    <a:lstStyle/>
                    <a:p>
                      <a:pPr>
                        <a:defRPr sz="850">
                          <a:solidFill>
                            <a:srgbClr val="18202F"/>
                          </a:solidFill>
                          <a:latin typeface="Arial"/>
                        </a:defRPr>
                      </a:pPr>
                      <a:r>
                        <a:t>0.000531</a:t>
                      </a:r>
                    </a:p>
                  </a:txBody>
                  <a:tcPr>
                    <a:solidFill>
                      <a:srgbClr val="FFFFFF"/>
                    </a:solidFill>
                  </a:tcPr>
                </a:tc>
                <a:tc>
                  <a:txBody>
                    <a:bodyPr/>
                    <a:lstStyle/>
                    <a:p>
                      <a:pPr>
                        <a:defRPr sz="850">
                          <a:solidFill>
                            <a:srgbClr val="18202F"/>
                          </a:solidFill>
                          <a:latin typeface="Arial"/>
                        </a:defRPr>
                      </a:pPr>
                      <a:r>
                        <a:t>0.004249</a:t>
                      </a:r>
                    </a:p>
                  </a:txBody>
                  <a:tcPr>
                    <a:solidFill>
                      <a:srgbClr val="FFFFFF"/>
                    </a:solidFill>
                  </a:tcPr>
                </a:tc>
              </a:tr>
              <a:tr h="357447">
                <a:tc>
                  <a:txBody>
                    <a:bodyPr/>
                    <a:lstStyle/>
                    <a:p>
                      <a:pPr>
                        <a:defRPr sz="850">
                          <a:solidFill>
                            <a:srgbClr val="18202F"/>
                          </a:solidFill>
                          <a:latin typeface="Arial"/>
                        </a:defRPr>
                      </a:pPr>
                      <a:r>
                        <a:t>9.0</a:t>
                      </a:r>
                    </a:p>
                  </a:txBody>
                  <a:tcPr>
                    <a:solidFill>
                      <a:srgbClr val="FFFFFF"/>
                    </a:solidFill>
                  </a:tcPr>
                </a:tc>
                <a:tc>
                  <a:txBody>
                    <a:bodyPr/>
                    <a:lstStyle/>
                    <a:p>
                      <a:pPr>
                        <a:defRPr sz="850">
                          <a:solidFill>
                            <a:srgbClr val="18202F"/>
                          </a:solidFill>
                          <a:latin typeface="Arial"/>
                        </a:defRPr>
                      </a:pPr>
                      <a:r>
                        <a:t>0.000472</a:t>
                      </a:r>
                    </a:p>
                  </a:txBody>
                  <a:tcPr>
                    <a:solidFill>
                      <a:srgbClr val="FFFFFF"/>
                    </a:solidFill>
                  </a:tcPr>
                </a:tc>
                <a:tc>
                  <a:txBody>
                    <a:bodyPr/>
                    <a:lstStyle/>
                    <a:p>
                      <a:pPr>
                        <a:defRPr sz="850">
                          <a:solidFill>
                            <a:srgbClr val="18202F"/>
                          </a:solidFill>
                          <a:latin typeface="Arial"/>
                        </a:defRPr>
                      </a:pPr>
                      <a:r>
                        <a:t>0.004249</a:t>
                      </a:r>
                    </a:p>
                  </a:txBody>
                  <a:tcPr>
                    <a:solidFill>
                      <a:srgbClr val="FFFFFF"/>
                    </a:solidFill>
                  </a:tcPr>
                </a:tc>
              </a:tr>
              <a:tr h="357450">
                <a:tc>
                  <a:txBody>
                    <a:bodyPr/>
                    <a:lstStyle/>
                    <a:p>
                      <a:pPr>
                        <a:defRPr sz="850">
                          <a:solidFill>
                            <a:srgbClr val="18202F"/>
                          </a:solidFill>
                          <a:latin typeface="Arial"/>
                        </a:defRPr>
                      </a:pPr>
                      <a:r>
                        <a:t>10.0</a:t>
                      </a:r>
                    </a:p>
                  </a:txBody>
                  <a:tcPr>
                    <a:solidFill>
                      <a:srgbClr val="FFFFFF"/>
                    </a:solidFill>
                  </a:tcPr>
                </a:tc>
                <a:tc>
                  <a:txBody>
                    <a:bodyPr/>
                    <a:lstStyle/>
                    <a:p>
                      <a:pPr>
                        <a:defRPr sz="850">
                          <a:solidFill>
                            <a:srgbClr val="18202F"/>
                          </a:solidFill>
                          <a:latin typeface="Arial"/>
                        </a:defRPr>
                      </a:pPr>
                      <a:r>
                        <a:t>0.000425</a:t>
                      </a:r>
                    </a:p>
                  </a:txBody>
                  <a:tcPr>
                    <a:solidFill>
                      <a:srgbClr val="FFFFFF"/>
                    </a:solidFill>
                  </a:tcPr>
                </a:tc>
                <a:tc>
                  <a:txBody>
                    <a:bodyPr/>
                    <a:lstStyle/>
                    <a:p>
                      <a:pPr>
                        <a:defRPr sz="850">
                          <a:solidFill>
                            <a:srgbClr val="18202F"/>
                          </a:solidFill>
                          <a:latin typeface="Arial"/>
                        </a:defRPr>
                      </a:pPr>
                      <a:r>
                        <a:t>0.004249</a:t>
                      </a:r>
                    </a:p>
                  </a:txBody>
                  <a:tcPr>
                    <a:solidFill>
                      <a:srgbClr val="FFFFFF"/>
                    </a:solidFill>
                  </a:tcPr>
                </a:tc>
              </a:tr>
            </a:tbl>
          </a:graphicData>
        </a:graphic>
      </p:graphicFrame>
      <p:sp>
        <p:nvSpPr>
          <p:cNvPr id="11" name="Rounded Rectangle 10"/>
          <p:cNvSpPr/>
          <p:nvPr/>
        </p:nvSpPr>
        <p:spPr>
          <a:xfrm>
            <a:off x="6217920" y="1371600"/>
            <a:ext cx="5242255" cy="4114800"/>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ell_44_out_1.png"/>
          <p:cNvPicPr>
            <a:picLocks noChangeAspect="1"/>
          </p:cNvPicPr>
          <p:nvPr/>
        </p:nvPicPr>
        <p:blipFill>
          <a:blip r:embed="rId3"/>
          <a:stretch>
            <a:fillRect/>
          </a:stretch>
        </p:blipFill>
        <p:spPr>
          <a:xfrm>
            <a:off x="6309360" y="1463040"/>
            <a:ext cx="5059375" cy="3931920"/>
          </a:xfrm>
          <a:prstGeom prst="rect">
            <a:avLst/>
          </a:prstGeom>
        </p:spPr>
      </p:pic>
      <p:sp>
        <p:nvSpPr>
          <p:cNvPr id="13" name="Rounded Rectangle 12"/>
          <p:cNvSpPr/>
          <p:nvPr/>
        </p:nvSpPr>
        <p:spPr>
          <a:xfrm>
            <a:off x="731520" y="5596128"/>
            <a:ext cx="10728655" cy="82296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596128"/>
            <a:ext cx="10728655" cy="54864"/>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69280"/>
            <a:ext cx="10362895" cy="713232"/>
          </a:xfrm>
          <a:prstGeom prst="rect">
            <a:avLst/>
          </a:prstGeom>
          <a:noFill/>
        </p:spPr>
        <p:txBody>
          <a:bodyPr wrap="square">
            <a:spAutoFit/>
          </a:bodyPr>
          <a:lstStyle/>
          <a:p>
            <a:pPr>
              <a:defRPr sz="1100" b="1">
                <a:solidFill>
                  <a:srgbClr val="18202F"/>
                </a:solidFill>
                <a:latin typeface="Arial"/>
              </a:defRPr>
            </a:pPr>
            <a:r>
              <a:t>Evaluation Analysis</a:t>
            </a:r>
          </a:p>
          <a:p>
            <a:pPr>
              <a:spcBef>
                <a:spcPts val="300"/>
              </a:spcBef>
              <a:defRPr sz="900">
                <a:solidFill>
                  <a:srgbClr val="5A6978"/>
                </a:solidFill>
                <a:latin typeface="Arial"/>
              </a:defRPr>
            </a:pPr>
            <a:r>
              <a:t>Low numerical precision and recall reflect extreme catalog sparsity across 178K recipes. While exact historical overlap is small, textual similarity successfully captures thematic culinary preferences.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_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365760"/>
            <a:ext cx="2926080" cy="292608"/>
          </a:xfrm>
          <a:prstGeom prst="roundRect">
            <a:avLst/>
          </a:prstGeom>
          <a:solidFill>
            <a:srgbClr val="EAF2FD"/>
          </a:solidFill>
          <a:ln w="12700">
            <a:solidFill>
              <a:srgbClr val="1A56A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A56A0"/>
                </a:solidFill>
                <a:latin typeface="Arial"/>
              </a:defRPr>
            </a:pPr>
            <a:r>
              <a:t>SUMMARY &amp; FUTURE DIRECTIONS</a:t>
            </a:r>
          </a:p>
        </p:txBody>
      </p:sp>
      <p:sp>
        <p:nvSpPr>
          <p:cNvPr id="4" name="TextBox 3"/>
          <p:cNvSpPr txBox="1"/>
          <p:nvPr/>
        </p:nvSpPr>
        <p:spPr>
          <a:xfrm>
            <a:off x="731520" y="685800"/>
            <a:ext cx="8686800" cy="594360"/>
          </a:xfrm>
          <a:prstGeom prst="rect">
            <a:avLst/>
          </a:prstGeom>
          <a:noFill/>
        </p:spPr>
        <p:txBody>
          <a:bodyPr wrap="square">
            <a:spAutoFit/>
          </a:bodyPr>
          <a:lstStyle/>
          <a:p>
            <a:pPr>
              <a:defRPr sz="2200" b="1">
                <a:solidFill>
                  <a:srgbClr val="18202F"/>
                </a:solidFill>
                <a:latin typeface="Arial"/>
              </a:defRPr>
            </a:pPr>
            <a:r>
              <a:t>Conclusions</a:t>
            </a:r>
          </a:p>
        </p:txBody>
      </p:sp>
      <p:sp>
        <p:nvSpPr>
          <p:cNvPr id="5" name="Rounded Rectangle 4"/>
          <p:cNvSpPr/>
          <p:nvPr/>
        </p:nvSpPr>
        <p:spPr>
          <a:xfrm>
            <a:off x="10515600" y="365760"/>
            <a:ext cx="914400" cy="292608"/>
          </a:xfrm>
          <a:prstGeom prst="roundRect">
            <a:avLst/>
          </a:prstGeom>
          <a:solidFill>
            <a:srgbClr val="FFFFFF"/>
          </a:solidFill>
          <a:ln w="1270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6978"/>
                </a:solidFill>
                <a:latin typeface="Arial"/>
              </a:defRPr>
            </a:pPr>
            <a:r>
              <a:t>14 / 14</a:t>
            </a: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7315200" cy="274320"/>
          </a:xfrm>
          <a:prstGeom prst="rect">
            <a:avLst/>
          </a:prstGeom>
          <a:noFill/>
        </p:spPr>
        <p:txBody>
          <a:bodyPr wrap="none">
            <a:spAutoFit/>
          </a:bodyPr>
          <a:lstStyle/>
          <a:p>
            <a:pPr>
              <a:defRPr sz="850">
                <a:solidFill>
                  <a:srgbClr val="5A6978"/>
                </a:solidFill>
                <a:latin typeface="Arial"/>
              </a:defRPr>
            </a:pPr>
            <a:r>
              <a:t>Food.com Recipe Recommendation System | MSc Data Science Research Project</a:t>
            </a:r>
          </a:p>
        </p:txBody>
      </p:sp>
      <p:sp>
        <p:nvSpPr>
          <p:cNvPr id="8" name="TextBox 7"/>
          <p:cNvSpPr txBox="1"/>
          <p:nvPr/>
        </p:nvSpPr>
        <p:spPr>
          <a:xfrm>
            <a:off x="8686800" y="6510528"/>
            <a:ext cx="2743200" cy="274320"/>
          </a:xfrm>
          <a:prstGeom prst="rect">
            <a:avLst/>
          </a:prstGeom>
          <a:noFill/>
        </p:spPr>
        <p:txBody>
          <a:bodyPr wrap="none">
            <a:spAutoFit/>
          </a:bodyPr>
          <a:lstStyle/>
          <a:p>
            <a:pPr algn="r">
              <a:defRPr sz="850" b="1">
                <a:solidFill>
                  <a:srgbClr val="1A56A0"/>
                </a:solidFill>
                <a:latin typeface="Arial"/>
              </a:defRPr>
            </a:pPr>
            <a:r>
              <a:t>Vidhya Walke</a:t>
            </a:r>
          </a:p>
        </p:txBody>
      </p:sp>
      <p:sp>
        <p:nvSpPr>
          <p:cNvPr id="9" name="Rounded Rectangle 8"/>
          <p:cNvSpPr/>
          <p:nvPr/>
        </p:nvSpPr>
        <p:spPr>
          <a:xfrm>
            <a:off x="7315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417320"/>
            <a:ext cx="5212080" cy="73152"/>
          </a:xfrm>
          <a:prstGeom prst="round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81912"/>
            <a:ext cx="4846320" cy="2075688"/>
          </a:xfrm>
          <a:prstGeom prst="rect">
            <a:avLst/>
          </a:prstGeom>
          <a:noFill/>
        </p:spPr>
        <p:txBody>
          <a:bodyPr wrap="square">
            <a:spAutoFit/>
          </a:bodyPr>
          <a:lstStyle/>
          <a:p>
            <a:pPr>
              <a:defRPr sz="1300" b="1">
                <a:solidFill>
                  <a:srgbClr val="18202F"/>
                </a:solidFill>
                <a:latin typeface="Arial"/>
              </a:defRPr>
            </a:pPr>
            <a:r>
              <a:t>01  Content Based Model Limitations</a:t>
            </a:r>
          </a:p>
          <a:p>
            <a:pPr>
              <a:spcBef>
                <a:spcPts val="800"/>
              </a:spcBef>
              <a:defRPr sz="1050">
                <a:solidFill>
                  <a:srgbClr val="18202F"/>
                </a:solidFill>
                <a:latin typeface="Arial"/>
              </a:defRPr>
            </a:pPr>
            <a:r>
              <a:t>In my evaluation of the content based recommender, predictive precision was constrained by narrative descriptions. Recipe text descriptions provided by home cooks frequently focus on casual storytelling and personal anecdotes rather than standardized ingredients, leading to vocabulary dilution in TF IDF feature vectors.</a:t>
            </a:r>
          </a:p>
        </p:txBody>
      </p:sp>
      <p:sp>
        <p:nvSpPr>
          <p:cNvPr id="12" name="Rounded Rectangle 11"/>
          <p:cNvSpPr/>
          <p:nvPr/>
        </p:nvSpPr>
        <p:spPr>
          <a:xfrm>
            <a:off x="6217920" y="14173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212080" cy="73152"/>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4846320" cy="2075688"/>
          </a:xfrm>
          <a:prstGeom prst="rect">
            <a:avLst/>
          </a:prstGeom>
          <a:noFill/>
        </p:spPr>
        <p:txBody>
          <a:bodyPr wrap="square">
            <a:spAutoFit/>
          </a:bodyPr>
          <a:lstStyle/>
          <a:p>
            <a:pPr>
              <a:defRPr sz="1300" b="1">
                <a:solidFill>
                  <a:srgbClr val="18202F"/>
                </a:solidFill>
                <a:latin typeface="Arial"/>
              </a:defRPr>
            </a:pPr>
            <a:r>
              <a:t>02  Benefits of Cluster Based Collaborative Filtering</a:t>
            </a:r>
          </a:p>
          <a:p>
            <a:pPr>
              <a:spcBef>
                <a:spcPts val="800"/>
              </a:spcBef>
              <a:defRPr sz="1050">
                <a:solidFill>
                  <a:srgbClr val="18202F"/>
                </a:solidFill>
                <a:latin typeface="Arial"/>
              </a:defRPr>
            </a:pPr>
            <a:r>
              <a:t>My findings demonstrate that cluster based collaborative filtering offers substantial personalization gains. By partitioning the interaction matrix with Cosine KMeans, I eliminated global sparsity noise and isolated cohesive user communities, attaining a strong MAE of 0.3451 with KNNWithZScore while delivering diverse, non trivial recommendations.</a:t>
            </a:r>
          </a:p>
        </p:txBody>
      </p:sp>
      <p:sp>
        <p:nvSpPr>
          <p:cNvPr id="15" name="Rounded Rectangle 14"/>
          <p:cNvSpPr/>
          <p:nvPr/>
        </p:nvSpPr>
        <p:spPr>
          <a:xfrm>
            <a:off x="7315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931920"/>
            <a:ext cx="5212080" cy="7315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96512"/>
            <a:ext cx="4846320" cy="2075688"/>
          </a:xfrm>
          <a:prstGeom prst="rect">
            <a:avLst/>
          </a:prstGeom>
          <a:noFill/>
        </p:spPr>
        <p:txBody>
          <a:bodyPr wrap="square">
            <a:spAutoFit/>
          </a:bodyPr>
          <a:lstStyle/>
          <a:p>
            <a:pPr>
              <a:defRPr sz="1300" b="1">
                <a:solidFill>
                  <a:srgbClr val="18202F"/>
                </a:solidFill>
                <a:latin typeface="Arial"/>
              </a:defRPr>
            </a:pPr>
            <a:r>
              <a:t>03  Rating Imbalance &amp; Popularity Bias in Collaborative Filtering</a:t>
            </a:r>
          </a:p>
          <a:p>
            <a:pPr>
              <a:spcBef>
                <a:spcPts val="800"/>
              </a:spcBef>
              <a:defRPr sz="1050">
                <a:solidFill>
                  <a:srgbClr val="18202F"/>
                </a:solidFill>
                <a:latin typeface="Arial"/>
              </a:defRPr>
            </a:pPr>
            <a:r>
              <a:t>While unconstrained SVD achieved low error (MAE 0.3491), my analysis revealed that it produced nearly identical recommendations across diverse users. Because 72 percent of ratings in the dataset are 5 star reviews, standard collaborative filtering converges toward mainstream favorites unless constrained by clustering.</a:t>
            </a:r>
          </a:p>
        </p:txBody>
      </p:sp>
      <p:sp>
        <p:nvSpPr>
          <p:cNvPr id="18" name="Rounded Rectangle 17"/>
          <p:cNvSpPr/>
          <p:nvPr/>
        </p:nvSpPr>
        <p:spPr>
          <a:xfrm>
            <a:off x="6217920" y="3931920"/>
            <a:ext cx="5212080" cy="2331720"/>
          </a:xfrm>
          <a:prstGeom prst="roundRect">
            <a:avLst/>
          </a:prstGeom>
          <a:solidFill>
            <a:srgbClr val="FFFFFF"/>
          </a:solidFill>
          <a:ln w="15240">
            <a:solidFill>
              <a:srgbClr val="D7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3931920"/>
            <a:ext cx="5212080" cy="73152"/>
          </a:xfrm>
          <a:prstGeom prst="round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96512"/>
            <a:ext cx="4846320" cy="2075688"/>
          </a:xfrm>
          <a:prstGeom prst="rect">
            <a:avLst/>
          </a:prstGeom>
          <a:noFill/>
        </p:spPr>
        <p:txBody>
          <a:bodyPr wrap="square">
            <a:spAutoFit/>
          </a:bodyPr>
          <a:lstStyle/>
          <a:p>
            <a:pPr>
              <a:defRPr sz="1300" b="1">
                <a:solidFill>
                  <a:srgbClr val="18202F"/>
                </a:solidFill>
                <a:latin typeface="Arial"/>
              </a:defRPr>
            </a:pPr>
            <a:r>
              <a:t>04  Future Research &amp; Hybrid Framework</a:t>
            </a:r>
          </a:p>
          <a:p>
            <a:pPr>
              <a:spcBef>
                <a:spcPts val="800"/>
              </a:spcBef>
              <a:defRPr sz="1050">
                <a:solidFill>
                  <a:srgbClr val="18202F"/>
                </a:solidFill>
                <a:latin typeface="Arial"/>
              </a:defRPr>
            </a:pPr>
            <a:r>
              <a:t>As next steps, I propose a two stage hybrid recommender combining Cluster Based candidate retrieval with semantic ingredient re ranking. Incorporating structured dietary metadata, cooking duration constraints, and explicit user allergen filters will yield production ready recipe personalization.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