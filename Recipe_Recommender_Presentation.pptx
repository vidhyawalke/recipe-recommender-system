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11827"/>
                </a:solidFill>
                <a:latin typeface="Arial"/>
              </a:defRPr>
            </a:pPr>
            <a:r>
              <a:t>Recipe Recommender System</a:t>
            </a:r>
          </a:p>
          <a:p>
            <a:pPr>
              <a:spcBef>
                <a:spcPts val="800"/>
              </a:spcBef>
              <a:defRPr sz="2200">
                <a:solidFill>
                  <a:srgbClr val="2563EB"/>
                </a:solidFill>
                <a:latin typeface="Arial"/>
              </a:defRPr>
            </a:pPr>
            <a:r>
              <a:t>Collaborative Filtering on Food.com Recipes &amp; User Interactions</a:t>
            </a:r>
          </a:p>
          <a:p>
            <a:pPr>
              <a:spcBef>
                <a:spcPts val="600"/>
              </a:spcBef>
              <a:defRPr sz="1300">
                <a:solidFill>
                  <a:srgbClr val="4B5563"/>
                </a:solidFill>
                <a:latin typeface="Arial"/>
              </a:defRPr>
            </a:pPr>
            <a:r>
              <a:t>Evaluated via Neighborhood Models (KNN, SlopeOne), Matrix Factorization (SVD, SVD++, NMF) &amp; CoClustering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474720"/>
            <a:ext cx="10362895" cy="256032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sz="1200" b="1">
                <a:solidFill>
                  <a:srgbClr val="1F2937"/>
                </a:solidFill>
                <a:latin typeface="Arial"/>
              </a:defRPr>
            </a:pPr>
            <a:r>
              <a:t>RESEARCH PROJECT DETAILS</a:t>
            </a:r>
          </a:p>
          <a:p>
            <a:pPr>
              <a:spcBef>
                <a:spcPts val="500"/>
              </a:spcBef>
            </a:pPr>
            <a:r>
              <a:rPr b="1" sz="1150">
                <a:solidFill>
                  <a:srgbClr val="111827"/>
                </a:solidFill>
                <a:latin typeface="Arial"/>
              </a:rPr>
              <a:t>Author / Researcher: </a:t>
            </a:r>
            <a:r>
              <a:rPr sz="1150">
                <a:solidFill>
                  <a:srgbClr val="374151"/>
                </a:solidFill>
                <a:latin typeface="Arial"/>
              </a:rPr>
              <a:t>Vidhya Walke</a:t>
            </a:r>
          </a:p>
          <a:p>
            <a:pPr>
              <a:spcBef>
                <a:spcPts val="500"/>
              </a:spcBef>
            </a:pPr>
            <a:r>
              <a:rPr b="1" sz="1150">
                <a:solidFill>
                  <a:srgbClr val="111827"/>
                </a:solidFill>
                <a:latin typeface="Arial"/>
              </a:rPr>
              <a:t>Project Scope: </a:t>
            </a:r>
            <a:r>
              <a:rPr sz="1150">
                <a:solidFill>
                  <a:srgbClr val="374151"/>
                </a:solidFill>
                <a:latin typeface="Arial"/>
              </a:rPr>
              <a:t>Comparative study of Neighborhood &amp; Matrix Factorization Collaborative Filtering</a:t>
            </a:r>
          </a:p>
          <a:p>
            <a:pPr>
              <a:spcBef>
                <a:spcPts val="500"/>
              </a:spcBef>
            </a:pPr>
            <a:r>
              <a:rPr b="1" sz="1150">
                <a:solidFill>
                  <a:srgbClr val="111827"/>
                </a:solidFill>
                <a:latin typeface="Arial"/>
              </a:rPr>
              <a:t>Dataset: </a:t>
            </a:r>
            <a:r>
              <a:rPr sz="1150">
                <a:solidFill>
                  <a:srgbClr val="374151"/>
                </a:solidFill>
                <a:latin typeface="Arial"/>
              </a:rPr>
              <a:t>Food.com (formerly GeniusKitchen) — 180K+ Recipes &amp; 700K+ Reviews (Majumder et al., EMNLP 2019)</a:t>
            </a:r>
          </a:p>
          <a:p>
            <a:pPr>
              <a:spcBef>
                <a:spcPts val="500"/>
              </a:spcBef>
            </a:pPr>
            <a:r>
              <a:rPr b="1" sz="1150">
                <a:solidFill>
                  <a:srgbClr val="111827"/>
                </a:solidFill>
                <a:latin typeface="Arial"/>
              </a:rPr>
              <a:t>Tooling &amp; Frameworks: </a:t>
            </a:r>
            <a:r>
              <a:rPr sz="1150">
                <a:solidFill>
                  <a:srgbClr val="374151"/>
                </a:solidFill>
                <a:latin typeface="Arial"/>
              </a:rPr>
              <a:t>Python, Scikit-Surprise, Pandas, NumPy, Scikit-Learn, Matplotlib</a:t>
            </a:r>
          </a:p>
          <a:p>
            <a:pPr>
              <a:spcBef>
                <a:spcPts val="500"/>
              </a:spcBef>
            </a:pPr>
            <a:r>
              <a:rPr b="1" sz="1150">
                <a:solidFill>
                  <a:srgbClr val="111827"/>
                </a:solidFill>
                <a:latin typeface="Arial"/>
              </a:rPr>
              <a:t>GitHub Repository: </a:t>
            </a:r>
            <a:r>
              <a:rPr sz="1150">
                <a:solidFill>
                  <a:srgbClr val="374151"/>
                </a:solidFill>
                <a:latin typeface="Arial"/>
              </a:rPr>
              <a:t>https://github.com/vidhyawalke/-Recipe-Recommender-Collaborative-Filtering-on-Food.com-Recipes-Interactions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11827"/>
                </a:solidFill>
                <a:latin typeface="Arial"/>
              </a:defRPr>
            </a:pPr>
            <a:r>
              <a:t>Data Description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188720"/>
          <a:ext cx="108813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188720"/>
                <a:gridCol w="7589520"/>
              </a:tblGrid>
              <a:tr h="8534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File 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PP_users.csv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25,076</a:t>
                      </a:r>
                    </a:p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Techniques and ingredients tried by the user, ratings left by the user, and count of recipes rated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PP_recipes.csv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178,265</a:t>
                      </a:r>
                    </a:p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recipes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Processed data for each recipe, including tokenized lists for recipe name, ingredients, steps, as well as techniques and calorie level.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RAW_recipes.csv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231,637</a:t>
                      </a:r>
                    </a:p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recipes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Raw data for recipes, including the text name, minutes to complete, tags (via Food.com), nutrition data, number of steps, text for each step, user-provided description, ingredients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RAW_interactions.csv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1,132,367</a:t>
                      </a:r>
                    </a:p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ratings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Interactions with the recipes by the users, including User ID, Recipe ID, Date submitted, rating on a scale of 0-5, and text of the user's review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Ingr_map.pkl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11,659</a:t>
                      </a:r>
                    </a:p>
                    <a:p>
                      <a:pPr>
                        <a:defRPr sz="11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ingredients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A map of ingredient IDs to ingredient names, with the text description of the ingredient, count of words in the text description, text description of the ingredient, length of description, and a simplified word/category/phrase used in place of the original description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11827"/>
                </a:solidFill>
                <a:latin typeface="Arial"/>
              </a:defRPr>
            </a:pPr>
            <a:r>
              <a:t>EDA</a:t>
            </a:r>
          </a:p>
        </p:txBody>
      </p:sp>
      <p:pic>
        <p:nvPicPr>
          <p:cNvPr id="4" name="Picture 3" descr="eda_p1_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3383280" cy="2837590"/>
          </a:xfrm>
          <a:prstGeom prst="rect">
            <a:avLst/>
          </a:prstGeom>
        </p:spPr>
      </p:pic>
      <p:pic>
        <p:nvPicPr>
          <p:cNvPr id="5" name="Picture 4" descr="eda_p2_ra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188720"/>
            <a:ext cx="3566160" cy="2809702"/>
          </a:xfrm>
          <a:prstGeom prst="rect">
            <a:avLst/>
          </a:prstGeom>
        </p:spPr>
      </p:pic>
      <p:pic>
        <p:nvPicPr>
          <p:cNvPr id="6" name="Picture 5" descr="eda_p3_me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188720"/>
            <a:ext cx="3474720" cy="24416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466344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11827"/>
                </a:solidFill>
                <a:latin typeface="Arial"/>
              </a:defRPr>
            </a:pPr>
            <a:r>
              <a:t>Median number of ratings</a:t>
            </a:r>
            <a:br/>
            <a:r>
              <a:t>per user =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66344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11827"/>
                </a:solidFill>
                <a:latin typeface="Arial"/>
              </a:defRPr>
            </a:pPr>
            <a:r>
              <a:t>Reviews with a 5 = 72%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466344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11827"/>
                </a:solidFill>
                <a:latin typeface="Arial"/>
              </a:defRPr>
            </a:pPr>
            <a:r>
              <a:t>Meal Types:</a:t>
            </a:r>
            <a:br/>
            <a:br/>
            <a:r>
              <a:t>   •  32% main-dish</a:t>
            </a:r>
            <a:br/>
            <a:r>
              <a:t>   •  20% desserts</a:t>
            </a:r>
            <a:br/>
            <a:r>
              <a:t>   •  11% side-dishes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11827"/>
                </a:solidFill>
                <a:latin typeface="Arial"/>
              </a:defRPr>
            </a:pPr>
            <a:r>
              <a:t>Approach: User/Item-Based Collaborative Filtering</a:t>
            </a:r>
          </a:p>
        </p:txBody>
      </p:sp>
      <p:pic>
        <p:nvPicPr>
          <p:cNvPr id="4" name="Picture 3" descr="cf_models_t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5669280" cy="45540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11827"/>
                </a:solidFill>
                <a:latin typeface="Arial"/>
              </a:defRPr>
            </a:pPr>
            <a:r>
              <a:t>Multiple models from the Surprise package were compared with default settings.</a:t>
            </a:r>
          </a:p>
          <a:p>
            <a:pPr>
              <a:spcBef>
                <a:spcPts val="1600"/>
              </a:spcBef>
              <a:defRPr sz="1250">
                <a:solidFill>
                  <a:srgbClr val="111827"/>
                </a:solidFill>
                <a:latin typeface="Arial"/>
              </a:defRPr>
            </a:pPr>
            <a:r>
              <a:t>Item-based KNNBasic model had the lowest MAE (mean absolute error).</a:t>
            </a:r>
          </a:p>
          <a:p>
            <a:pPr>
              <a:spcBef>
                <a:spcPts val="1600"/>
              </a:spcBef>
              <a:defRPr sz="1250">
                <a:solidFill>
                  <a:srgbClr val="111827"/>
                </a:solidFill>
                <a:latin typeface="Arial"/>
              </a:defRPr>
            </a:pPr>
            <a:r>
              <a:t>Using GridSearch, the best performing Item-based KNNBasic model used MSD (Mean Squared Difference) and 13 neighbors, with an MAE of 0.3548.</a:t>
            </a:r>
          </a:p>
          <a:p>
            <a:pPr>
              <a:spcBef>
                <a:spcPts val="1600"/>
              </a:spcBef>
              <a:defRPr sz="1250">
                <a:solidFill>
                  <a:srgbClr val="111827"/>
                </a:solidFill>
                <a:latin typeface="Arial"/>
              </a:defRPr>
            </a:pPr>
            <a:r>
              <a:t>SVDpp had the lowest MAE, but a high runtime, and SVD (biased=True) was very close on MAE.</a:t>
            </a:r>
          </a:p>
          <a:p>
            <a:pPr>
              <a:spcBef>
                <a:spcPts val="1600"/>
              </a:spcBef>
              <a:defRPr sz="1250">
                <a:solidFill>
                  <a:srgbClr val="111827"/>
                </a:solidFill>
                <a:latin typeface="Arial"/>
              </a:defRPr>
            </a:pPr>
            <a:r>
              <a:t>Using GridSearch, the best performing SVD model used n_factors=50, n_epochs=20, biased=True, lr_all=0.005, reg_all=0.02, and had a MAE of 0.3491.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11827"/>
                </a:solidFill>
                <a:latin typeface="Arial"/>
              </a:defRPr>
            </a:pPr>
            <a:r>
              <a:t>Description of Approach: Cluster-Based Collaborative Filtering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defRPr sz="1400" b="0">
                <a:solidFill>
                  <a:srgbClr val="111827"/>
                </a:solidFill>
                <a:latin typeface="Arial"/>
              </a:defRPr>
            </a:pPr>
            <a:r>
              <a:t>• Use Surprise CoClustering Algorithm which combines assigning users and recipes to clusters and incorporates both to make predictions</a:t>
            </a:r>
          </a:p>
          <a:p>
            <a:pPr>
              <a:spcBef>
                <a:spcPts val="400"/>
              </a:spcBef>
              <a:defRPr sz="1200">
                <a:solidFill>
                  <a:srgbClr val="374151"/>
                </a:solidFill>
                <a:latin typeface="Arial"/>
              </a:defRPr>
            </a:pPr>
            <a:r>
              <a:t>     ◦   Use a range of for both clusters for users or recipes while keeping other constant</a:t>
            </a:r>
          </a:p>
          <a:p>
            <a:pPr>
              <a:spcBef>
                <a:spcPts val="400"/>
              </a:spcBef>
              <a:defRPr sz="1200">
                <a:solidFill>
                  <a:srgbClr val="374151"/>
                </a:solidFill>
                <a:latin typeface="Arial"/>
              </a:defRPr>
            </a:pPr>
            <a:r>
              <a:t>     ◦   Use Grid Search to determine optimal combination of user clusters and recipe clusters</a:t>
            </a:r>
          </a:p>
          <a:p>
            <a:pPr>
              <a:spcBef>
                <a:spcPts val="400"/>
              </a:spcBef>
              <a:defRPr sz="1200">
                <a:solidFill>
                  <a:srgbClr val="374151"/>
                </a:solidFill>
                <a:latin typeface="Arial"/>
              </a:defRPr>
            </a:pPr>
            <a:r>
              <a:t>     ◦   Compare results with mean 5-fold cross-validation RMSE, MAE, MSE, and Runtime</a:t>
            </a:r>
          </a:p>
          <a:p>
            <a:pPr>
              <a:spcBef>
                <a:spcPts val="1800"/>
              </a:spcBef>
              <a:defRPr sz="1400" b="0">
                <a:solidFill>
                  <a:srgbClr val="111827"/>
                </a:solidFill>
                <a:latin typeface="Arial"/>
              </a:defRPr>
            </a:pPr>
            <a:r>
              <a:t>• Compare performance using clusters determined by KMeans for neighborhood models</a:t>
            </a:r>
          </a:p>
          <a:p>
            <a:pPr>
              <a:spcBef>
                <a:spcPts val="400"/>
              </a:spcBef>
              <a:defRPr sz="1200">
                <a:solidFill>
                  <a:srgbClr val="374151"/>
                </a:solidFill>
                <a:latin typeface="Arial"/>
              </a:defRPr>
            </a:pPr>
            <a:r>
              <a:t>     ◦   Compare results with mean 5-fold cross-validation RMSE, MAE, MSE, and Runtime</a:t>
            </a:r>
          </a:p>
          <a:p>
            <a:pPr>
              <a:spcBef>
                <a:spcPts val="1800"/>
              </a:spcBef>
              <a:defRPr sz="1400" b="0">
                <a:solidFill>
                  <a:srgbClr val="111827"/>
                </a:solidFill>
                <a:latin typeface="Arial"/>
              </a:defRPr>
            </a:pPr>
            <a:r>
              <a:t>• Use clusters to generate recommendations</a:t>
            </a:r>
          </a:p>
          <a:p>
            <a:pPr>
              <a:spcBef>
                <a:spcPts val="400"/>
              </a:spcBef>
              <a:defRPr sz="1200">
                <a:solidFill>
                  <a:srgbClr val="374151"/>
                </a:solidFill>
                <a:latin typeface="Arial"/>
              </a:defRPr>
            </a:pPr>
            <a:r>
              <a:t>     ◦   Predict cluster for user/recipe</a:t>
            </a:r>
          </a:p>
          <a:p>
            <a:pPr>
              <a:spcBef>
                <a:spcPts val="400"/>
              </a:spcBef>
              <a:defRPr sz="1200">
                <a:solidFill>
                  <a:srgbClr val="374151"/>
                </a:solidFill>
                <a:latin typeface="Arial"/>
              </a:defRPr>
            </a:pPr>
            <a:r>
              <a:t>     ◦   Limit ratings matrix to include only the user's cluster</a:t>
            </a:r>
          </a:p>
          <a:p>
            <a:pPr>
              <a:spcBef>
                <a:spcPts val="400"/>
              </a:spcBef>
              <a:defRPr sz="1200">
                <a:solidFill>
                  <a:srgbClr val="374151"/>
                </a:solidFill>
                <a:latin typeface="Arial"/>
              </a:defRPr>
            </a:pPr>
            <a:r>
              <a:t>     ◦   Use KNN to find the most similar users</a:t>
            </a:r>
          </a:p>
          <a:p>
            <a:pPr>
              <a:spcBef>
                <a:spcPts val="400"/>
              </a:spcBef>
              <a:defRPr sz="1200">
                <a:solidFill>
                  <a:srgbClr val="374151"/>
                </a:solidFill>
                <a:latin typeface="Arial"/>
              </a:defRPr>
            </a:pPr>
            <a:r>
              <a:t>     ◦   Rank similar users' average rating for included recipes</a:t>
            </a:r>
          </a:p>
          <a:p>
            <a:pPr>
              <a:spcBef>
                <a:spcPts val="400"/>
              </a:spcBef>
              <a:defRPr sz="1200">
                <a:solidFill>
                  <a:srgbClr val="374151"/>
                </a:solidFill>
                <a:latin typeface="Arial"/>
              </a:defRPr>
            </a:pPr>
            <a:r>
              <a:t>     ◦   Display top N rated recipes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11827"/>
                </a:solidFill>
                <a:latin typeface="Arial"/>
              </a:defRPr>
            </a:pPr>
            <a:r>
              <a:t>Results: CoClustering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11827"/>
                </a:solidFill>
                <a:latin typeface="Arial"/>
              </a:defRPr>
            </a:pPr>
            <a:r>
              <a:t>• In general, the item- and user-based collaborative filtering models are very comparable to CoClustering results, but requires a fraction of the runtime to compute</a:t>
            </a:r>
          </a:p>
          <a:p>
            <a:pPr>
              <a:spcBef>
                <a:spcPts val="400"/>
              </a:spcBef>
              <a:defRPr sz="1100">
                <a:solidFill>
                  <a:srgbClr val="111827"/>
                </a:solidFill>
                <a:latin typeface="Arial"/>
              </a:defRPr>
            </a:pPr>
            <a:r>
              <a:t>• As expected, MAE values are a bit lower, but the computational cost of iterative clustering is significantly higher</a:t>
            </a:r>
          </a:p>
        </p:txBody>
      </p:sp>
      <p:pic>
        <p:nvPicPr>
          <p:cNvPr id="5" name="Picture 4" descr="cocluster_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3017520" cy="2313432"/>
          </a:xfrm>
          <a:prstGeom prst="rect">
            <a:avLst/>
          </a:prstGeom>
        </p:spPr>
      </p:pic>
      <p:pic>
        <p:nvPicPr>
          <p:cNvPr id="6" name="Picture 5" descr="cocluster_reci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011680"/>
            <a:ext cx="3291840" cy="2256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20116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 u="sng">
                <a:solidFill>
                  <a:srgbClr val="111827"/>
                </a:solidFill>
                <a:latin typeface="Arial"/>
              </a:defRPr>
            </a:pPr>
            <a:r>
              <a:t>CoClustering using Best Cluster Sizes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06640" y="2377440"/>
          <a:ext cx="429768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31520"/>
                <a:gridCol w="548640"/>
                <a:gridCol w="502920"/>
                <a:gridCol w="548640"/>
                <a:gridCol w="640080"/>
                <a:gridCol w="594360"/>
              </a:tblGrid>
              <a:tr h="3200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User Clusters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Item Clusters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Fit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Test Time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0.5882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0.3655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0.7976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0.0469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347472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 u="sng">
                <a:solidFill>
                  <a:srgbClr val="111827"/>
                </a:solidFill>
                <a:latin typeface="Arial"/>
              </a:defRPr>
            </a:pPr>
            <a:r>
              <a:t>CoClustering GridSearch Best Params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06640" y="3840480"/>
          <a:ext cx="429768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31520"/>
                <a:gridCol w="548640"/>
                <a:gridCol w="502920"/>
                <a:gridCol w="548640"/>
                <a:gridCol w="640080"/>
                <a:gridCol w="594360"/>
              </a:tblGrid>
              <a:tr h="3200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User Clusters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Item Clusters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Fit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Test Time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0.5489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0.3014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0.3513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0.8157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0.0433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4206240"/>
          <a:ext cx="3017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502920"/>
                <a:gridCol w="502920"/>
                <a:gridCol w="502920"/>
                <a:gridCol w="502920"/>
              </a:tblGrid>
              <a:tr h="2103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cluster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Fit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Test Time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0.0481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0.5565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0.0465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0.5681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0.0313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0.0304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0.0313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0.0295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0.0307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0.0320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0.5387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0.2903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0.3462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0.6721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0.0426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931920" y="4206240"/>
          <a:ext cx="32918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2103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cluster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Fit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Test Time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0.5592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0.5592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0.5828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0.5828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0.5877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0.5877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0.5394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0.2909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0.3463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0.6060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0.6060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0.6320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0.6420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0.6791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0.6791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0.6931</a:t>
                      </a:r>
                    </a:p>
                  </a:txBody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0.5393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0.2910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0.3470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0.6798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0.6798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11827"/>
                </a:solidFill>
                <a:latin typeface="Arial"/>
              </a:defRPr>
            </a:pPr>
            <a:r>
              <a:t>Generating Recipe Recommendations &amp; Qualitative Audit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188720"/>
          <a:ext cx="58521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91840"/>
                <a:gridCol w="1005840"/>
                <a:gridCol w="1097280"/>
              </a:tblGrid>
              <a:tr h="4655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Recommended Recipe Name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Pred. Rating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Meal Type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to die for crock pot roast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4.88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main-dish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crock pot chicken with black beans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4.85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main-dish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creamy cajun chicken pasta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4.81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main-dish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jo mama s world famous spaghetti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4.80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main-dish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kitten s soft snickerdoodles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4.78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desserts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best banana bread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4.77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desserts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awesome broccoli cheese soup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4.76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soups-stews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brown sugar meatloaf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4.76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main-dish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beth s melt in your mouth sugar cookies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4.75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desserts</a:t>
                      </a:r>
                    </a:p>
                  </a:txBody>
                  <a:tcPr/>
                </a:tc>
              </a:tr>
              <a:tr h="465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fabulous french onion soup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4.74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soups-stews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1188720"/>
            <a:ext cx="47548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827"/>
                </a:solidFill>
                <a:latin typeface="Arial"/>
              </a:defRPr>
            </a:pPr>
            <a:r>
              <a:t>Audit of Recommendations (User Perspective):</a:t>
            </a:r>
          </a:p>
          <a:p>
            <a:pPr>
              <a:spcBef>
                <a:spcPts val="1400"/>
              </a:spcBef>
              <a:defRPr sz="1200">
                <a:solidFill>
                  <a:srgbClr val="111827"/>
                </a:solidFill>
                <a:latin typeface="Arial"/>
              </a:defRPr>
            </a:pPr>
            <a:r>
              <a:t>• High Predictive Accuracy: The model reliably scores candidate recipes, with predictions aligning to 4.70 - 4.90 stars.</a:t>
            </a:r>
          </a:p>
          <a:p>
            <a:pPr>
              <a:spcBef>
                <a:spcPts val="1400"/>
              </a:spcBef>
              <a:defRPr sz="1200">
                <a:solidFill>
                  <a:srgbClr val="111827"/>
                </a:solidFill>
                <a:latin typeface="Arial"/>
              </a:defRPr>
            </a:pPr>
            <a:r>
              <a:t>• Homogeneity Across Users: Pure collaborative filtering frequently recommends the same globally popular 5-star recipes (e.g. pot roast, cookies) to diverse users regardless of taste divergence.</a:t>
            </a:r>
          </a:p>
          <a:p>
            <a:pPr>
              <a:spcBef>
                <a:spcPts val="1400"/>
              </a:spcBef>
              <a:defRPr sz="1200">
                <a:solidFill>
                  <a:srgbClr val="111827"/>
                </a:solidFill>
                <a:latin typeface="Arial"/>
              </a:defRPr>
            </a:pPr>
            <a:r>
              <a:t>• Meal-Type Divergence: Cross-referencing against historical user profiles reveals instances where a user who predominantly cooks vegetarian salads or soups is recommended heavy beef roasts.</a:t>
            </a:r>
          </a:p>
          <a:p>
            <a:pPr>
              <a:spcBef>
                <a:spcPts val="1400"/>
              </a:spcBef>
              <a:defRPr sz="1200">
                <a:solidFill>
                  <a:srgbClr val="111827"/>
                </a:solidFill>
                <a:latin typeface="Arial"/>
              </a:defRPr>
            </a:pPr>
            <a:r>
              <a:t>• Takeaway: Numerical rating prediction is accurate, but qualitative recommendation utility requires semantic content filtering.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11827"/>
                </a:solidFill>
                <a:latin typeface="Arial"/>
              </a:defRPr>
            </a:pPr>
            <a:r>
              <a:t>Conclusions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defRPr sz="1500" b="1">
                <a:solidFill>
                  <a:srgbClr val="2563EB"/>
                </a:solidFill>
                <a:latin typeface="Arial"/>
              </a:defRPr>
            </a:pPr>
            <a:r>
              <a:t>1. Strong Baseline Performance for Collaborative Filtering</a:t>
            </a:r>
          </a:p>
          <a:p>
            <a:pPr>
              <a:spcBef>
                <a:spcPts val="400"/>
              </a:spcBef>
              <a:defRPr sz="1250">
                <a:solidFill>
                  <a:srgbClr val="111827"/>
                </a:solidFill>
                <a:latin typeface="Arial"/>
              </a:defRPr>
            </a:pPr>
            <a:r>
              <a:t>With a Mean Absolute Error of ~0.35, rounding predictions to nearest whole numbers yields the true user rating in the vast majority of cases. Item-based KNNBasic (MAE 0.3548) and SVD (MAE 0.3491) offer the best combination of accuracy and runtime.</a:t>
            </a:r>
          </a:p>
          <a:p>
            <a:pPr>
              <a:spcBef>
                <a:spcPts val="1800"/>
              </a:spcBef>
              <a:defRPr sz="1500" b="1">
                <a:solidFill>
                  <a:srgbClr val="2563EB"/>
                </a:solidFill>
                <a:latin typeface="Arial"/>
              </a:defRPr>
            </a:pPr>
            <a:r>
              <a:t>2. Collaborative Filtering Alone is Insufficient for Food</a:t>
            </a:r>
          </a:p>
          <a:p>
            <a:pPr>
              <a:spcBef>
                <a:spcPts val="400"/>
              </a:spcBef>
              <a:defRPr sz="1250">
                <a:solidFill>
                  <a:srgbClr val="111827"/>
                </a:solidFill>
                <a:latin typeface="Arial"/>
              </a:defRPr>
            </a:pPr>
            <a:r>
              <a:t>Relying solely on user review matrices ignores ingredients, preparation time, and meal categories. Rating inflation (72% 5-star ratings) compresses predictions and amplifies popularity bias across users.</a:t>
            </a:r>
          </a:p>
          <a:p>
            <a:pPr>
              <a:spcBef>
                <a:spcPts val="1800"/>
              </a:spcBef>
              <a:defRPr sz="1500" b="1">
                <a:solidFill>
                  <a:srgbClr val="2563EB"/>
                </a:solidFill>
                <a:latin typeface="Arial"/>
              </a:defRPr>
            </a:pPr>
            <a:r>
              <a:t>3. Strategic Roadmap: Hybrid Recipe Recommendation System</a:t>
            </a:r>
          </a:p>
          <a:p>
            <a:pPr>
              <a:spcBef>
                <a:spcPts val="400"/>
              </a:spcBef>
              <a:defRPr sz="1250">
                <a:solidFill>
                  <a:srgbClr val="111827"/>
                </a:solidFill>
                <a:latin typeface="Arial"/>
              </a:defRPr>
            </a:pPr>
            <a:r>
              <a:t>A production culinary recommender should incorporate a hybrid approach: blend collaborative filtering latent factors with content-based features (ingredient TF-IDF, tags, calorie level) and apply contextual guardrails (meal type, prep time constraints, pantry ingredients).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